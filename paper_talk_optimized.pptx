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9" r:id="rId12"/>
    <p:sldId id="270" r:id="rId13"/>
    <p:sldId id="272" r:id="rId14"/>
    <p:sldId id="273" r:id="rId15"/>
    <p:sldId id="271" r:id="rId16"/>
    <p:sldId id="266" r:id="rId17"/>
    <p:sldId id="258" r:id="rId18"/>
    <p:sldId id="26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 snapToGrid="0">
      <p:cViewPr varScale="1">
        <p:scale>
          <a:sx n="121" d="100"/>
          <a:sy n="121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676D4-088A-8E4E-B75F-5627A91872C7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A44B8-9900-074B-B53C-3A3A26D72BB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1921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44B8-9900-074B-B53C-3A3A26D72BB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85041-2192-E46A-E421-5CC624681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FA30C6-01C6-F219-3EF6-C47B4EA3B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08632-BC5B-FE01-884A-1AC91CC3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2333E7-D6AD-D4EB-4E99-A2732D03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33A454-D578-2139-A717-6C76BA31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733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4FA0E-6212-E529-BDFA-15A900CB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136525"/>
            <a:ext cx="10515600" cy="887205"/>
          </a:xfrm>
        </p:spPr>
        <p:txBody>
          <a:bodyPr/>
          <a:lstStyle>
            <a:lvl1pPr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C46B0A-1D15-FDEA-2ABE-401103C7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4" y="1460500"/>
            <a:ext cx="10515600" cy="4351338"/>
          </a:xfrm>
        </p:spPr>
        <p:txBody>
          <a:bodyPr/>
          <a:lstStyle>
            <a:lvl1pPr>
              <a:defRPr sz="1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E254BE-6EC6-3480-9AE6-FB78EB9C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1974" y="6361596"/>
            <a:ext cx="2743200" cy="365125"/>
          </a:xfrm>
        </p:spPr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5C933-2D7C-B344-FE80-09D9D761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826" y="6361596"/>
            <a:ext cx="2743200" cy="365125"/>
          </a:xfrm>
        </p:spPr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22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85307-4717-9EC6-2B1C-F2E375174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4FDBDB-EADE-47E6-21D7-5C723D66E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34B81-7D2A-2481-89C5-02B878A8C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1BA3EE31-B730-E44A-97ED-D4B609506562}" type="datetimeFigureOut">
              <a:rPr kumimoji="1" lang="zh-CN" altLang="en-US" smtClean="0"/>
              <a:pPr/>
              <a:t>2026/4/7</a:t>
            </a:fld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AC9995-789D-24C6-1F79-E7DBD0F6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97FBB4-05BC-5E82-1B72-E099AD90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3778F2BC-1EC7-F94D-A4D2-A8FC59B0FB3F}" type="slidenum">
              <a:rPr kumimoji="1" lang="zh-CN" altLang="en-US" smtClean="0"/>
              <a:pPr/>
              <a:t>‹#›</a:t>
            </a:fld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76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DE73B-AAF2-BF90-E1E2-934FDCAA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4B4BFC-F751-02B3-96DE-F9916F410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0C5704-FF85-B4FF-8FE8-4B3D91E6E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A3FFED-7401-F123-5DE8-A520ADE3D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01A246-D994-533D-6596-A08B2FC8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4DBFD3-21CC-D728-0963-01194D5E5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825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7ACBB-658B-769C-D2B6-3432E4C5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735D3-ECCA-FD5A-4DCB-340696F95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30110-82F5-1AB2-7D6F-0207D598E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BB08AA-55D5-D25A-2986-93901B8FF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3D5030-0FA2-3452-4D29-FD8AE3BD2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620055-A96F-BDB1-91FB-EA97E70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A3D103-76E9-0AAA-6D49-8B044763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945B53-5271-4C6E-B79E-ED2F80C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20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C85A9-C862-3151-F0EC-25AC7277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05ADF0-102C-2225-4743-7034C3B8D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D66B97-1F48-CB5B-A00D-8AAA84AE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2ABA01-7D3E-BE9F-BD95-765285B2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07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46F0CC-342F-5160-F210-C377665E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3B3D56-BFAC-3961-BE7C-E4620263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8ABA5E-8A53-85FE-6AB5-62C5FD8E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486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4FC6A-013F-57C7-EAFC-B6E61DCB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7B505-E6CD-4550-6BEF-44177E235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EC3DF6-CD30-5DAC-7A7E-8AF4B80D5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9A47D8-3E78-B0B1-2A56-21D78711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2C7CF1-4DD2-FE97-3D76-05496593F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907FBD-7E5F-9520-649F-E85D6775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441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9B399-D97C-ACF6-0E70-30AC15DB5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F58D4B-6713-0DDF-FCB5-ACC59BFB7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09C293-8DC4-56CD-DF51-AAC5128A7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FC18AA-7ECA-FEE7-0BD8-206341E8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947A00-C166-C0C0-2A86-AAE85422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331985-3A51-6D32-B5E4-AC640CE5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250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2E3B4-5B36-682F-3A20-A100A906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E3C6B8-04D6-49EB-A3DD-54F2F6E2A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65A202-1463-A64F-1BB6-1BDC8ED1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0F7EB-9C90-456E-60D7-1F1CA963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977478-EAE7-2365-9152-32F524A5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570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883060-1953-A1E0-AAED-D23896880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EBDE36-CAC8-848A-6939-1F5E6354D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3B001-1862-279C-8CC8-22CC7538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BCFD5D-317A-D8E7-7387-B7E288E2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380F8E-9935-5FF6-4F5C-04A14601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312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17C2D0-E96F-1BF4-1BAF-F8404F31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9379C8-9BFA-0DFD-04A3-16DD8B49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18BCC-0496-8F1B-1302-B3785918B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3EE31-B730-E44A-97ED-D4B609506562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0037C3-EFB7-85E2-9E41-AB34EF3E0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A8DC4-D2AF-B6CD-B94A-4F0B62F8C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8F2BC-1EC7-F94D-A4D2-A8FC59B0FB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131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CED47-2CE5-EE49-271A-62FD514CA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Introduction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Slides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7749BC-7795-79FC-0D72-4BC701A3B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 err="1"/>
              <a:t>Zeuri</a:t>
            </a:r>
            <a:r>
              <a:rPr kumimoji="1" lang="zh-CN" altLang="en-US" dirty="0"/>
              <a:t> </a:t>
            </a:r>
            <a:r>
              <a:rPr kumimoji="1" lang="en-US" altLang="zh-CN" dirty="0"/>
              <a:t>Wang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24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58EA4-1E62-9C67-583F-4B20C53CC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42168"/>
            <a:ext cx="10330136" cy="2852737"/>
          </a:xfrm>
        </p:spPr>
        <p:txBody>
          <a:bodyPr>
            <a:normAutofit/>
          </a:bodyPr>
          <a:lstStyle/>
          <a:p>
            <a:r>
              <a:rPr kumimoji="1" lang="en-US" altLang="zh-CN" sz="3200" dirty="0" err="1"/>
              <a:t>SchedMate</a:t>
            </a:r>
            <a:r>
              <a:rPr kumimoji="1" lang="en" altLang="zh-CN" sz="3200" dirty="0"/>
              <a:t>: Semantic-Aware Scheduling for GPU Clusters with LLMs</a:t>
            </a:r>
            <a:endParaRPr kumimoji="1" lang="zh-CN" altLang="en-US" sz="320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611F5B-38C8-4C88-3BAB-7562B412B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3694905"/>
            <a:ext cx="10515600" cy="1500187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50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790B-AB5F-CAC3-E254-40AFEBB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b="1" dirty="0"/>
              <a:t>SchedMate: Semantic-Aware Scheduling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5D5CFE0-4D7B-23A2-2427-B7F8D93E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sz="1600" b="1" dirty="0"/>
              <a:t>Core Idea</a:t>
            </a:r>
          </a:p>
          <a:p>
            <a:pPr algn="l"/>
            <a:r>
              <a:rPr lang="zh-CN" altLang="en-US" sz="1400" dirty="0"/>
              <a:t>DL 调度器对作业的语义信息“视而不见”，导致资源分配效率低下。</a:t>
            </a:r>
          </a:p>
          <a:p>
            <a:pPr algn="l"/>
            <a:r>
              <a:rPr lang="en-US" altLang="zh-CN" sz="1400" dirty="0"/>
              <a:t>SchedMate </a:t>
            </a:r>
            <a:r>
              <a:rPr lang="zh-CN" altLang="en-US" sz="1400" dirty="0"/>
              <a:t>利用 LLM 从源代码、运行日志和历史作业中提取深层语义，弥合调度器与作业之间的语义鸿沟（Semantic Gap）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b="1" dirty="0"/>
              <a:t>Key Result: </a:t>
            </a:r>
            <a:r>
              <a:rPr lang="zh-CN" altLang="en-US" sz="1400" dirty="0"/>
              <a:t>在 128-GPU 集群上，平均作业完成时间（JCT）降低达 1.91x</a:t>
            </a:r>
          </a:p>
        </p:txBody>
      </p:sp>
    </p:spTree>
    <p:extLst>
      <p:ext uri="{BB962C8B-B14F-4D97-AF65-F5344CB8AC3E}">
        <p14:creationId xmlns:p14="http://schemas.microsoft.com/office/powerpoint/2010/main" val="149035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790B-AB5F-CAC3-E254-40AFEBB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b="1" dirty="0"/>
              <a:t>Motivation: The Semantic Gap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5D5CFE0-4D7B-23A2-2427-B7F8D93E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zh-CN" altLang="en-US" sz="1600" dirty="0"/>
              <a:t>现有 DL 集群调度器的核心问题：</a:t>
            </a:r>
          </a:p>
          <a:p>
            <a:pPr algn="l"/>
            <a:endParaRPr lang="en-US" altLang="zh-CN" sz="1600" dirty="0"/>
          </a:p>
          <a:p>
            <a:pPr algn="l"/>
            <a:r>
              <a:rPr lang="en-US" altLang="zh-CN" sz="1600" b="1" dirty="0"/>
              <a:t>1. </a:t>
            </a:r>
            <a:r>
              <a:rPr lang="zh-CN" altLang="en-US" sz="1600" b="1" dirty="0"/>
              <a:t>高性能分析开销 (High Profiling Overhead)</a:t>
            </a:r>
          </a:p>
          <a:p>
            <a:pPr algn="l"/>
            <a:r>
              <a:rPr lang="zh-CN" altLang="en-US" sz="1400" dirty="0"/>
              <a:t>调度器需要耗费大量时间来 profiling 作业，对短作业影响尤其严重</a:t>
            </a:r>
          </a:p>
          <a:p>
            <a:pPr algn="l"/>
            <a:endParaRPr lang="en-US" altLang="zh-CN" sz="1600" dirty="0"/>
          </a:p>
          <a:p>
            <a:pPr algn="l"/>
            <a:r>
              <a:rPr lang="en-US" altLang="zh-CN" sz="1600" b="1" dirty="0"/>
              <a:t>2. </a:t>
            </a:r>
            <a:r>
              <a:rPr lang="zh-CN" altLang="en-US" sz="1600" b="1" dirty="0"/>
              <a:t>不可靠的时长估计 (Unreliable Duration Estimation)</a:t>
            </a:r>
          </a:p>
          <a:p>
            <a:pPr algn="l"/>
            <a:r>
              <a:rPr lang="zh-CN" altLang="en-US" sz="1400" dirty="0"/>
              <a:t>仅依赖有限的 metadata，无法准确预测作业运行时间</a:t>
            </a:r>
          </a:p>
          <a:p>
            <a:pPr algn="l"/>
            <a:endParaRPr lang="en-US" altLang="zh-CN" sz="1600" dirty="0"/>
          </a:p>
          <a:p>
            <a:pPr algn="l"/>
            <a:r>
              <a:rPr lang="en-US" altLang="zh-CN" sz="1600" b="1" dirty="0"/>
              <a:t>3. </a:t>
            </a:r>
            <a:r>
              <a:rPr lang="zh-CN" altLang="en-US" sz="1600" b="1" dirty="0"/>
              <a:t>失败处理不充分 (Inadequate Failure Handling)</a:t>
            </a:r>
          </a:p>
          <a:p>
            <a:pPr algn="l"/>
            <a:r>
              <a:rPr lang="zh-CN" altLang="en-US" sz="1400" dirty="0"/>
              <a:t>无法理解运行日志中的错误语义，难以智能处理故障</a:t>
            </a:r>
          </a:p>
          <a:p>
            <a:pPr algn="l"/>
            <a:endParaRPr lang="en-US" altLang="zh-CN" sz="1600" dirty="0"/>
          </a:p>
          <a:p>
            <a:pPr algn="l"/>
            <a:r>
              <a:rPr lang="en-US" altLang="zh-CN" sz="1600" b="1" dirty="0"/>
              <a:t>4. </a:t>
            </a:r>
            <a:r>
              <a:rPr lang="zh-CN" altLang="en-US" sz="1600" b="1" dirty="0"/>
              <a:t>可观测性差 (Poor Observability)</a:t>
            </a:r>
          </a:p>
          <a:p>
            <a:pPr algn="l"/>
            <a:r>
              <a:rPr lang="zh-CN" altLang="en-US" sz="1400" dirty="0"/>
              <a:t>缺乏对作业语义的深层理解，运维人员难以获得有意义的洞察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0F2459-797D-CF3A-CD46-0DCFF8835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241" y="1336890"/>
            <a:ext cx="6358759" cy="418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5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790B-AB5F-CAC3-E254-40AFEBB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b="1" dirty="0"/>
              <a:t>SchedMate Framework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5D5CFE0-4D7B-23A2-2427-B7F8D93E6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5" y="1460500"/>
            <a:ext cx="4626084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1400" dirty="0"/>
              <a:t>SchedMate 通过三个基于 LLM 的组件，非侵入式地增强现有调度器：</a:t>
            </a:r>
            <a:endParaRPr lang="en-US" altLang="zh-CN" sz="1200" dirty="0"/>
          </a:p>
          <a:p>
            <a:pPr algn="l"/>
            <a:r>
              <a:rPr lang="en-US" altLang="zh-CN" sz="1600" b="1" dirty="0"/>
              <a:t>1. Schedule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Advisor</a:t>
            </a:r>
          </a:p>
          <a:p>
            <a:pPr algn="l"/>
            <a:r>
              <a:rPr lang="zh-CN" altLang="en-US" sz="1400" dirty="0"/>
              <a:t>分析作业源代码，提取模型架构、训练配置等语义信息，降低 profiling 开销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b="1" dirty="0"/>
              <a:t>2. Log Analyzer (</a:t>
            </a:r>
            <a:r>
              <a:rPr lang="zh-CN" altLang="en-US" sz="1600" b="1" dirty="0"/>
              <a:t>日志分析器</a:t>
            </a:r>
            <a:r>
              <a:rPr lang="en-US" altLang="zh-CN" sz="1600" b="1" dirty="0"/>
              <a:t>)</a:t>
            </a:r>
          </a:p>
          <a:p>
            <a:pPr algn="l"/>
            <a:r>
              <a:rPr lang="zh-CN" altLang="en-US" sz="1400" dirty="0"/>
              <a:t>理解运行日志中的错误语义，智能识别故障根因并提供处理建议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b="1" dirty="0"/>
              <a:t>3. Job Matcher (</a:t>
            </a:r>
            <a:r>
              <a:rPr lang="zh-CN" altLang="en-US" sz="1600" b="1" dirty="0"/>
              <a:t>作业匹配器</a:t>
            </a:r>
            <a:r>
              <a:rPr lang="en-US" altLang="zh-CN" sz="1600" b="1" dirty="0"/>
              <a:t>)</a:t>
            </a:r>
          </a:p>
          <a:p>
            <a:pPr algn="l"/>
            <a:r>
              <a:rPr lang="zh-CN" altLang="en-US" sz="1400" dirty="0"/>
              <a:t>利用历史作业数据进行语义匹配，更准确地估计作业运行时长和资源需求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3D95AE-6B64-DE87-5916-49571BC0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059" y="1329750"/>
            <a:ext cx="7121968" cy="41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5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790B-AB5F-CAC3-E254-40AFEBB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b="1" dirty="0"/>
              <a:t>Contributions &amp; Results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5D5CFE0-4D7B-23A2-2427-B7F8D93E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1600" b="1" dirty="0"/>
              <a:t>Contributions</a:t>
            </a:r>
          </a:p>
          <a:p>
            <a:pPr algn="l"/>
            <a:r>
              <a:rPr lang="zh-CN" altLang="en-US" sz="1400" dirty="0"/>
              <a:t>• 提出语义感知的 DL 集群调度新范式</a:t>
            </a:r>
          </a:p>
          <a:p>
            <a:pPr algn="l"/>
            <a:r>
              <a:rPr lang="zh-CN" altLang="en-US" sz="1400" dirty="0"/>
              <a:t>• 设计三个 LLM 组件，从源代码/日志/历史数据中挖掘语义</a:t>
            </a:r>
          </a:p>
          <a:p>
            <a:pPr algn="l"/>
            <a:r>
              <a:rPr lang="zh-CN" altLang="en-US" sz="1400" dirty="0"/>
              <a:t>• 非侵入式集成，可无缝接入现有调度系统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600" b="1" dirty="0"/>
              <a:t>Evaluation</a:t>
            </a:r>
          </a:p>
          <a:p>
            <a:pPr algn="l"/>
            <a:r>
              <a:rPr lang="zh-CN" altLang="en-US" sz="1400" dirty="0"/>
              <a:t>• 在 128-GPU 物理集群上进行真实实验</a:t>
            </a:r>
          </a:p>
          <a:p>
            <a:pPr algn="l"/>
            <a:r>
              <a:rPr lang="zh-CN" altLang="en-US" sz="1400" dirty="0"/>
              <a:t>• 基于生产环境 trace 的大规模仿真实验</a:t>
            </a:r>
          </a:p>
          <a:p>
            <a:pPr algn="l"/>
            <a:r>
              <a:rPr lang="zh-CN" altLang="en-US" sz="1400" dirty="0"/>
              <a:t>• 平均 JCT 降低达 </a:t>
            </a:r>
            <a:r>
              <a:rPr lang="en-US" altLang="zh-CN" sz="1600" b="1" dirty="0">
                <a:solidFill>
                  <a:srgbClr val="C00000"/>
                </a:solidFill>
              </a:rPr>
              <a:t>1.91x</a:t>
            </a:r>
          </a:p>
          <a:p>
            <a:pPr algn="l"/>
            <a:r>
              <a:rPr lang="zh-CN" altLang="en-US" sz="1400" dirty="0"/>
              <a:t>• 显著提升调度性能和集群资源利用率</a:t>
            </a:r>
          </a:p>
        </p:txBody>
      </p:sp>
    </p:spTree>
    <p:extLst>
      <p:ext uri="{BB962C8B-B14F-4D97-AF65-F5344CB8AC3E}">
        <p14:creationId xmlns:p14="http://schemas.microsoft.com/office/powerpoint/2010/main" val="149035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67D79-E8A6-FC02-48D1-63BF532E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Schedule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Advisor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BD497B-D805-5135-BEB6-F75ED67AF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53" y="1339039"/>
            <a:ext cx="5941843" cy="46728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90F37DB-151D-6C22-7149-947CF1D4D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025" y="1339039"/>
            <a:ext cx="5084222" cy="467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0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B5E6-0F68-CE94-9DBD-29B09CD8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F907D-59C3-184B-2833-F872524F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Metric Tracker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8E11AE-9534-DD99-91C6-3C03E27A8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2840"/>
            <a:ext cx="7772400" cy="497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1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BC33B-F986-A914-64C6-AFC9365A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F5D3-FDC9-72C6-B0C0-75422323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Failure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9A33D8-5498-F595-46DB-D9168F719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4492"/>
            <a:ext cx="7772400" cy="311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70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602E-DFBE-4107-7F1C-575C93B5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/>
              <a:t>OSDI 26 Reviews Overview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61B10-4A93-91C0-21D7-0147393B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sz="1600" b="1" dirty="0"/>
              <a:t>Paper #232: Unlocking the Black Box: Semantic-Aware Scheduling for GPU Clusters with LLMs</a:t>
            </a:r>
          </a:p>
          <a:p>
            <a:pPr algn="l"/>
            <a:endParaRPr lang="en-US" altLang="zh-CN" sz="1200" dirty="0"/>
          </a:p>
          <a:p>
            <a:pPr algn="l"/>
            <a:r>
              <a:rPr lang="en-US" altLang="zh-CN" sz="1400" b="1" dirty="0"/>
              <a:t>Review A:</a:t>
            </a:r>
            <a:r>
              <a:rPr lang="en-US" altLang="zh-CN" sz="1400" dirty="0"/>
              <a:t> Weak Reject 2</a:t>
            </a:r>
          </a:p>
          <a:p>
            <a:pPr algn="l"/>
            <a:r>
              <a:rPr lang="en-US" altLang="zh-CN" sz="1400" b="1" dirty="0"/>
              <a:t>Review B:</a:t>
            </a:r>
            <a:r>
              <a:rPr lang="en-US" altLang="zh-CN" sz="1400" dirty="0"/>
              <a:t> Weak Reject 2</a:t>
            </a:r>
          </a:p>
          <a:p>
            <a:pPr algn="l"/>
            <a:endParaRPr lang="en-US" altLang="zh-CN" sz="1200" dirty="0"/>
          </a:p>
          <a:p>
            <a:pPr marL="0" indent="0" algn="l">
              <a:buNone/>
            </a:pPr>
            <a:r>
              <a:rPr lang="en-US" altLang="zh-CN" sz="1400" b="1" dirty="0"/>
              <a:t>共同关注点 (Common Themes):</a:t>
            </a:r>
          </a:p>
          <a:p>
            <a:pPr marL="342900" indent="-342900" algn="l">
              <a:buChar char="•"/>
            </a:pPr>
            <a:r>
              <a:rPr lang="en-US" altLang="zh-CN" sz="1400" dirty="0"/>
              <a:t>系统贡献不够清晰：LLM 信息提取更像工程选择，而非新的调度抽象</a:t>
            </a:r>
          </a:p>
          <a:p>
            <a:pPr marL="342900" indent="-342900" algn="l">
              <a:buChar char="•"/>
            </a:pPr>
            <a:r>
              <a:rPr lang="en-US" altLang="zh-CN" sz="1400" dirty="0"/>
              <a:t>缺乏与更简单方法的对比（embedding-based, 轻量级分析）</a:t>
            </a:r>
          </a:p>
          <a:p>
            <a:pPr marL="342900" indent="-342900" algn="l">
              <a:buChar char="•"/>
            </a:pPr>
            <a:r>
              <a:rPr lang="en-US" altLang="zh-CN" sz="1400" dirty="0"/>
              <a:t>实用性论证不充分：缺少生产环境经验支撑</a:t>
            </a:r>
          </a:p>
          <a:p>
            <a:pPr marL="342900" indent="-342900" algn="l">
              <a:buChar char="•"/>
            </a:pPr>
            <a:r>
              <a:rPr lang="en-US" altLang="zh-CN" sz="1400" dirty="0"/>
              <a:t>LLM 输出错误时的容错机制未充分讨论</a:t>
            </a:r>
          </a:p>
        </p:txBody>
      </p:sp>
    </p:spTree>
    <p:extLst>
      <p:ext uri="{BB962C8B-B14F-4D97-AF65-F5344CB8AC3E}">
        <p14:creationId xmlns:p14="http://schemas.microsoft.com/office/powerpoint/2010/main" val="274594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602E-DFBE-4107-7F1C-575C93B5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/>
              <a:t>Review A: Weak Reject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61B10-4A93-91C0-21D7-0147393B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1400" b="1" dirty="0">
                <a:solidFill>
                  <a:srgbClr val="2E7D32"/>
                </a:solidFill>
              </a:rPr>
              <a:t>Strengths: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系统设计精当，作为模块化库实现在 Ray 之上，可集成到现有调度器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评估充分：128-GPU 物理集群 + 多个生产 trace 仿真 + 模拟器保真度验证</a:t>
            </a:r>
          </a:p>
          <a:p>
            <a:pPr algn="l"/>
            <a:endParaRPr lang="en-US" altLang="zh-CN" sz="1000" dirty="0"/>
          </a:p>
          <a:p>
            <a:pPr algn="l"/>
            <a:r>
              <a:rPr lang="en-US" altLang="zh-CN" sz="1400" b="1" dirty="0">
                <a:solidFill>
                  <a:srgbClr val="C62828"/>
                </a:solidFill>
              </a:rPr>
              <a:t>Weaknesses: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核心系统贡献不清晰：仅将 LLM 用于信息提取，未引入新的调度抽象或机制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Motivation 更像“LLM 是更好的工具”，而非新的系统问题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缺乏与轻量级方法（embedding-based）的对比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Scheduling Advisor 对 T 和 k 参数的敏感度未充分分析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Failure Handler 与核心调度设计联系松散，更像辅助日志分析工具</a:t>
            </a:r>
          </a:p>
          <a:p>
            <a:pPr algn="l"/>
            <a:endParaRPr lang="en-US" altLang="zh-CN" sz="1000" dirty="0"/>
          </a:p>
          <a:p>
            <a:pPr algn="l"/>
            <a:r>
              <a:rPr lang="en-US" altLang="zh-CN" sz="1400" b="1" dirty="0">
                <a:solidFill>
                  <a:srgbClr val="1565C0"/>
                </a:solidFill>
              </a:rPr>
              <a:t>建议：</a:t>
            </a:r>
            <a:r>
              <a:rPr lang="en-US" altLang="zh-CN" sz="1300" dirty="0"/>
              <a:t>明确阐述核心系统贡献，说明 LLM 语义提取带来了哪些新的调度能力</a:t>
            </a:r>
          </a:p>
        </p:txBody>
      </p:sp>
    </p:spTree>
    <p:extLst>
      <p:ext uri="{BB962C8B-B14F-4D97-AF65-F5344CB8AC3E}">
        <p14:creationId xmlns:p14="http://schemas.microsoft.com/office/powerpoint/2010/main" val="2745944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602E-DFBE-4107-7F1C-575C93B5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/>
              <a:t>Review B: Weak Reject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61B10-4A93-91C0-21D7-0147393B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1400" b="1" dirty="0">
                <a:solidFill>
                  <a:srgbClr val="2E7D32"/>
                </a:solidFill>
              </a:rPr>
              <a:t>肯定:</a:t>
            </a:r>
            <a:r>
              <a:rPr lang="en-US" altLang="zh-CN" sz="1300" dirty="0"/>
              <a:t> 认可实用性方向，利用已知技术解决 ML 调度实际问题</a:t>
            </a:r>
          </a:p>
          <a:p>
            <a:pPr algn="l"/>
            <a:endParaRPr lang="en-US" altLang="zh-CN" sz="1000" dirty="0"/>
          </a:p>
          <a:p>
            <a:pPr algn="l"/>
            <a:r>
              <a:rPr lang="en-US" altLang="zh-CN" sz="1400" b="1" dirty="0">
                <a:solidFill>
                  <a:srgbClr val="C62828"/>
                </a:solidFill>
              </a:rPr>
              <a:t>核心关切:</a:t>
            </a:r>
          </a:p>
          <a:p>
            <a:pPr algn="l"/>
            <a:r>
              <a:rPr lang="en-US" altLang="zh-CN" sz="1300" b="1" dirty="0"/>
              <a:t>1. Job Length Estimation 复杂度不足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未考虑：框架版本、NCCL 版本、硬件差异、GPU 分配拓扑、数据源距离等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考虑因素太少 → 不准确；太多 → 找不到匹配</a:t>
            </a:r>
          </a:p>
          <a:p>
            <a:pPr algn="l"/>
            <a:endParaRPr lang="en-US" altLang="zh-CN" sz="800" dirty="0"/>
          </a:p>
          <a:p>
            <a:pPr algn="l"/>
            <a:r>
              <a:rPr lang="en-US" altLang="zh-CN" sz="1300" b="1" dirty="0"/>
              <a:t>2. Failure Handling 覆盖不全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未处理：硬件退化、SDC (Silent Data Corruption)、依赖系统故障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若仍需独立诊断系统，那为何不统一构建？</a:t>
            </a:r>
          </a:p>
          <a:p>
            <a:pPr algn="l"/>
            <a:endParaRPr lang="en-US" altLang="zh-CN" sz="800" dirty="0"/>
          </a:p>
          <a:p>
            <a:pPr algn="l"/>
            <a:r>
              <a:rPr lang="en-US" altLang="zh-CN" sz="1300" b="1" dirty="0"/>
              <a:t>3. LLM 错误输出风险</a:t>
            </a:r>
          </a:p>
          <a:p>
            <a:pPr marL="342900" indent="-342900" algn="l">
              <a:buChar char="•"/>
            </a:pPr>
            <a:r>
              <a:rPr lang="en-US" altLang="zh-CN" sz="1200" dirty="0"/>
              <a:t>论文只讨论了 LLM 找不到信息时的 fallback，未讨论 LLM 给出错误信息的后果</a:t>
            </a:r>
          </a:p>
          <a:p>
            <a:pPr algn="l"/>
            <a:endParaRPr lang="en-US" altLang="zh-CN" sz="800" dirty="0"/>
          </a:p>
          <a:p>
            <a:pPr algn="l"/>
            <a:r>
              <a:rPr lang="en-US" altLang="zh-CN" sz="1400" b="1" dirty="0">
                <a:solidFill>
                  <a:srgbClr val="1565C0"/>
                </a:solidFill>
              </a:rPr>
              <a:t>建议：</a:t>
            </a:r>
            <a:r>
              <a:rPr lang="en-US" altLang="zh-CN" sz="1300" dirty="0"/>
              <a:t>在学术环境中很难论证实用性，需要生产环境经验支撑</a:t>
            </a:r>
          </a:p>
        </p:txBody>
      </p:sp>
    </p:spTree>
    <p:extLst>
      <p:ext uri="{BB962C8B-B14F-4D97-AF65-F5344CB8AC3E}">
        <p14:creationId xmlns:p14="http://schemas.microsoft.com/office/powerpoint/2010/main" val="2745944779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974" y="100000"/>
            <a:ext cx="10515600" cy="550000"/>
          </a:xfrm>
        </p:spPr>
        <p:txBody>
          <a:bodyPr/>
          <a:lstStyle/>
          <a:p>
            <a:r>
              <a:rPr kumimoji="1" lang="en-US" altLang="zh-CN" sz="2400" dirty="0"/>
              <a:t>Review #232A — Key Excerpts</a:t>
            </a:r>
            <a:endParaRPr kumimoji="1" lang="zh-CN" altLang="en-US" dirty="0" sz="2400"/>
          </a:p>
        </p:txBody>
      </p:sp>
      <p:sp>
        <p:nvSpPr>
          <p:cNvPr id="4" name="Content 3"/>
          <p:cNvSpPr>
            <a:spLocks noGrp="1"/>
          </p:cNvSpPr>
          <p:nvPr>
            <p:ph idx="1"/>
          </p:nvPr>
        </p:nvSpPr>
        <p:spPr>
          <a:xfrm>
            <a:off x="221974" y="700000"/>
            <a:ext cx="11700000" cy="6000000"/>
          </a:xfrm>
        </p:spPr>
        <p:txBody>
          <a:bodyPr>
            <a:normAutofit/>
          </a:bodyPr>
          <a:lstStyle/>
          <a:p>
            <a:pPr algn="l"/>
            <a:r>
              <a:rPr lang="en-US" altLang="zh-CN" sz="1500" b="1" dirty="0"/>
              <a:t>Overall merit: 2. Weak reject    |    Submission length: Good</a:t>
            </a:r>
          </a:p>
          <a:p>
            <a:pPr algn="l">
              <a:lnSpc>
                <a:spcPts val="600"/>
              </a:lnSpc>
            </a:pPr>
            <a:endParaRPr lang="en-US" altLang="zh-CN" sz="600" dirty="0"/>
          </a:p>
          <a:p>
            <a:pPr algn="l"/>
            <a:r>
              <a:rPr lang="en-US" altLang="zh-CN" sz="1600" b="1" dirty="0">
                <a:solidFill>
                  <a:srgbClr val="2E7D32"/>
                </a:solidFill>
              </a:rPr>
              <a:t>Positive signal:</a:t>
            </a:r>
          </a:p>
          <a:p>
            <a:pPr algn="l"/>
            <a:r>
              <a:rPr lang="en-US" altLang="zh-CN" sz="1500" dirty="0"/>
              <a:t>+ Strong engineering/evaluation: modular Ray-based library, real 128-GPU experiments, and trace-driven simulation validated against physical runs.</a:t>
            </a:r>
          </a:p>
          <a:p>
            <a:pPr algn="l">
              <a:lnSpc>
                <a:spcPts val="600"/>
              </a:lnSpc>
            </a:pPr>
            <a:endParaRPr lang="en-US" altLang="zh-CN" sz="600" dirty="0"/>
          </a:p>
          <a:p>
            <a:pPr algn="l"/>
            <a:r>
              <a:rPr lang="en-US" altLang="zh-CN" sz="1600" b="1" dirty="0">
                <a:solidFill>
                  <a:srgbClr val="C62828"/>
                </a:solidFill>
              </a:rPr>
              <a:t>Main concerns:</a:t>
            </a:r>
          </a:p>
          <a:p>
            <a:pPr algn="l"/>
            <a:r>
              <a:rPr lang="en-US" altLang="zh-CN" sz="1500" dirty="0"/>
              <a:t>- Core systems contribution is still unclear beyond using LLMs for information extraction.</a:t>
            </a:r>
          </a:p>
          <a:p>
            <a:pPr algn="l"/>
            <a:r>
              <a:rPr lang="en-US" altLang="zh-CN" sz="1500" dirty="0"/>
              <a:t>- Need evidence that simpler baselines (e.g., embeddings or lightweight pipelines) are insufficient.</a:t>
            </a:r>
          </a:p>
          <a:p>
            <a:pPr algn="l"/>
            <a:r>
              <a:rPr lang="en-US" altLang="zh-CN" sz="1500" dirty="0"/>
              <a:t>- Scheduling Advisor needs sensitivity analysis for T/k and robustness when similar jobs diverge in runtime.</a:t>
            </a:r>
          </a:p>
          <a:p>
            <a:pPr algn="l"/>
            <a:r>
              <a:rPr lang="en-US" altLang="zh-CN" sz="1500" dirty="0"/>
              <a:t>- Failure Handler looks more like peripheral log analysis than a core scheduling mechanism.</a:t>
            </a:r>
          </a:p>
          <a:p>
            <a:pPr algn="l">
              <a:lnSpc>
                <a:spcPts val="600"/>
              </a:lnSpc>
            </a:pPr>
            <a:endParaRPr lang="en-US" altLang="zh-CN" sz="600" dirty="0"/>
          </a:p>
          <a:p>
            <a:pPr algn="l"/>
            <a:r>
              <a:rPr lang="en-US" altLang="zh-CN" sz="1600" b="1" dirty="0">
                <a:solidFill>
                  <a:srgbClr val="1565C0"/>
                </a:solidFill>
              </a:rPr>
              <a:t>Rebuttal focus:</a:t>
            </a:r>
          </a:p>
          <a:p>
            <a:pPr algn="l"/>
            <a:r>
              <a:rPr lang="en-US" altLang="zh-CN" sz="1500" dirty="0"/>
              <a:t>Clarify the new scheduling capabilities enabled by semantic extraction, and why simpler techniques cannot match them.</a:t>
            </a:r>
          </a:p>
        </p:txBody>
      </p:sp>
    </p:spTree>
    <p:extLst>
      <p:ext uri="{BB962C8B-B14F-4D97-AF65-F5344CB8AC3E}">
        <ns3:creationId val="2745944779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974" y="100000"/>
            <a:ext cx="10515600" cy="550000"/>
          </a:xfrm>
        </p:spPr>
        <p:txBody>
          <a:bodyPr/>
          <a:lstStyle/>
          <a:p>
            <a:r>
              <a:rPr kumimoji="1" lang="en-US" altLang="zh-CN" sz="2400" dirty="0"/>
              <a:t>Review #232B — Key Excerpts</a:t>
            </a:r>
            <a:endParaRPr kumimoji="1" lang="zh-CN" altLang="en-US" dirty="0" sz="2400"/>
          </a:p>
        </p:txBody>
      </p:sp>
      <p:sp>
        <p:nvSpPr>
          <p:cNvPr id="4" name="Content 3"/>
          <p:cNvSpPr>
            <a:spLocks noGrp="1"/>
          </p:cNvSpPr>
          <p:nvPr>
            <p:ph idx="1"/>
          </p:nvPr>
        </p:nvSpPr>
        <p:spPr>
          <a:xfrm>
            <a:off x="221974" y="700000"/>
            <a:ext cx="11700000" cy="6000000"/>
          </a:xfrm>
        </p:spPr>
        <p:txBody>
          <a:bodyPr>
            <a:normAutofit/>
          </a:bodyPr>
          <a:lstStyle/>
          <a:p>
            <a:pPr algn="l"/>
            <a:r>
              <a:rPr lang="en-US" altLang="zh-CN" sz="1500" b="1" dirty="0"/>
              <a:t>Overall merit: 2. Weak reject    |    Submission length: Good</a:t>
            </a:r>
          </a:p>
          <a:p>
            <a:pPr algn="l">
              <a:lnSpc>
                <a:spcPts val="600"/>
              </a:lnSpc>
            </a:pPr>
            <a:endParaRPr lang="en-US" altLang="zh-CN" sz="600" dirty="0"/>
          </a:p>
          <a:p>
            <a:pPr algn="l"/>
            <a:r>
              <a:rPr lang="en-US" altLang="zh-CN" sz="1600" b="1" dirty="0"/>
              <a:t>Reviewer stance:</a:t>
            </a:r>
          </a:p>
          <a:p>
            <a:pPr algn="l"/>
            <a:r>
              <a:rPr lang="en-US" altLang="zh-CN" sz="1500" dirty="0"/>
              <a:t>+ Practical direction is appreciated, but the paper does not yet prove practicability without production evidence.</a:t>
            </a:r>
          </a:p>
          <a:p>
            <a:pPr algn="l">
              <a:lnSpc>
                <a:spcPts val="600"/>
              </a:lnSpc>
            </a:pPr>
            <a:endParaRPr lang="en-US" altLang="zh-CN" sz="700" dirty="0"/>
          </a:p>
          <a:p>
            <a:pPr algn="l"/>
            <a:r>
              <a:rPr lang="en-US" altLang="zh-CN" sz="1600" b="1" dirty="0">
                <a:solidFill>
                  <a:srgbClr val="C62828"/>
                </a:solidFill>
              </a:rPr>
              <a:t>Concern 1 — Job length estimation:</a:t>
            </a:r>
          </a:p>
          <a:p>
            <a:pPr algn="l"/>
            <a:r>
              <a:rPr lang="en-US" altLang="zh-CN" sz="1500" dirty="0"/>
              <a:t>Missing factors include software stack, hardware/topology, failures or preemptions, and data distance; too few features hurt accuracy, too many hurt matchability.</a:t>
            </a:r>
          </a:p>
          <a:p>
            <a:pPr algn="l">
              <a:lnSpc>
                <a:spcPts val="600"/>
              </a:lnSpc>
            </a:pPr>
            <a:endParaRPr lang="en-US" altLang="zh-CN" sz="700" dirty="0"/>
          </a:p>
          <a:p>
            <a:pPr algn="l"/>
            <a:r>
              <a:rPr lang="en-US" altLang="zh-CN" sz="1600" b="1" dirty="0">
                <a:solidFill>
                  <a:srgbClr val="C62828"/>
                </a:solidFill>
              </a:rPr>
              <a:t>Concern 2 — Failure handling:</a:t>
            </a:r>
          </a:p>
          <a:p>
            <a:pPr algn="l"/>
            <a:r>
              <a:rPr lang="en-US" altLang="zh-CN" sz="1500" dirty="0"/>
              <a:t>Coverage seems incomplete: degraded hardware, silent data corruption, and dependent-system failures; reviewer questions why diagnosis remains separate.</a:t>
            </a:r>
          </a:p>
          <a:p>
            <a:pPr algn="l">
              <a:lnSpc>
                <a:spcPts val="600"/>
              </a:lnSpc>
            </a:pPr>
            <a:endParaRPr lang="en-US" altLang="zh-CN" sz="700" dirty="0"/>
          </a:p>
          <a:p>
            <a:pPr algn="l"/>
            <a:r>
              <a:rPr lang="en-US" altLang="zh-CN" sz="1600" b="1" dirty="0">
                <a:solidFill>
                  <a:srgbClr val="C62828"/>
                </a:solidFill>
              </a:rPr>
              <a:t>Concern 3 — LLM error output:</a:t>
            </a:r>
          </a:p>
          <a:p>
            <a:pPr algn="l"/>
            <a:r>
              <a:rPr lang="en-US" altLang="zh-CN" sz="1500" dirty="0"/>
              <a:t>Fallback only addresses “no answer,” not confidently wrong answers; the rebuttal needs error containment and impact analysis.</a:t>
            </a:r>
          </a:p>
        </p:txBody>
      </p:sp>
    </p:spTree>
    <p:extLst>
      <p:ext uri="{BB962C8B-B14F-4D97-AF65-F5344CB8AC3E}">
        <ns3:creationId val="2745944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CD2C-24DD-D175-548F-B65A0635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602E-DFBE-4107-7F1C-575C93B5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/>
              <a:t>改进方向 (Action Items)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61B10-4A93-91C0-21D7-0147393B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sz="1400" b="1" dirty="0"/>
              <a:t>1. 强化系统贡献阐述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明确提出 LLM 语义提取带来的新调度能力，而非仅仅“更好的工具”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增加与 embedding-based / 轻量级方法的实验对比</a:t>
            </a:r>
          </a:p>
          <a:p>
            <a:pPr algn="l"/>
            <a:endParaRPr lang="en-US" altLang="zh-CN" sz="800" dirty="0"/>
          </a:p>
          <a:p>
            <a:pPr marL="0" indent="0" algn="l">
              <a:buNone/>
            </a:pPr>
            <a:r>
              <a:rPr lang="en-US" altLang="zh-CN" sz="1400" b="1" dirty="0"/>
              <a:t>2. 完善参数敏感度分析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补充 T score 和 k 参数的敏感度实验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讨论语义相似但配置不同时的处理策略</a:t>
            </a:r>
          </a:p>
          <a:p>
            <a:pPr algn="l"/>
            <a:endParaRPr lang="en-US" altLang="zh-CN" sz="800" dirty="0"/>
          </a:p>
          <a:p>
            <a:pPr marL="0" indent="0" algn="l">
              <a:buNone/>
            </a:pPr>
            <a:r>
              <a:rPr lang="en-US" altLang="zh-CN" sz="1400" b="1" dirty="0"/>
              <a:t>3. 增强 Failure Handler 论述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讨论硬件退化、SDC 等场景的处理方式或局限性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考虑将 Failure Handler 与调度决策更紧密地绑定</a:t>
            </a:r>
          </a:p>
          <a:p>
            <a:pPr algn="l"/>
            <a:endParaRPr lang="en-US" altLang="zh-CN" sz="800" dirty="0"/>
          </a:p>
          <a:p>
            <a:pPr marL="0" indent="0" algn="l">
              <a:buNone/>
            </a:pPr>
            <a:r>
              <a:rPr lang="en-US" altLang="zh-CN" sz="1400" b="1" dirty="0"/>
              <a:t>4. 增加 LLM 容错机制讨论</a:t>
            </a:r>
          </a:p>
          <a:p>
            <a:pPr marL="342900" indent="-342900" algn="l">
              <a:buChar char="•"/>
            </a:pPr>
            <a:r>
              <a:rPr lang="en-US" altLang="zh-CN" sz="1300" dirty="0"/>
              <a:t>补充 LLM 输出错误信息时的影响分析和缓解策略</a:t>
            </a:r>
          </a:p>
        </p:txBody>
      </p:sp>
    </p:spTree>
    <p:extLst>
      <p:ext uri="{BB962C8B-B14F-4D97-AF65-F5344CB8AC3E}">
        <p14:creationId xmlns:p14="http://schemas.microsoft.com/office/powerpoint/2010/main" val="2745944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27BFA-B5DB-44EC-CF3A-55B2D2D6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10" y="186066"/>
            <a:ext cx="10113579" cy="991093"/>
          </a:xfrm>
        </p:spPr>
        <p:txBody>
          <a:bodyPr anchor="t">
            <a:normAutofit fontScale="90000"/>
          </a:bodyPr>
          <a:lstStyle/>
          <a:p>
            <a:pPr algn="ctr"/>
            <a:r>
              <a:rPr kumimoji="1" lang="en-US" altLang="zh-CN" sz="3600" dirty="0" err="1"/>
              <a:t>Acelerating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GUI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(VL)-Agent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RL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Training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via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Efficient</a:t>
            </a:r>
            <a:r>
              <a:rPr kumimoji="1" lang="zh-CN" altLang="en-US" sz="3600" dirty="0"/>
              <a:t> </a:t>
            </a:r>
            <a:r>
              <a:rPr kumimoji="1" lang="en-US" altLang="zh-CN" sz="3600" u="sng" dirty="0"/>
              <a:t>Sandbox</a:t>
            </a:r>
            <a:r>
              <a:rPr kumimoji="1" lang="zh-CN" altLang="en-US" sz="3600" u="sng" dirty="0"/>
              <a:t> </a:t>
            </a:r>
            <a:r>
              <a:rPr kumimoji="1" lang="en-US" altLang="zh-CN" sz="3600" u="sng" dirty="0"/>
              <a:t>Fork</a:t>
            </a:r>
            <a:r>
              <a:rPr kumimoji="1" lang="zh-CN" altLang="en-US" sz="3600" u="sng" dirty="0"/>
              <a:t> </a:t>
            </a:r>
            <a:r>
              <a:rPr kumimoji="1" lang="en-US" altLang="zh-CN" sz="3600" dirty="0"/>
              <a:t>and</a:t>
            </a:r>
            <a:r>
              <a:rPr kumimoji="1" lang="zh-CN" altLang="en-US" sz="3600" dirty="0"/>
              <a:t> </a:t>
            </a:r>
            <a:r>
              <a:rPr kumimoji="1" lang="en-US" altLang="zh-CN" sz="3600" u="sng" dirty="0"/>
              <a:t>Speculative</a:t>
            </a:r>
            <a:r>
              <a:rPr kumimoji="1" lang="zh-CN" altLang="en-US" sz="3600" u="sng" dirty="0"/>
              <a:t> </a:t>
            </a:r>
            <a:r>
              <a:rPr kumimoji="1" lang="en-US" altLang="zh-CN" sz="3600" u="sng" dirty="0"/>
              <a:t>Actions</a:t>
            </a:r>
            <a:endParaRPr kumimoji="1" lang="zh-CN" altLang="en-US" sz="3600" u="sng" dirty="0"/>
          </a:p>
        </p:txBody>
      </p:sp>
      <p:pic>
        <p:nvPicPr>
          <p:cNvPr id="1026" name="Picture 2" descr="osworld task_demonstration">
            <a:extLst>
              <a:ext uri="{FF2B5EF4-FFF2-40B4-BE49-F238E27FC236}">
                <a16:creationId xmlns:a16="http://schemas.microsoft.com/office/drawing/2014/main" id="{6C3321D3-6C6C-F399-B07D-BF953B267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61848" y="1836774"/>
            <a:ext cx="6092278" cy="3759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F97A045-7D38-4419-9F03-09636BF9F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430" y="1836774"/>
            <a:ext cx="6877694" cy="375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93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09FE-8AB3-77E1-423B-85B04167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CB53A-3B88-D089-7748-2E252FE5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73160"/>
            <a:ext cx="10515600" cy="887205"/>
          </a:xfrm>
        </p:spPr>
        <p:txBody>
          <a:bodyPr/>
          <a:lstStyle/>
          <a:p>
            <a:r>
              <a:rPr kumimoji="1" lang="en-US" altLang="zh-CN" dirty="0" err="1"/>
              <a:t>Xserver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B4E86C-91CB-4E3A-86FD-B4E2291F1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475" y="941152"/>
            <a:ext cx="6485049" cy="5531366"/>
          </a:xfrm>
        </p:spPr>
      </p:pic>
    </p:spTree>
    <p:extLst>
      <p:ext uri="{BB962C8B-B14F-4D97-AF65-F5344CB8AC3E}">
        <p14:creationId xmlns:p14="http://schemas.microsoft.com/office/powerpoint/2010/main" val="3949729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8DAF5-9B94-0EDE-ED8A-57EC0D40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Sandbox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6780A-80C7-ED2B-CB73-DB855C9EF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u="sng" dirty="0"/>
              <a:t>CRIU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Sandbox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u="sng" dirty="0"/>
              <a:t>checkpoint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-&gt;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restore</a:t>
            </a:r>
            <a:r>
              <a:rPr kumimoji="1" lang="zh-CN" altLang="en-US" u="sng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Sandbox</a:t>
            </a:r>
          </a:p>
          <a:p>
            <a:pPr lvl="1"/>
            <a:r>
              <a:rPr kumimoji="1" lang="en-US" altLang="zh-CN" dirty="0" err="1"/>
              <a:t>gvisor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Local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Fork: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Sandbox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Sandbox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CoW</a:t>
            </a:r>
            <a:r>
              <a:rPr kumimoji="1" lang="en-US" altLang="zh-CN" dirty="0"/>
              <a:t>)</a:t>
            </a:r>
          </a:p>
          <a:p>
            <a:r>
              <a:rPr kumimoji="1" lang="en-US" altLang="zh-CN" dirty="0"/>
              <a:t>Reduce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start:</a:t>
            </a:r>
            <a:r>
              <a:rPr kumimoji="1" lang="zh-CN" altLang="en-US" dirty="0"/>
              <a:t> </a:t>
            </a:r>
            <a:r>
              <a:rPr kumimoji="1" lang="en-US" altLang="zh-CN" u="sng" dirty="0"/>
              <a:t>image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-&gt;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launch</a:t>
            </a:r>
            <a:r>
              <a:rPr kumimoji="1" lang="zh-CN" altLang="en-US" u="sng" dirty="0"/>
              <a:t> </a:t>
            </a:r>
            <a:r>
              <a:rPr kumimoji="1" lang="en-US" altLang="zh-CN" u="sng" dirty="0"/>
              <a:t>python</a:t>
            </a:r>
            <a:r>
              <a:rPr kumimoji="1" lang="zh-CN" altLang="en-US" u="sng" dirty="0"/>
              <a:t> </a:t>
            </a:r>
            <a:r>
              <a:rPr kumimoji="1" lang="en-US" altLang="zh-CN" dirty="0"/>
              <a:t>-&gt;template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b="1" dirty="0" err="1"/>
              <a:t>func</a:t>
            </a:r>
            <a:endParaRPr kumimoji="1" lang="en-US" altLang="zh-CN" b="1" dirty="0"/>
          </a:p>
          <a:p>
            <a:pPr marL="0" indent="0">
              <a:buNone/>
            </a:pPr>
            <a:endParaRPr kumimoji="1" lang="en-US" altLang="zh-CN" b="1" dirty="0"/>
          </a:p>
          <a:p>
            <a:pPr marL="0" indent="0">
              <a:buNone/>
            </a:pPr>
            <a:r>
              <a:rPr kumimoji="1" lang="en-US" altLang="zh-CN" dirty="0" err="1"/>
              <a:t>OSWorld</a:t>
            </a:r>
            <a:r>
              <a:rPr kumimoji="1" lang="zh-CN" altLang="en-US" dirty="0"/>
              <a:t> </a:t>
            </a:r>
            <a:r>
              <a:rPr kumimoji="1" lang="en-US" altLang="zh-CN" strike="sngStrike" dirty="0"/>
              <a:t>reset</a:t>
            </a:r>
            <a:r>
              <a:rPr kumimoji="1" lang="zh-CN" altLang="en-US" strike="sngStrike" dirty="0"/>
              <a:t> </a:t>
            </a:r>
            <a:r>
              <a:rPr kumimoji="1" lang="en-US" altLang="zh-CN" strike="sngStrike" dirty="0"/>
              <a:t>cost</a:t>
            </a:r>
            <a:r>
              <a:rPr kumimoji="1" lang="zh-CN" altLang="en-US" strike="sngStrike" dirty="0"/>
              <a:t> </a:t>
            </a:r>
            <a:endParaRPr kumimoji="1" lang="en-US" altLang="zh-CN" strike="sngStrike" dirty="0"/>
          </a:p>
          <a:p>
            <a:pPr marL="0" indent="0">
              <a:buNone/>
            </a:pPr>
            <a:endParaRPr kumimoji="1" lang="en-US" altLang="zh-CN" strike="sngStrike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430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1285</Words>
  <Application>Microsoft Macintosh PowerPoint</Application>
  <PresentationFormat>宽屏</PresentationFormat>
  <Paragraphs>140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Microsoft YaHei</vt:lpstr>
      <vt:lpstr>Arial</vt:lpstr>
      <vt:lpstr>Office 主题​​</vt:lpstr>
      <vt:lpstr>Work Introduction Slides</vt:lpstr>
      <vt:lpstr>SchedMate: Semantic-Aware Scheduling for GPU Clusters with LLMs</vt:lpstr>
      <vt:lpstr>SchedMate: Semantic-Aware Scheduling</vt:lpstr>
      <vt:lpstr>Motivation: The Semantic Gap</vt:lpstr>
      <vt:lpstr>SchedMate Framework</vt:lpstr>
      <vt:lpstr>Contributions &amp; Results</vt:lpstr>
      <vt:lpstr>Schedule Advisor</vt:lpstr>
      <vt:lpstr>Metric Tracker</vt:lpstr>
      <vt:lpstr>Failure Handler</vt:lpstr>
      <vt:lpstr>OSDI 26 Reviews Overview</vt:lpstr>
      <vt:lpstr>Review A: Weak Reject</vt:lpstr>
      <vt:lpstr>Review B: Weak Reject</vt:lpstr>
      <vt:lpstr>Review #232A — Original Text</vt:lpstr>
      <vt:lpstr>Review #232B — Original Text</vt:lpstr>
      <vt:lpstr>改进方向 (Action Items)</vt:lpstr>
      <vt:lpstr>Acelerating GUI (VL)-Agent RL Training via Efficient Sandbox Fork and Speculative Actions</vt:lpstr>
      <vt:lpstr>Xserver Arch</vt:lpstr>
      <vt:lpstr>Sandbox Fork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王泽睿（实习）</dc:creator>
  <cp:lastModifiedBy>王泽睿（实习）</cp:lastModifiedBy>
  <cp:revision>16</cp:revision>
  <dcterms:created xsi:type="dcterms:W3CDTF">2026-04-06T03:22:53Z</dcterms:created>
  <dcterms:modified xsi:type="dcterms:W3CDTF">2026-04-07T05:30:39Z</dcterms:modified>
</cp:coreProperties>
</file>