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74" r:id="rId3"/>
    <p:sldId id="260" r:id="rId4"/>
    <p:sldId id="257" r:id="rId5"/>
    <p:sldId id="261" r:id="rId6"/>
    <p:sldId id="262" r:id="rId7"/>
    <p:sldId id="263" r:id="rId8"/>
    <p:sldId id="264" r:id="rId9"/>
    <p:sldId id="265" r:id="rId10"/>
    <p:sldId id="307" r:id="rId11"/>
    <p:sldId id="312" r:id="rId12"/>
    <p:sldId id="313" r:id="rId13"/>
    <p:sldId id="314" r:id="rId14"/>
    <p:sldId id="259" r:id="rId15"/>
    <p:sldId id="272" r:id="rId16"/>
    <p:sldId id="295" r:id="rId17"/>
    <p:sldId id="296" r:id="rId18"/>
    <p:sldId id="298" r:id="rId19"/>
    <p:sldId id="299" r:id="rId20"/>
    <p:sldId id="273" r:id="rId21"/>
    <p:sldId id="300" r:id="rId22"/>
    <p:sldId id="303" r:id="rId23"/>
    <p:sldId id="304" r:id="rId24"/>
    <p:sldId id="271" r:id="rId25"/>
    <p:sldId id="275" r:id="rId26"/>
    <p:sldId id="276" r:id="rId27"/>
    <p:sldId id="277" r:id="rId28"/>
    <p:sldId id="278" r:id="rId29"/>
    <p:sldId id="279" r:id="rId30"/>
    <p:sldId id="280" r:id="rId31"/>
    <p:sldId id="281" r:id="rId32"/>
    <p:sldId id="282" r:id="rId33"/>
    <p:sldId id="283" r:id="rId34"/>
    <p:sldId id="284" r:id="rId35"/>
    <p:sldId id="285" r:id="rId36"/>
    <p:sldId id="267" r:id="rId37"/>
    <p:sldId id="266" r:id="rId38"/>
    <p:sldId id="305" r:id="rId39"/>
    <p:sldId id="289" r:id="rId40"/>
    <p:sldId id="302" r:id="rId41"/>
    <p:sldId id="309" r:id="rId42"/>
    <p:sldId id="290" r:id="rId43"/>
    <p:sldId id="308" r:id="rId44"/>
    <p:sldId id="291" r:id="rId45"/>
    <p:sldId id="301" r:id="rId46"/>
    <p:sldId id="310" r:id="rId47"/>
    <p:sldId id="288" r:id="rId48"/>
    <p:sldId id="294" r:id="rId49"/>
    <p:sldId id="315"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99"/>
    <p:restoredTop sz="96809"/>
  </p:normalViewPr>
  <p:slideViewPr>
    <p:cSldViewPr snapToGrid="0">
      <p:cViewPr>
        <p:scale>
          <a:sx n="133" d="100"/>
          <a:sy n="133" d="100"/>
        </p:scale>
        <p:origin x="48" y="536"/>
      </p:cViewPr>
      <p:guideLst/>
    </p:cSldViewPr>
  </p:slideViewPr>
  <p:notesTextViewPr>
    <p:cViewPr>
      <p:scale>
        <a:sx n="20" d="100"/>
        <a:sy n="20" d="100"/>
      </p:scale>
      <p:origin x="0" y="0"/>
    </p:cViewPr>
  </p:notesTextViewPr>
  <p:notesViewPr>
    <p:cSldViewPr snapToGrid="0">
      <p:cViewPr varScale="1">
        <p:scale>
          <a:sx n="97" d="100"/>
          <a:sy n="97" d="100"/>
        </p:scale>
        <p:origin x="3976"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5676D4-088A-8E4E-B75F-5627A91872C7}" type="datetimeFigureOut">
              <a:rPr kumimoji="1" lang="zh-CN" altLang="en-US" smtClean="0"/>
              <a:t>2026/4/15</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8A44B8-9900-074B-B53C-3A3A26D72BBB}" type="slidenum">
              <a:rPr kumimoji="1" lang="zh-CN" altLang="en-US" smtClean="0"/>
              <a:t>‹#›</a:t>
            </a:fld>
            <a:endParaRPr kumimoji="1" lang="zh-CN" altLang="en-US"/>
          </a:p>
        </p:txBody>
      </p:sp>
    </p:spTree>
    <p:extLst>
      <p:ext uri="{BB962C8B-B14F-4D97-AF65-F5344CB8AC3E}">
        <p14:creationId xmlns:p14="http://schemas.microsoft.com/office/powerpoint/2010/main" val="3921921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3</a:t>
            </a:fld>
            <a:endParaRPr kumimoji="1" lang="zh-CN" altLang="en-US"/>
          </a:p>
        </p:txBody>
      </p:sp>
    </p:spTree>
    <p:extLst>
      <p:ext uri="{BB962C8B-B14F-4D97-AF65-F5344CB8AC3E}">
        <p14:creationId xmlns:p14="http://schemas.microsoft.com/office/powerpoint/2010/main" val="2760555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4</a:t>
            </a:fld>
            <a:endParaRPr kumimoji="1" lang="zh-CN" altLang="en-US"/>
          </a:p>
        </p:txBody>
      </p:sp>
    </p:spTree>
    <p:extLst>
      <p:ext uri="{BB962C8B-B14F-4D97-AF65-F5344CB8AC3E}">
        <p14:creationId xmlns:p14="http://schemas.microsoft.com/office/powerpoint/2010/main" val="817907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5</a:t>
            </a:fld>
            <a:endParaRPr kumimoji="1" lang="zh-CN" altLang="en-US"/>
          </a:p>
        </p:txBody>
      </p:sp>
    </p:spTree>
    <p:extLst>
      <p:ext uri="{BB962C8B-B14F-4D97-AF65-F5344CB8AC3E}">
        <p14:creationId xmlns:p14="http://schemas.microsoft.com/office/powerpoint/2010/main" val="2911430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6</a:t>
            </a:fld>
            <a:endParaRPr kumimoji="1" lang="zh-CN" altLang="en-US"/>
          </a:p>
        </p:txBody>
      </p:sp>
    </p:spTree>
    <p:extLst>
      <p:ext uri="{BB962C8B-B14F-4D97-AF65-F5344CB8AC3E}">
        <p14:creationId xmlns:p14="http://schemas.microsoft.com/office/powerpoint/2010/main" val="6116250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8</a:t>
            </a:fld>
            <a:endParaRPr kumimoji="1" lang="zh-CN" altLang="en-US"/>
          </a:p>
        </p:txBody>
      </p:sp>
    </p:spTree>
    <p:extLst>
      <p:ext uri="{BB962C8B-B14F-4D97-AF65-F5344CB8AC3E}">
        <p14:creationId xmlns:p14="http://schemas.microsoft.com/office/powerpoint/2010/main" val="39606429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9</a:t>
            </a:fld>
            <a:endParaRPr kumimoji="1" lang="zh-CN" altLang="en-US"/>
          </a:p>
        </p:txBody>
      </p:sp>
    </p:spTree>
    <p:extLst>
      <p:ext uri="{BB962C8B-B14F-4D97-AF65-F5344CB8AC3E}">
        <p14:creationId xmlns:p14="http://schemas.microsoft.com/office/powerpoint/2010/main" val="10446277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4F024-F2B2-ED55-4B2F-3C6CE94DDA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08591E-6DA8-B9E2-2026-C943B0EDBC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30D0B47-BF20-F904-4015-6826748797DA}"/>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288FE798-D616-7906-4934-7734725D40B0}"/>
              </a:ext>
            </a:extLst>
          </p:cNvPr>
          <p:cNvSpPr>
            <a:spLocks noGrp="1"/>
          </p:cNvSpPr>
          <p:nvPr>
            <p:ph type="sldNum" sz="quarter" idx="5"/>
          </p:nvPr>
        </p:nvSpPr>
        <p:spPr/>
        <p:txBody>
          <a:bodyPr/>
          <a:lstStyle/>
          <a:p>
            <a:fld id="{C08A44B8-9900-074B-B53C-3A3A26D72BBB}" type="slidenum">
              <a:rPr kumimoji="1" lang="zh-CN" altLang="en-US" smtClean="0"/>
              <a:t>11</a:t>
            </a:fld>
            <a:endParaRPr kumimoji="1" lang="zh-CN" altLang="en-US"/>
          </a:p>
        </p:txBody>
      </p:sp>
    </p:spTree>
    <p:extLst>
      <p:ext uri="{BB962C8B-B14F-4D97-AF65-F5344CB8AC3E}">
        <p14:creationId xmlns:p14="http://schemas.microsoft.com/office/powerpoint/2010/main" val="6233037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13</a:t>
            </a:fld>
            <a:endParaRPr kumimoji="1" lang="zh-CN" altLang="en-US"/>
          </a:p>
        </p:txBody>
      </p:sp>
    </p:spTree>
    <p:extLst>
      <p:ext uri="{BB962C8B-B14F-4D97-AF65-F5344CB8AC3E}">
        <p14:creationId xmlns:p14="http://schemas.microsoft.com/office/powerpoint/2010/main" val="1570980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20</a:t>
            </a:fld>
            <a:endParaRPr kumimoji="1" lang="zh-CN" altLang="en-US"/>
          </a:p>
        </p:txBody>
      </p:sp>
    </p:spTree>
    <p:extLst>
      <p:ext uri="{BB962C8B-B14F-4D97-AF65-F5344CB8AC3E}">
        <p14:creationId xmlns:p14="http://schemas.microsoft.com/office/powerpoint/2010/main" val="12282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4B295-BFA7-16C5-2699-DF3A0733C3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2DC521-B979-E8F2-9B6C-CA5F7831B597}"/>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F0665782-E59B-C7B6-B9C0-2C1B25476EF9}"/>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6B642676-9157-6F3C-C44E-0F8DE9F45715}"/>
              </a:ext>
            </a:extLst>
          </p:cNvPr>
          <p:cNvSpPr>
            <a:spLocks noGrp="1"/>
          </p:cNvSpPr>
          <p:nvPr>
            <p:ph type="sldNum" sz="quarter" idx="5"/>
          </p:nvPr>
        </p:nvSpPr>
        <p:spPr/>
        <p:txBody>
          <a:bodyPr/>
          <a:lstStyle/>
          <a:p>
            <a:fld id="{C08A44B8-9900-074B-B53C-3A3A26D72BBB}" type="slidenum">
              <a:rPr kumimoji="1" lang="zh-CN" altLang="en-US" smtClean="0"/>
              <a:t>21</a:t>
            </a:fld>
            <a:endParaRPr kumimoji="1" lang="zh-CN" altLang="en-US"/>
          </a:p>
        </p:txBody>
      </p:sp>
    </p:spTree>
    <p:extLst>
      <p:ext uri="{BB962C8B-B14F-4D97-AF65-F5344CB8AC3E}">
        <p14:creationId xmlns:p14="http://schemas.microsoft.com/office/powerpoint/2010/main" val="15479801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8C8DF-C5DD-94BB-7237-BAD7065FE85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E55508-047E-455C-EEC7-502A16C2117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B8236261-8CD3-F783-13F0-D2117911B91F}"/>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3C14A804-97EE-8171-5B5F-2BEAFC19CD6A}"/>
              </a:ext>
            </a:extLst>
          </p:cNvPr>
          <p:cNvSpPr>
            <a:spLocks noGrp="1"/>
          </p:cNvSpPr>
          <p:nvPr>
            <p:ph type="sldNum" sz="quarter" idx="5"/>
          </p:nvPr>
        </p:nvSpPr>
        <p:spPr/>
        <p:txBody>
          <a:bodyPr/>
          <a:lstStyle/>
          <a:p>
            <a:fld id="{C08A44B8-9900-074B-B53C-3A3A26D72BBB}" type="slidenum">
              <a:rPr kumimoji="1" lang="zh-CN" altLang="en-US" smtClean="0"/>
              <a:t>22</a:t>
            </a:fld>
            <a:endParaRPr kumimoji="1" lang="zh-CN" altLang="en-US"/>
          </a:p>
        </p:txBody>
      </p:sp>
    </p:spTree>
    <p:extLst>
      <p:ext uri="{BB962C8B-B14F-4D97-AF65-F5344CB8AC3E}">
        <p14:creationId xmlns:p14="http://schemas.microsoft.com/office/powerpoint/2010/main" val="1250196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DDE4F-1EDF-4D53-AB35-F23EBE1D5E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D92118-0ED6-40AA-FFF4-75539E13B9C2}"/>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3AB4DD2C-254F-8C22-0004-5355CE66DE00}"/>
              </a:ext>
            </a:extLst>
          </p:cNvPr>
          <p:cNvSpPr>
            <a:spLocks noGrp="1"/>
          </p:cNvSpPr>
          <p:nvPr>
            <p:ph type="body"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9E8B00A0-D479-5023-C8BC-EBF71B42A690}"/>
              </a:ext>
            </a:extLst>
          </p:cNvPr>
          <p:cNvSpPr>
            <a:spLocks noGrp="1"/>
          </p:cNvSpPr>
          <p:nvPr>
            <p:ph type="sldNum" sz="quarter" idx="5"/>
          </p:nvPr>
        </p:nvSpPr>
        <p:spPr/>
        <p:txBody>
          <a:bodyPr/>
          <a:lstStyle/>
          <a:p>
            <a:fld id="{C08A44B8-9900-074B-B53C-3A3A26D72BBB}" type="slidenum">
              <a:rPr kumimoji="1" lang="zh-CN" altLang="en-US" smtClean="0"/>
              <a:t>23</a:t>
            </a:fld>
            <a:endParaRPr kumimoji="1" lang="zh-CN" altLang="en-US"/>
          </a:p>
        </p:txBody>
      </p:sp>
    </p:spTree>
    <p:extLst>
      <p:ext uri="{BB962C8B-B14F-4D97-AF65-F5344CB8AC3E}">
        <p14:creationId xmlns:p14="http://schemas.microsoft.com/office/powerpoint/2010/main" val="33012500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zh-CN" alt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38</a:t>
            </a:fld>
            <a:endParaRPr kumimoji="1" lang="zh-CN" altLang="en-US"/>
          </a:p>
        </p:txBody>
      </p:sp>
    </p:spTree>
    <p:extLst>
      <p:ext uri="{BB962C8B-B14F-4D97-AF65-F5344CB8AC3E}">
        <p14:creationId xmlns:p14="http://schemas.microsoft.com/office/powerpoint/2010/main" val="27147543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39</a:t>
            </a:fld>
            <a:endParaRPr kumimoji="1" lang="zh-CN" altLang="en-US"/>
          </a:p>
        </p:txBody>
      </p:sp>
    </p:spTree>
    <p:extLst>
      <p:ext uri="{BB962C8B-B14F-4D97-AF65-F5344CB8AC3E}">
        <p14:creationId xmlns:p14="http://schemas.microsoft.com/office/powerpoint/2010/main" val="13638967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42</a:t>
            </a:fld>
            <a:endParaRPr kumimoji="1" lang="zh-CN" altLang="en-US"/>
          </a:p>
        </p:txBody>
      </p:sp>
    </p:spTree>
    <p:extLst>
      <p:ext uri="{BB962C8B-B14F-4D97-AF65-F5344CB8AC3E}">
        <p14:creationId xmlns:p14="http://schemas.microsoft.com/office/powerpoint/2010/main" val="33470812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43</a:t>
            </a:fld>
            <a:endParaRPr kumimoji="1" lang="zh-CN" altLang="en-US"/>
          </a:p>
        </p:txBody>
      </p:sp>
    </p:spTree>
    <p:extLst>
      <p:ext uri="{BB962C8B-B14F-4D97-AF65-F5344CB8AC3E}">
        <p14:creationId xmlns:p14="http://schemas.microsoft.com/office/powerpoint/2010/main" val="19080247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45</a:t>
            </a:fld>
            <a:endParaRPr kumimoji="1" lang="zh-CN" altLang="en-US"/>
          </a:p>
        </p:txBody>
      </p:sp>
    </p:spTree>
    <p:extLst>
      <p:ext uri="{BB962C8B-B14F-4D97-AF65-F5344CB8AC3E}">
        <p14:creationId xmlns:p14="http://schemas.microsoft.com/office/powerpoint/2010/main" val="17933440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47</a:t>
            </a:fld>
            <a:endParaRPr kumimoji="1" lang="zh-CN" altLang="en-US"/>
          </a:p>
        </p:txBody>
      </p:sp>
    </p:spTree>
    <p:extLst>
      <p:ext uri="{BB962C8B-B14F-4D97-AF65-F5344CB8AC3E}">
        <p14:creationId xmlns:p14="http://schemas.microsoft.com/office/powerpoint/2010/main" val="26284373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C08A44B8-9900-074B-B53C-3A3A26D72BBB}" type="slidenum">
              <a:rPr kumimoji="1" lang="zh-CN" altLang="en-US" smtClean="0"/>
              <a:t>48</a:t>
            </a:fld>
            <a:endParaRPr kumimoji="1" lang="zh-CN" altLang="en-US"/>
          </a:p>
        </p:txBody>
      </p:sp>
    </p:spTree>
    <p:extLst>
      <p:ext uri="{BB962C8B-B14F-4D97-AF65-F5344CB8AC3E}">
        <p14:creationId xmlns:p14="http://schemas.microsoft.com/office/powerpoint/2010/main" val="3215893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985041-2192-E46A-E421-5CC624681B57}"/>
              </a:ext>
            </a:extLst>
          </p:cNvPr>
          <p:cNvSpPr>
            <a:spLocks noGrp="1"/>
          </p:cNvSpPr>
          <p:nvPr>
            <p:ph type="ctrTitle"/>
          </p:nvPr>
        </p:nvSpPr>
        <p:spPr>
          <a:xfrm>
            <a:off x="1524000" y="1122363"/>
            <a:ext cx="9144000" cy="2387600"/>
          </a:xfrm>
        </p:spPr>
        <p:txBody>
          <a:bodyPr anchor="b"/>
          <a:lstStyle>
            <a:lvl1pPr algn="ctr">
              <a:defRPr sz="3000">
                <a:latin typeface="Microsoft YaHei" panose="020B0503020204020204" pitchFamily="34" charset="-122"/>
                <a:ea typeface="Microsoft YaHei" panose="020B0503020204020204" pitchFamily="34" charset="-122"/>
              </a:defRPr>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D6FA30C6-01C6-F219-3EF6-C47B4EA3B9C6}"/>
              </a:ext>
            </a:extLst>
          </p:cNvPr>
          <p:cNvSpPr>
            <a:spLocks noGrp="1"/>
          </p:cNvSpPr>
          <p:nvPr>
            <p:ph type="subTitle" idx="1"/>
          </p:nvPr>
        </p:nvSpPr>
        <p:spPr>
          <a:xfrm>
            <a:off x="1524000" y="3602038"/>
            <a:ext cx="9144000" cy="1655762"/>
          </a:xfrm>
        </p:spPr>
        <p:txBody>
          <a:bodyPr>
            <a:normAutofit/>
          </a:bodyPr>
          <a:lstStyle>
            <a:lvl1pPr marL="0" indent="0" algn="ctr">
              <a:buNone/>
              <a:defRPr sz="1800">
                <a:latin typeface="Microsoft YaHei" panose="020B0503020204020204" pitchFamily="34" charset="-122"/>
                <a:ea typeface="Microsoft YaHei"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4" name="日期占位符 3">
            <a:extLst>
              <a:ext uri="{FF2B5EF4-FFF2-40B4-BE49-F238E27FC236}">
                <a16:creationId xmlns:a16="http://schemas.microsoft.com/office/drawing/2014/main" id="{8C508632-BC5B-FE01-884A-1AC91CC39498}"/>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5" name="页脚占位符 4">
            <a:extLst>
              <a:ext uri="{FF2B5EF4-FFF2-40B4-BE49-F238E27FC236}">
                <a16:creationId xmlns:a16="http://schemas.microsoft.com/office/drawing/2014/main" id="{462333E7-D6AD-D4EB-4E99-A2732D03B0E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9333A454-D578-2139-A717-6C76BA316560}"/>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1667337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54FA0E-6212-E529-BDFA-15A900CB2F48}"/>
              </a:ext>
            </a:extLst>
          </p:cNvPr>
          <p:cNvSpPr>
            <a:spLocks noGrp="1"/>
          </p:cNvSpPr>
          <p:nvPr>
            <p:ph type="title"/>
          </p:nvPr>
        </p:nvSpPr>
        <p:spPr>
          <a:xfrm>
            <a:off x="221974" y="136525"/>
            <a:ext cx="10515600" cy="887205"/>
          </a:xfrm>
        </p:spPr>
        <p:txBody>
          <a:bodyPr/>
          <a:lstStyle>
            <a:lvl1pPr>
              <a:defRPr sz="2400">
                <a:latin typeface="Times New Roman" panose="02020603050405020304" pitchFamily="18" charset="0"/>
                <a:ea typeface="Microsoft YaHei" panose="020B0503020204020204" pitchFamily="34" charset="-122"/>
                <a:cs typeface="Times New Roman" panose="02020603050405020304" pitchFamily="18" charset="0"/>
              </a:defRPr>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18C46B0A-1D15-FDEA-2ABE-401103C746EC}"/>
              </a:ext>
            </a:extLst>
          </p:cNvPr>
          <p:cNvSpPr>
            <a:spLocks noGrp="1"/>
          </p:cNvSpPr>
          <p:nvPr>
            <p:ph idx="1"/>
          </p:nvPr>
        </p:nvSpPr>
        <p:spPr>
          <a:xfrm>
            <a:off x="221974" y="1460500"/>
            <a:ext cx="10515600" cy="4351338"/>
          </a:xfrm>
        </p:spPr>
        <p:txBody>
          <a:bodyPr/>
          <a:lstStyle>
            <a:lvl1pPr>
              <a:defRPr sz="1800">
                <a:latin typeface="Microsoft YaHei" panose="020B0503020204020204" pitchFamily="34" charset="-122"/>
                <a:ea typeface="Microsoft YaHei" panose="020B0503020204020204" pitchFamily="34" charset="-122"/>
              </a:defRPr>
            </a:lvl1pPr>
            <a:lvl2pPr>
              <a:defRPr sz="1600">
                <a:latin typeface="Microsoft YaHei" panose="020B0503020204020204" pitchFamily="34" charset="-122"/>
                <a:ea typeface="Microsoft YaHei" panose="020B0503020204020204" pitchFamily="34" charset="-122"/>
              </a:defRPr>
            </a:lvl2pPr>
            <a:lvl3pPr>
              <a:defRPr sz="1400">
                <a:latin typeface="Microsoft YaHei" panose="020B0503020204020204" pitchFamily="34" charset="-122"/>
                <a:ea typeface="Microsoft YaHei" panose="020B0503020204020204" pitchFamily="34" charset="-122"/>
              </a:defRPr>
            </a:lvl3pPr>
            <a:lvl4pPr>
              <a:defRPr sz="1400">
                <a:latin typeface="Microsoft YaHei" panose="020B0503020204020204" pitchFamily="34" charset="-122"/>
                <a:ea typeface="Microsoft YaHei" panose="020B0503020204020204" pitchFamily="34" charset="-122"/>
              </a:defRPr>
            </a:lvl4pPr>
            <a:lvl5pPr>
              <a:defRPr sz="1400">
                <a:latin typeface="Microsoft YaHei" panose="020B0503020204020204" pitchFamily="34" charset="-122"/>
                <a:ea typeface="Microsoft YaHei" panose="020B0503020204020204"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3DE254BE-6EC6-3480-9AE6-FB78EB9C0360}"/>
              </a:ext>
            </a:extLst>
          </p:cNvPr>
          <p:cNvSpPr>
            <a:spLocks noGrp="1"/>
          </p:cNvSpPr>
          <p:nvPr>
            <p:ph type="dt" sz="half" idx="10"/>
          </p:nvPr>
        </p:nvSpPr>
        <p:spPr>
          <a:xfrm>
            <a:off x="221974" y="6361596"/>
            <a:ext cx="2743200" cy="365125"/>
          </a:xfrm>
        </p:spPr>
        <p:txBody>
          <a:bodyPr/>
          <a:lstStyle/>
          <a:p>
            <a:fld id="{1BA3EE31-B730-E44A-97ED-D4B609506562}" type="datetimeFigureOut">
              <a:rPr kumimoji="1" lang="zh-CN" altLang="en-US" smtClean="0"/>
              <a:t>2026/4/15</a:t>
            </a:fld>
            <a:endParaRPr kumimoji="1" lang="zh-CN" altLang="en-US"/>
          </a:p>
        </p:txBody>
      </p:sp>
      <p:sp>
        <p:nvSpPr>
          <p:cNvPr id="6" name="灯片编号占位符 5">
            <a:extLst>
              <a:ext uri="{FF2B5EF4-FFF2-40B4-BE49-F238E27FC236}">
                <a16:creationId xmlns:a16="http://schemas.microsoft.com/office/drawing/2014/main" id="{2E35C933-2D7C-B344-FE80-09D9D761B585}"/>
              </a:ext>
            </a:extLst>
          </p:cNvPr>
          <p:cNvSpPr>
            <a:spLocks noGrp="1"/>
          </p:cNvSpPr>
          <p:nvPr>
            <p:ph type="sldNum" sz="quarter" idx="12"/>
          </p:nvPr>
        </p:nvSpPr>
        <p:spPr>
          <a:xfrm>
            <a:off x="9226826" y="6361596"/>
            <a:ext cx="2743200" cy="365125"/>
          </a:xfrm>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50221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185307-4717-9EC6-2B1C-F2E3751743B2}"/>
              </a:ext>
            </a:extLst>
          </p:cNvPr>
          <p:cNvSpPr>
            <a:spLocks noGrp="1"/>
          </p:cNvSpPr>
          <p:nvPr>
            <p:ph type="title"/>
          </p:nvPr>
        </p:nvSpPr>
        <p:spPr>
          <a:xfrm>
            <a:off x="831850" y="1709738"/>
            <a:ext cx="10515600" cy="2852737"/>
          </a:xfrm>
        </p:spPr>
        <p:txBody>
          <a:bodyPr anchor="b"/>
          <a:lstStyle>
            <a:lvl1pPr>
              <a:defRPr sz="6000" b="1">
                <a:latin typeface="Times New Roman" panose="02020603050405020304" pitchFamily="18" charset="0"/>
                <a:ea typeface="Microsoft YaHei" panose="020B0503020204020204" pitchFamily="34" charset="-122"/>
                <a:cs typeface="Times New Roman" panose="02020603050405020304" pitchFamily="18" charset="0"/>
              </a:defRPr>
            </a:lvl1p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BD4FDBDB-EADE-47E6-21D7-5C723D66EC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Microsoft YaHei" panose="020B0503020204020204" pitchFamily="34" charset="-122"/>
                <a:ea typeface="Microsoft YaHei" panose="020B0503020204020204" pitchFamily="34" charset="-122"/>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93E34B81-7D2A-2481-89C5-02B878A8C32F}"/>
              </a:ext>
            </a:extLst>
          </p:cNvPr>
          <p:cNvSpPr>
            <a:spLocks noGrp="1"/>
          </p:cNvSpPr>
          <p:nvPr>
            <p:ph type="dt" sz="half" idx="10"/>
          </p:nvPr>
        </p:nvSpPr>
        <p:spPr/>
        <p:txBody>
          <a:bodyPr/>
          <a:lstStyle>
            <a:lvl1pPr>
              <a:defRPr>
                <a:latin typeface="Microsoft YaHei" panose="020B0503020204020204" pitchFamily="34" charset="-122"/>
                <a:ea typeface="Microsoft YaHei" panose="020B0503020204020204" pitchFamily="34" charset="-122"/>
              </a:defRPr>
            </a:lvl1pPr>
          </a:lstStyle>
          <a:p>
            <a:fld id="{1BA3EE31-B730-E44A-97ED-D4B609506562}" type="datetimeFigureOut">
              <a:rPr kumimoji="1" lang="zh-CN" altLang="en-US" smtClean="0"/>
              <a:pPr/>
              <a:t>2026/4/15</a:t>
            </a:fld>
            <a:endParaRPr kumimoji="1" lang="zh-CN" altLang="en-US">
              <a:latin typeface="Microsoft YaHei" panose="020B0503020204020204" pitchFamily="34" charset="-122"/>
              <a:ea typeface="Microsoft YaHei" panose="020B0503020204020204" pitchFamily="34" charset="-122"/>
            </a:endParaRPr>
          </a:p>
        </p:txBody>
      </p:sp>
      <p:sp>
        <p:nvSpPr>
          <p:cNvPr id="5" name="页脚占位符 4">
            <a:extLst>
              <a:ext uri="{FF2B5EF4-FFF2-40B4-BE49-F238E27FC236}">
                <a16:creationId xmlns:a16="http://schemas.microsoft.com/office/drawing/2014/main" id="{06AC9995-789D-24C6-1F79-E7DBD0F6112E}"/>
              </a:ext>
            </a:extLst>
          </p:cNvPr>
          <p:cNvSpPr>
            <a:spLocks noGrp="1"/>
          </p:cNvSpPr>
          <p:nvPr>
            <p:ph type="ftr" sz="quarter" idx="11"/>
          </p:nvPr>
        </p:nvSpPr>
        <p:spPr/>
        <p:txBody>
          <a:bodyPr/>
          <a:lstStyle>
            <a:lvl1pPr>
              <a:defRPr>
                <a:latin typeface="Microsoft YaHei" panose="020B0503020204020204" pitchFamily="34" charset="-122"/>
                <a:ea typeface="Microsoft YaHei" panose="020B0503020204020204" pitchFamily="34" charset="-122"/>
              </a:defRPr>
            </a:lvl1pPr>
          </a:lstStyle>
          <a:p>
            <a:endParaRPr kumimoji="1" lang="zh-CN" altLang="en-US">
              <a:latin typeface="Microsoft YaHei" panose="020B0503020204020204" pitchFamily="34" charset="-122"/>
              <a:ea typeface="Microsoft YaHei" panose="020B0503020204020204" pitchFamily="34" charset="-122"/>
            </a:endParaRPr>
          </a:p>
        </p:txBody>
      </p:sp>
      <p:sp>
        <p:nvSpPr>
          <p:cNvPr id="6" name="灯片编号占位符 5">
            <a:extLst>
              <a:ext uri="{FF2B5EF4-FFF2-40B4-BE49-F238E27FC236}">
                <a16:creationId xmlns:a16="http://schemas.microsoft.com/office/drawing/2014/main" id="{A197FBB4-05BC-5E82-1B72-E099AD90458C}"/>
              </a:ext>
            </a:extLst>
          </p:cNvPr>
          <p:cNvSpPr>
            <a:spLocks noGrp="1"/>
          </p:cNvSpPr>
          <p:nvPr>
            <p:ph type="sldNum" sz="quarter" idx="12"/>
          </p:nvPr>
        </p:nvSpPr>
        <p:spPr/>
        <p:txBody>
          <a:bodyPr/>
          <a:lstStyle>
            <a:lvl1pPr>
              <a:defRPr>
                <a:latin typeface="Microsoft YaHei" panose="020B0503020204020204" pitchFamily="34" charset="-122"/>
                <a:ea typeface="Microsoft YaHei" panose="020B0503020204020204" pitchFamily="34" charset="-122"/>
              </a:defRPr>
            </a:lvl1pPr>
          </a:lstStyle>
          <a:p>
            <a:fld id="{3778F2BC-1EC7-F94D-A4D2-A8FC59B0FB3F}" type="slidenum">
              <a:rPr kumimoji="1" lang="zh-CN" altLang="en-US" smtClean="0"/>
              <a:pPr/>
              <a:t>‹#›</a:t>
            </a:fld>
            <a:endParaRPr kumimoji="1" lang="zh-CN" altLang="en-US">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652761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FDE73B-AAF2-BF90-E1E2-934FDCAAA25B}"/>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424B4BFC-F751-02B3-96DE-F9916F410BF3}"/>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AB0C5704-FF85-B4FF-8FE8-4B3D91E6E153}"/>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5FA3FFED-7401-F123-5DE8-A520ADE3D6CF}"/>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6" name="页脚占位符 5">
            <a:extLst>
              <a:ext uri="{FF2B5EF4-FFF2-40B4-BE49-F238E27FC236}">
                <a16:creationId xmlns:a16="http://schemas.microsoft.com/office/drawing/2014/main" id="{A601A246-D994-533D-6596-A08B2FC8734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004DBFD3-21CC-D728-0963-01194D5E57A0}"/>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678258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37ACBB-658B-769C-D2B6-3432E4C53BA7}"/>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BD735D3-ECCA-FD5A-4DCB-340696F95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A9130110-82F5-1AB2-7D6F-0207D598EFED}"/>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98BB08AA-55D5-D25A-2986-93901B8FF5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43D5030-0FA2-3452-4D29-FD8AE3BD2BAD}"/>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53620055-A96F-BDB1-91FB-EA97E7032654}"/>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8" name="页脚占位符 7">
            <a:extLst>
              <a:ext uri="{FF2B5EF4-FFF2-40B4-BE49-F238E27FC236}">
                <a16:creationId xmlns:a16="http://schemas.microsoft.com/office/drawing/2014/main" id="{83A3D103-76E9-0AAA-6D49-8B0447633B10}"/>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AF945B53-5271-4C6E-B79E-ED2F80CEB3EB}"/>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2187204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FC85A9-C862-3151-F0EC-25AC7277F275}"/>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A05ADF0-102C-2225-4743-7034C3B8D8A0}"/>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4" name="页脚占位符 3">
            <a:extLst>
              <a:ext uri="{FF2B5EF4-FFF2-40B4-BE49-F238E27FC236}">
                <a16:creationId xmlns:a16="http://schemas.microsoft.com/office/drawing/2014/main" id="{A5D66B97-1F48-CB5B-A00D-8AAA84AE794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202ABA01-7D3E-BE9F-BD95-765285B2EDC7}"/>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16440766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146F0CC-342F-5160-F210-C377665E72A6}"/>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3" name="页脚占位符 2">
            <a:extLst>
              <a:ext uri="{FF2B5EF4-FFF2-40B4-BE49-F238E27FC236}">
                <a16:creationId xmlns:a16="http://schemas.microsoft.com/office/drawing/2014/main" id="{5E3B3D56-BFAC-3961-BE7C-E46202633B0D}"/>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1C8ABA5E-8A53-85FE-6AB5-62C5FD8ED3AD}"/>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3314867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94FC6A-013F-57C7-EAFC-B6E61DCB6D50}"/>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B667B505-E6CD-4550-6BEF-44177E2357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A6EC3DF6-CD30-5DAC-7A7E-8AF4B80D5A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5D9A47D8-3E78-B0B1-2A56-21D78711B6A8}"/>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6" name="页脚占位符 5">
            <a:extLst>
              <a:ext uri="{FF2B5EF4-FFF2-40B4-BE49-F238E27FC236}">
                <a16:creationId xmlns:a16="http://schemas.microsoft.com/office/drawing/2014/main" id="{352C7CF1-4DD2-FE97-3D76-05496593FFD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C907FBD-7E5F-9520-649F-E85D6775E88D}"/>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4114414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59B399-D97C-ACF6-0E70-30AC15DB5AB9}"/>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27F58D4B-6713-0DDF-FCB5-ACC59BFB74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5809C293-8DC4-56CD-DF51-AAC5128A78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47FC18AA-7ECA-FEE7-0BD8-206341E82F9D}"/>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6" name="页脚占位符 5">
            <a:extLst>
              <a:ext uri="{FF2B5EF4-FFF2-40B4-BE49-F238E27FC236}">
                <a16:creationId xmlns:a16="http://schemas.microsoft.com/office/drawing/2014/main" id="{75947A00-C166-C0C0-2A86-AAE85422F624}"/>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4D331985-3A51-6D32-B5E4-AC640CE51D5E}"/>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36925081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62E3B4-5B36-682F-3A20-A100A906E2F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71E3C6B8-04D6-49EB-A3DD-54F2F6E2AB41}"/>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E65A202-1463-A64F-1BB6-1BDC8ED1FDF0}"/>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5" name="页脚占位符 4">
            <a:extLst>
              <a:ext uri="{FF2B5EF4-FFF2-40B4-BE49-F238E27FC236}">
                <a16:creationId xmlns:a16="http://schemas.microsoft.com/office/drawing/2014/main" id="{BDE0F7EB-9C90-456E-60D7-1F1CA96316F9}"/>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0977478-EAE7-2365-9152-32F524A5CE71}"/>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14857003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F883060-1953-A1E0-AAED-D2389688040B}"/>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2EBDE36-CAC8-848A-6939-1F5E6354D1B3}"/>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F333B001-1862-279C-8CC8-22CC75384A79}"/>
              </a:ext>
            </a:extLst>
          </p:cNvPr>
          <p:cNvSpPr>
            <a:spLocks noGrp="1"/>
          </p:cNvSpPr>
          <p:nvPr>
            <p:ph type="dt" sz="half" idx="10"/>
          </p:nvPr>
        </p:nvSpPr>
        <p:spPr/>
        <p:txBody>
          <a:bodyPr/>
          <a:lstStyle/>
          <a:p>
            <a:fld id="{1BA3EE31-B730-E44A-97ED-D4B609506562}" type="datetimeFigureOut">
              <a:rPr kumimoji="1" lang="zh-CN" altLang="en-US" smtClean="0"/>
              <a:t>2026/4/15</a:t>
            </a:fld>
            <a:endParaRPr kumimoji="1" lang="zh-CN" altLang="en-US"/>
          </a:p>
        </p:txBody>
      </p:sp>
      <p:sp>
        <p:nvSpPr>
          <p:cNvPr id="5" name="页脚占位符 4">
            <a:extLst>
              <a:ext uri="{FF2B5EF4-FFF2-40B4-BE49-F238E27FC236}">
                <a16:creationId xmlns:a16="http://schemas.microsoft.com/office/drawing/2014/main" id="{11BCFD5D-317A-D8E7-7387-B7E288E25CA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7380F8E-9935-5FF6-4F5C-04A146017261}"/>
              </a:ext>
            </a:extLst>
          </p:cNvPr>
          <p:cNvSpPr>
            <a:spLocks noGrp="1"/>
          </p:cNvSpPr>
          <p:nvPr>
            <p:ph type="sldNum" sz="quarter" idx="12"/>
          </p:nvPr>
        </p:nvSpPr>
        <p:spPr/>
        <p:txBody>
          <a:body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723123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9986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E17C2D0-E96F-1BF4-1BAF-F8404F31AD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49379C8-9BFA-0DFD-04A3-16DD8B49EE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EF18BCC-0496-8F1B-1302-B3785918B92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A3EE31-B730-E44A-97ED-D4B609506562}" type="datetimeFigureOut">
              <a:rPr kumimoji="1" lang="zh-CN" altLang="en-US" smtClean="0"/>
              <a:t>2026/4/15</a:t>
            </a:fld>
            <a:endParaRPr kumimoji="1" lang="zh-CN" altLang="en-US"/>
          </a:p>
        </p:txBody>
      </p:sp>
      <p:sp>
        <p:nvSpPr>
          <p:cNvPr id="5" name="页脚占位符 4">
            <a:extLst>
              <a:ext uri="{FF2B5EF4-FFF2-40B4-BE49-F238E27FC236}">
                <a16:creationId xmlns:a16="http://schemas.microsoft.com/office/drawing/2014/main" id="{730037C3-EFB7-85E2-9E41-AB34EF3E03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D6CA8DC4-D2AF-B6CD-B94A-4F0B62F8C7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78F2BC-1EC7-F94D-A4D2-A8FC59B0FB3F}" type="slidenum">
              <a:rPr kumimoji="1" lang="zh-CN" altLang="en-US" smtClean="0"/>
              <a:t>‹#›</a:t>
            </a:fld>
            <a:endParaRPr kumimoji="1" lang="zh-CN" altLang="en-US"/>
          </a:p>
        </p:txBody>
      </p:sp>
    </p:spTree>
    <p:extLst>
      <p:ext uri="{BB962C8B-B14F-4D97-AF65-F5344CB8AC3E}">
        <p14:creationId xmlns:p14="http://schemas.microsoft.com/office/powerpoint/2010/main" val="2921319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CED47-2CE5-EE49-271A-62FD514CA072}"/>
              </a:ext>
            </a:extLst>
          </p:cNvPr>
          <p:cNvSpPr>
            <a:spLocks noGrp="1"/>
          </p:cNvSpPr>
          <p:nvPr>
            <p:ph type="ctrTitle"/>
          </p:nvPr>
        </p:nvSpPr>
        <p:spPr/>
        <p:txBody>
          <a:bodyPr/>
          <a:lstStyle/>
          <a:p>
            <a:r>
              <a:rPr kumimoji="1" lang="en-US" altLang="zh-CN" b="1" dirty="0">
                <a:latin typeface="Times New Roman" panose="02020603050405020304" pitchFamily="18" charset="0"/>
                <a:cs typeface="Times New Roman" panose="02020603050405020304" pitchFamily="18" charset="0"/>
              </a:rPr>
              <a:t>Work</a:t>
            </a:r>
            <a:r>
              <a:rPr kumimoji="1" lang="zh-CN" altLang="en-US" b="1">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Introduction</a:t>
            </a:r>
            <a:r>
              <a:rPr kumimoji="1" lang="zh-CN" altLang="en-US" b="1">
                <a:latin typeface="Times New Roman" panose="02020603050405020304" pitchFamily="18" charset="0"/>
                <a:cs typeface="Times New Roman" panose="02020603050405020304" pitchFamily="18" charset="0"/>
              </a:rPr>
              <a:t> </a:t>
            </a:r>
            <a:r>
              <a:rPr kumimoji="1" lang="en-US" altLang="zh-CN" b="1" dirty="0">
                <a:latin typeface="Times New Roman" panose="02020603050405020304" pitchFamily="18" charset="0"/>
                <a:cs typeface="Times New Roman" panose="02020603050405020304" pitchFamily="18" charset="0"/>
              </a:rPr>
              <a:t>Slides</a:t>
            </a:r>
            <a:endParaRPr kumimoji="1" lang="zh-CN" altLang="en-US" b="1">
              <a:latin typeface="Times New Roman" panose="02020603050405020304" pitchFamily="18" charset="0"/>
              <a:cs typeface="Times New Roman" panose="02020603050405020304" pitchFamily="18" charset="0"/>
            </a:endParaRPr>
          </a:p>
        </p:txBody>
      </p:sp>
      <p:sp>
        <p:nvSpPr>
          <p:cNvPr id="3" name="副标题 2">
            <a:extLst>
              <a:ext uri="{FF2B5EF4-FFF2-40B4-BE49-F238E27FC236}">
                <a16:creationId xmlns:a16="http://schemas.microsoft.com/office/drawing/2014/main" id="{C67749BC-7795-79FC-0D72-4BC701A3B9E9}"/>
              </a:ext>
            </a:extLst>
          </p:cNvPr>
          <p:cNvSpPr>
            <a:spLocks noGrp="1"/>
          </p:cNvSpPr>
          <p:nvPr>
            <p:ph type="subTitle" idx="1"/>
          </p:nvPr>
        </p:nvSpPr>
        <p:spPr/>
        <p:txBody>
          <a:bodyPr>
            <a:normAutofit/>
          </a:bodyPr>
          <a:lstStyle/>
          <a:p>
            <a:r>
              <a:rPr kumimoji="1" lang="en-US" altLang="zh-CN" sz="1600" i="1" dirty="0" err="1">
                <a:latin typeface="Times New Roman" panose="02020603050405020304" pitchFamily="18" charset="0"/>
                <a:cs typeface="Times New Roman" panose="02020603050405020304" pitchFamily="18" charset="0"/>
              </a:rPr>
              <a:t>Zerui</a:t>
            </a:r>
            <a:r>
              <a:rPr kumimoji="1" lang="zh-CN" altLang="en-US" sz="1600" i="1">
                <a:latin typeface="Times New Roman" panose="02020603050405020304" pitchFamily="18" charset="0"/>
                <a:cs typeface="Times New Roman" panose="02020603050405020304" pitchFamily="18" charset="0"/>
              </a:rPr>
              <a:t> </a:t>
            </a:r>
            <a:r>
              <a:rPr kumimoji="1" lang="en-US" altLang="zh-CN" sz="1600" i="1">
                <a:latin typeface="Times New Roman" panose="02020603050405020304" pitchFamily="18" charset="0"/>
                <a:cs typeface="Times New Roman" panose="02020603050405020304" pitchFamily="18" charset="0"/>
              </a:rPr>
              <a:t>Wang</a:t>
            </a:r>
            <a:r>
              <a:rPr kumimoji="1" lang="zh-CN" altLang="en-US" sz="1600" i="1">
                <a:latin typeface="Times New Roman" panose="02020603050405020304" pitchFamily="18" charset="0"/>
                <a:cs typeface="Times New Roman" panose="02020603050405020304" pitchFamily="18" charset="0"/>
              </a:rPr>
              <a:t> </a:t>
            </a:r>
            <a:r>
              <a:rPr kumimoji="1" lang="en-US" altLang="zh-CN" sz="1600" i="1">
                <a:latin typeface="Times New Roman" panose="02020603050405020304" pitchFamily="18" charset="0"/>
                <a:cs typeface="Times New Roman" panose="02020603050405020304" pitchFamily="18" charset="0"/>
              </a:rPr>
              <a:t>@</a:t>
            </a:r>
            <a:r>
              <a:rPr kumimoji="1" lang="zh-CN" altLang="en-US" sz="1600" i="1">
                <a:latin typeface="Times New Roman" panose="02020603050405020304" pitchFamily="18" charset="0"/>
                <a:cs typeface="Times New Roman" panose="02020603050405020304" pitchFamily="18" charset="0"/>
              </a:rPr>
              <a:t> </a:t>
            </a:r>
            <a:r>
              <a:rPr kumimoji="1" lang="en-US" altLang="zh-CN" sz="1600" i="1">
                <a:latin typeface="Times New Roman" panose="02020603050405020304" pitchFamily="18" charset="0"/>
                <a:cs typeface="Times New Roman" panose="02020603050405020304" pitchFamily="18" charset="0"/>
              </a:rPr>
              <a:t>Shanghai</a:t>
            </a:r>
            <a:r>
              <a:rPr kumimoji="1" lang="zh-CN" altLang="en-US" sz="1600" i="1">
                <a:latin typeface="Times New Roman" panose="02020603050405020304" pitchFamily="18" charset="0"/>
                <a:cs typeface="Times New Roman" panose="02020603050405020304" pitchFamily="18" charset="0"/>
              </a:rPr>
              <a:t> </a:t>
            </a:r>
            <a:r>
              <a:rPr kumimoji="1" lang="en-US" altLang="zh-CN" sz="1600" i="1">
                <a:latin typeface="Times New Roman" panose="02020603050405020304" pitchFamily="18" charset="0"/>
                <a:cs typeface="Times New Roman" panose="02020603050405020304" pitchFamily="18" charset="0"/>
              </a:rPr>
              <a:t>Jiao</a:t>
            </a:r>
            <a:r>
              <a:rPr kumimoji="1" lang="zh-CN" altLang="en-US" sz="1600" i="1">
                <a:latin typeface="Times New Roman" panose="02020603050405020304" pitchFamily="18" charset="0"/>
                <a:cs typeface="Times New Roman" panose="02020603050405020304" pitchFamily="18" charset="0"/>
              </a:rPr>
              <a:t> </a:t>
            </a:r>
            <a:r>
              <a:rPr kumimoji="1" lang="en-US" altLang="zh-CN" sz="1600" i="1">
                <a:latin typeface="Times New Roman" panose="02020603050405020304" pitchFamily="18" charset="0"/>
                <a:cs typeface="Times New Roman" panose="02020603050405020304" pitchFamily="18" charset="0"/>
              </a:rPr>
              <a:t>Tong</a:t>
            </a:r>
            <a:r>
              <a:rPr kumimoji="1" lang="zh-CN" altLang="en-US" sz="1600" i="1">
                <a:latin typeface="Times New Roman" panose="02020603050405020304" pitchFamily="18" charset="0"/>
                <a:cs typeface="Times New Roman" panose="02020603050405020304" pitchFamily="18" charset="0"/>
              </a:rPr>
              <a:t> </a:t>
            </a:r>
            <a:r>
              <a:rPr kumimoji="1" lang="en-US" altLang="zh-CN" sz="1600" i="1">
                <a:latin typeface="Times New Roman" panose="02020603050405020304" pitchFamily="18" charset="0"/>
                <a:cs typeface="Times New Roman" panose="02020603050405020304" pitchFamily="18" charset="0"/>
              </a:rPr>
              <a:t>University</a:t>
            </a:r>
            <a:endParaRPr kumimoji="1" lang="zh-CN" altLang="en-US" sz="1600" i="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2245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58EA4-1E62-9C67-583F-4B20C53CC8EE}"/>
              </a:ext>
            </a:extLst>
          </p:cNvPr>
          <p:cNvSpPr>
            <a:spLocks noGrp="1"/>
          </p:cNvSpPr>
          <p:nvPr>
            <p:ph type="title"/>
          </p:nvPr>
        </p:nvSpPr>
        <p:spPr>
          <a:xfrm>
            <a:off x="831850" y="842168"/>
            <a:ext cx="10330136" cy="2852737"/>
          </a:xfrm>
        </p:spPr>
        <p:txBody>
          <a:bodyPr>
            <a:normAutofit/>
          </a:bodyPr>
          <a:lstStyle/>
          <a:p>
            <a:r>
              <a:rPr kumimoji="1" lang="en-US" altLang="zh-CN" sz="3200" err="1"/>
              <a:t>SchedMate</a:t>
            </a:r>
            <a:r>
              <a:rPr kumimoji="1" lang="en" altLang="zh-CN" sz="3200"/>
              <a:t>: Semantic-Aware Scheduling for GPU Clusters with LLMs</a:t>
            </a:r>
            <a:endParaRPr kumimoji="1" lang="zh-CN" altLang="en-US" sz="3200"/>
          </a:p>
        </p:txBody>
      </p:sp>
      <p:sp>
        <p:nvSpPr>
          <p:cNvPr id="5" name="文本占位符 4">
            <a:extLst>
              <a:ext uri="{FF2B5EF4-FFF2-40B4-BE49-F238E27FC236}">
                <a16:creationId xmlns:a16="http://schemas.microsoft.com/office/drawing/2014/main" id="{C0611F5B-38C8-4C88-3BAB-7562B412BC6C}"/>
              </a:ext>
            </a:extLst>
          </p:cNvPr>
          <p:cNvSpPr>
            <a:spLocks noGrp="1"/>
          </p:cNvSpPr>
          <p:nvPr>
            <p:ph type="body" idx="1"/>
          </p:nvPr>
        </p:nvSpPr>
        <p:spPr>
          <a:xfrm>
            <a:off x="844550" y="3694905"/>
            <a:ext cx="10515600" cy="1500187"/>
          </a:xfrm>
        </p:spPr>
        <p:txBody>
          <a:bodyPr/>
          <a:lstStyle/>
          <a:p>
            <a:endParaRPr lang="zh-CN" altLang="en-US"/>
          </a:p>
        </p:txBody>
      </p:sp>
    </p:spTree>
    <p:extLst>
      <p:ext uri="{BB962C8B-B14F-4D97-AF65-F5344CB8AC3E}">
        <p14:creationId xmlns:p14="http://schemas.microsoft.com/office/powerpoint/2010/main" val="2343501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AC790B-AB5F-CAC3-E254-40AFEBB89F0A}"/>
              </a:ext>
            </a:extLst>
          </p:cNvPr>
          <p:cNvSpPr>
            <a:spLocks noGrp="1"/>
          </p:cNvSpPr>
          <p:nvPr>
            <p:ph type="title"/>
          </p:nvPr>
        </p:nvSpPr>
        <p:spPr>
          <a:xfrm>
            <a:off x="221974" y="273160"/>
            <a:ext cx="10515600" cy="887205"/>
          </a:xfrm>
        </p:spPr>
        <p:txBody>
          <a:bodyPr/>
          <a:lstStyle/>
          <a:p>
            <a:r>
              <a:rPr kumimoji="1" lang="en-US" altLang="zh-CN" b="1"/>
              <a:t>Motivation: The Semantic Gap</a:t>
            </a:r>
            <a:endParaRPr kumimoji="1" lang="zh-CN" altLang="en-US"/>
          </a:p>
        </p:txBody>
      </p:sp>
      <p:sp>
        <p:nvSpPr>
          <p:cNvPr id="7" name="内容占位符 6">
            <a:extLst>
              <a:ext uri="{FF2B5EF4-FFF2-40B4-BE49-F238E27FC236}">
                <a16:creationId xmlns:a16="http://schemas.microsoft.com/office/drawing/2014/main" id="{25D5CFE0-4D7B-23A2-2427-B7F8D93E6AEA}"/>
              </a:ext>
            </a:extLst>
          </p:cNvPr>
          <p:cNvSpPr>
            <a:spLocks noGrp="1"/>
          </p:cNvSpPr>
          <p:nvPr>
            <p:ph idx="1"/>
          </p:nvPr>
        </p:nvSpPr>
        <p:spPr>
          <a:xfrm>
            <a:off x="221974" y="1460500"/>
            <a:ext cx="5611267" cy="4685776"/>
          </a:xfrm>
        </p:spPr>
        <p:txBody>
          <a:bodyPr>
            <a:noAutofit/>
          </a:bodyPr>
          <a:lstStyle/>
          <a:p>
            <a:pPr marL="0" indent="0" algn="l">
              <a:lnSpc>
                <a:spcPct val="120000"/>
              </a:lnSpc>
              <a:buNone/>
            </a:pPr>
            <a:r>
              <a:rPr lang="zh-CN" altLang="en-US" sz="1400"/>
              <a:t>现有 DL 集群调度器的核心问题：</a:t>
            </a:r>
            <a:endParaRPr lang="en-US" altLang="zh-CN" sz="1400"/>
          </a:p>
          <a:p>
            <a:pPr marL="0" indent="0" algn="l">
              <a:lnSpc>
                <a:spcPct val="120000"/>
              </a:lnSpc>
              <a:buNone/>
            </a:pPr>
            <a:r>
              <a:rPr lang="en-US" altLang="zh-CN" sz="1400" b="1"/>
              <a:t>1. </a:t>
            </a:r>
            <a:r>
              <a:rPr lang="zh-CN" altLang="en-US" sz="1400" b="1"/>
              <a:t>高性能分析开销 (High Profiling Overhead)</a:t>
            </a:r>
          </a:p>
          <a:p>
            <a:pPr algn="l">
              <a:lnSpc>
                <a:spcPct val="120000"/>
              </a:lnSpc>
            </a:pPr>
            <a:r>
              <a:rPr lang="zh-CN" altLang="en-US" sz="1400"/>
              <a:t>调度器需要耗费大量时间来 profiling，短任务可能</a:t>
            </a:r>
            <a:r>
              <a:rPr lang="en-US" altLang="zh-CN" sz="1400"/>
              <a:t>profiling</a:t>
            </a:r>
            <a:r>
              <a:rPr lang="zh-CN" altLang="en-US" sz="1400"/>
              <a:t>时间会超过任务本身</a:t>
            </a:r>
            <a:endParaRPr lang="en-US" altLang="zh-CN" sz="1400"/>
          </a:p>
          <a:p>
            <a:pPr marL="0" indent="0" algn="l">
              <a:lnSpc>
                <a:spcPct val="120000"/>
              </a:lnSpc>
              <a:buNone/>
            </a:pPr>
            <a:r>
              <a:rPr lang="en-US" altLang="zh-CN" sz="1400" b="1"/>
              <a:t>2. </a:t>
            </a:r>
            <a:r>
              <a:rPr lang="zh-CN" altLang="en-US" sz="1400" b="1"/>
              <a:t>不可靠的时长估计 (Unreliable Duration Estimation)</a:t>
            </a:r>
          </a:p>
          <a:p>
            <a:pPr algn="l">
              <a:lnSpc>
                <a:spcPct val="120000"/>
              </a:lnSpc>
            </a:pPr>
            <a:r>
              <a:rPr lang="zh-CN" altLang="en-US" sz="1400"/>
              <a:t>仅依赖有限的 metadata，无法准确预测作业运行时间</a:t>
            </a:r>
            <a:endParaRPr lang="en-US" altLang="zh-CN" sz="1400"/>
          </a:p>
          <a:p>
            <a:pPr marL="0" indent="0" algn="l">
              <a:lnSpc>
                <a:spcPct val="120000"/>
              </a:lnSpc>
              <a:buNone/>
            </a:pPr>
            <a:r>
              <a:rPr lang="en-US" altLang="zh-CN" sz="1400" b="1"/>
              <a:t>3. Failure</a:t>
            </a:r>
            <a:r>
              <a:rPr lang="zh-CN" altLang="en-US" sz="1400" b="1"/>
              <a:t> </a:t>
            </a:r>
            <a:r>
              <a:rPr lang="en-US" altLang="zh-CN" sz="1400" b="1"/>
              <a:t>Handling</a:t>
            </a:r>
            <a:r>
              <a:rPr lang="zh-CN" altLang="en-US" sz="1400" b="1"/>
              <a:t> 缺失</a:t>
            </a:r>
          </a:p>
          <a:p>
            <a:pPr algn="l">
              <a:lnSpc>
                <a:spcPct val="120000"/>
              </a:lnSpc>
            </a:pPr>
            <a:r>
              <a:rPr lang="zh-CN" altLang="en-US" sz="1400"/>
              <a:t>无法理解运行日志中的错误语义，难以智能处理故障</a:t>
            </a:r>
            <a:endParaRPr lang="en-US" altLang="zh-CN" sz="1400"/>
          </a:p>
          <a:p>
            <a:pPr marL="0" indent="0" algn="l">
              <a:lnSpc>
                <a:spcPct val="120000"/>
              </a:lnSpc>
              <a:buNone/>
            </a:pPr>
            <a:r>
              <a:rPr lang="en-US" altLang="zh-CN" sz="1400" b="1"/>
              <a:t>4. </a:t>
            </a:r>
            <a:r>
              <a:rPr lang="zh-CN" altLang="en-US" sz="1400" b="1"/>
              <a:t>可观测性差 (Poor Observability)</a:t>
            </a:r>
          </a:p>
          <a:p>
            <a:pPr marL="0" indent="0" algn="l">
              <a:lnSpc>
                <a:spcPct val="120000"/>
              </a:lnSpc>
              <a:buNone/>
            </a:pPr>
            <a:r>
              <a:rPr lang="zh-CN" altLang="en-US" sz="1400"/>
              <a:t>缺乏对作业语义的深层理解，运维人员难以获得有意义的洞察</a:t>
            </a:r>
            <a:endParaRPr lang="en-US" altLang="zh-CN" sz="1400"/>
          </a:p>
        </p:txBody>
      </p:sp>
      <p:pic>
        <p:nvPicPr>
          <p:cNvPr id="3" name="图片 2">
            <a:extLst>
              <a:ext uri="{FF2B5EF4-FFF2-40B4-BE49-F238E27FC236}">
                <a16:creationId xmlns:a16="http://schemas.microsoft.com/office/drawing/2014/main" id="{B90F2459-797D-CF3A-CD46-0DCFF883568A}"/>
              </a:ext>
            </a:extLst>
          </p:cNvPr>
          <p:cNvPicPr>
            <a:picLocks noChangeAspect="1"/>
          </p:cNvPicPr>
          <p:nvPr/>
        </p:nvPicPr>
        <p:blipFill>
          <a:blip r:embed="rId3"/>
          <a:stretch>
            <a:fillRect/>
          </a:stretch>
        </p:blipFill>
        <p:spPr>
          <a:xfrm>
            <a:off x="5833241" y="1336890"/>
            <a:ext cx="6358759" cy="4184220"/>
          </a:xfrm>
          <a:prstGeom prst="rect">
            <a:avLst/>
          </a:prstGeom>
        </p:spPr>
      </p:pic>
    </p:spTree>
    <p:extLst>
      <p:ext uri="{BB962C8B-B14F-4D97-AF65-F5344CB8AC3E}">
        <p14:creationId xmlns:p14="http://schemas.microsoft.com/office/powerpoint/2010/main" val="14903553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AC790B-AB5F-CAC3-E254-40AFEBB89F0A}"/>
              </a:ext>
            </a:extLst>
          </p:cNvPr>
          <p:cNvSpPr>
            <a:spLocks noGrp="1"/>
          </p:cNvSpPr>
          <p:nvPr>
            <p:ph type="title"/>
          </p:nvPr>
        </p:nvSpPr>
        <p:spPr>
          <a:xfrm>
            <a:off x="221974" y="273160"/>
            <a:ext cx="10515600" cy="887205"/>
          </a:xfrm>
        </p:spPr>
        <p:txBody>
          <a:bodyPr/>
          <a:lstStyle/>
          <a:p>
            <a:r>
              <a:rPr kumimoji="1" lang="en-US" altLang="zh-CN" b="1"/>
              <a:t>SchedMate: Semantic-Aware Scheduling</a:t>
            </a:r>
            <a:endParaRPr kumimoji="1" lang="zh-CN" altLang="en-US"/>
          </a:p>
        </p:txBody>
      </p:sp>
      <p:sp>
        <p:nvSpPr>
          <p:cNvPr id="7" name="内容占位符 6">
            <a:extLst>
              <a:ext uri="{FF2B5EF4-FFF2-40B4-BE49-F238E27FC236}">
                <a16:creationId xmlns:a16="http://schemas.microsoft.com/office/drawing/2014/main" id="{25D5CFE0-4D7B-23A2-2427-B7F8D93E6AEA}"/>
              </a:ext>
            </a:extLst>
          </p:cNvPr>
          <p:cNvSpPr>
            <a:spLocks noGrp="1"/>
          </p:cNvSpPr>
          <p:nvPr>
            <p:ph idx="1"/>
          </p:nvPr>
        </p:nvSpPr>
        <p:spPr/>
        <p:txBody>
          <a:bodyPr/>
          <a:lstStyle/>
          <a:p>
            <a:pPr marL="0" indent="0" algn="l">
              <a:buNone/>
            </a:pPr>
            <a:r>
              <a:rPr lang="en-US" altLang="zh-CN" sz="1600" b="1"/>
              <a:t>Core Idea</a:t>
            </a:r>
          </a:p>
          <a:p>
            <a:pPr algn="l"/>
            <a:r>
              <a:rPr lang="zh-CN" altLang="en-US" sz="1400"/>
              <a:t>DL 调度器无法理解 </a:t>
            </a:r>
            <a:r>
              <a:rPr lang="en-US" altLang="zh-CN" sz="1400"/>
              <a:t>Job</a:t>
            </a:r>
            <a:r>
              <a:rPr lang="zh-CN" altLang="en-US" sz="1400"/>
              <a:t> 的语义信息，导致资源分配效率低下。</a:t>
            </a:r>
          </a:p>
          <a:p>
            <a:pPr algn="l"/>
            <a:r>
              <a:rPr lang="en-US" altLang="zh-CN" sz="1400"/>
              <a:t>SchedMate </a:t>
            </a:r>
            <a:r>
              <a:rPr lang="zh-CN" altLang="en-US" sz="1400"/>
              <a:t>利用 LLM 从源代码、运行日志和历史作业中提取深层语义，弥合 </a:t>
            </a:r>
            <a:r>
              <a:rPr lang="en-US" altLang="zh-CN" sz="1400"/>
              <a:t>Scheduler</a:t>
            </a:r>
            <a:r>
              <a:rPr lang="zh-CN" altLang="en-US" sz="1400"/>
              <a:t> 和 </a:t>
            </a:r>
            <a:r>
              <a:rPr lang="en-US" altLang="zh-CN" sz="1400"/>
              <a:t>Job</a:t>
            </a:r>
            <a:r>
              <a:rPr lang="zh-CN" altLang="en-US" sz="1400"/>
              <a:t> 之间的 Semantic Gap</a:t>
            </a:r>
          </a:p>
          <a:p>
            <a:pPr algn="l"/>
            <a:endParaRPr lang="en-US" altLang="zh-CN" sz="1000"/>
          </a:p>
          <a:p>
            <a:pPr algn="l"/>
            <a:r>
              <a:rPr lang="en-US" altLang="zh-CN" sz="1600" b="1"/>
              <a:t>Three LLM-based Components:</a:t>
            </a:r>
          </a:p>
          <a:p>
            <a:pPr algn="l"/>
            <a:r>
              <a:rPr lang="zh-CN" altLang="en-US" sz="1400">
                <a:latin typeface="Microsoft YaHei"/>
                <a:ea typeface="Microsoft YaHei"/>
              </a:rPr>
              <a:t>1) Schedule Advisor: 从源代码提取模型架构与训练配置语义</a:t>
            </a:r>
          </a:p>
          <a:p>
            <a:pPr algn="l"/>
            <a:r>
              <a:rPr lang="zh-CN" altLang="en-US" sz="1400">
                <a:latin typeface="Microsoft YaHei"/>
                <a:ea typeface="Microsoft YaHei"/>
              </a:rPr>
              <a:t>2) Metric Tracker: 实时追踪训练指标，预测作业进度与剩余时间</a:t>
            </a:r>
          </a:p>
          <a:p>
            <a:pPr algn="l"/>
            <a:r>
              <a:rPr lang="zh-CN" altLang="en-US" sz="1400">
                <a:latin typeface="Microsoft YaHei"/>
                <a:ea typeface="Microsoft YaHei"/>
              </a:rPr>
              <a:t>3) Failure Handler: 理解日志错误语义，智能诊断故障根因</a:t>
            </a:r>
          </a:p>
          <a:p>
            <a:pPr algn="l"/>
            <a:endParaRPr lang="en-US" altLang="zh-CN" sz="1000"/>
          </a:p>
          <a:p>
            <a:pPr algn="l"/>
            <a:r>
              <a:rPr lang="en-US" altLang="zh-CN" sz="1600" b="1">
                <a:latin typeface="Microsoft YaHei"/>
                <a:ea typeface="Microsoft YaHei"/>
              </a:rPr>
              <a:t>Key Result: </a:t>
            </a:r>
            <a:r>
              <a:rPr lang="zh-CN" altLang="en-US" sz="1400">
                <a:latin typeface="Microsoft YaHei"/>
                <a:ea typeface="Microsoft YaHei"/>
              </a:rPr>
              <a:t>在 128-GPU 集群上，平均作业完成时间（JCT）降低达 1.91x</a:t>
            </a:r>
          </a:p>
        </p:txBody>
      </p:sp>
    </p:spTree>
    <p:extLst>
      <p:ext uri="{BB962C8B-B14F-4D97-AF65-F5344CB8AC3E}">
        <p14:creationId xmlns:p14="http://schemas.microsoft.com/office/powerpoint/2010/main" val="14903553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AC790B-AB5F-CAC3-E254-40AFEBB89F0A}"/>
              </a:ext>
            </a:extLst>
          </p:cNvPr>
          <p:cNvSpPr>
            <a:spLocks noGrp="1"/>
          </p:cNvSpPr>
          <p:nvPr>
            <p:ph type="title"/>
          </p:nvPr>
        </p:nvSpPr>
        <p:spPr>
          <a:xfrm>
            <a:off x="221974" y="273160"/>
            <a:ext cx="10515600" cy="887205"/>
          </a:xfrm>
        </p:spPr>
        <p:txBody>
          <a:bodyPr/>
          <a:lstStyle/>
          <a:p>
            <a:r>
              <a:rPr kumimoji="1" lang="en-US" altLang="zh-CN" b="1"/>
              <a:t>SchedMate Framework</a:t>
            </a:r>
            <a:endParaRPr kumimoji="1" lang="zh-CN" altLang="en-US"/>
          </a:p>
        </p:txBody>
      </p:sp>
      <p:sp>
        <p:nvSpPr>
          <p:cNvPr id="7" name="内容占位符 6">
            <a:extLst>
              <a:ext uri="{FF2B5EF4-FFF2-40B4-BE49-F238E27FC236}">
                <a16:creationId xmlns:a16="http://schemas.microsoft.com/office/drawing/2014/main" id="{25D5CFE0-4D7B-23A2-2427-B7F8D93E6AEA}"/>
              </a:ext>
            </a:extLst>
          </p:cNvPr>
          <p:cNvSpPr>
            <a:spLocks noGrp="1"/>
          </p:cNvSpPr>
          <p:nvPr>
            <p:ph idx="1"/>
          </p:nvPr>
        </p:nvSpPr>
        <p:spPr>
          <a:xfrm>
            <a:off x="221974" y="1460500"/>
            <a:ext cx="4755139" cy="4351338"/>
          </a:xfrm>
        </p:spPr>
        <p:txBody>
          <a:bodyPr>
            <a:noAutofit/>
          </a:bodyPr>
          <a:lstStyle/>
          <a:p>
            <a:pPr marL="0" indent="0" algn="l">
              <a:lnSpc>
                <a:spcPct val="110000"/>
              </a:lnSpc>
              <a:buNone/>
            </a:pPr>
            <a:r>
              <a:rPr lang="zh-CN" altLang="en-US" sz="1400"/>
              <a:t>SchedMate 通过三个基于 LLM 的组件，非侵入式地增强现有调度器：</a:t>
            </a:r>
            <a:endParaRPr lang="en-US" altLang="zh-CN" sz="1400"/>
          </a:p>
          <a:p>
            <a:pPr marL="0" indent="0" algn="l">
              <a:lnSpc>
                <a:spcPct val="110000"/>
              </a:lnSpc>
              <a:buNone/>
            </a:pPr>
            <a:r>
              <a:rPr lang="en-US" altLang="zh-CN" sz="1400" b="1"/>
              <a:t>1. Schedule</a:t>
            </a:r>
            <a:r>
              <a:rPr lang="zh-CN" altLang="en-US" sz="1400" b="1"/>
              <a:t> </a:t>
            </a:r>
            <a:r>
              <a:rPr lang="en-US" altLang="zh-CN" sz="1400" b="1"/>
              <a:t>Advisor</a:t>
            </a:r>
          </a:p>
          <a:p>
            <a:pPr algn="l">
              <a:lnSpc>
                <a:spcPct val="110000"/>
              </a:lnSpc>
            </a:pPr>
            <a:r>
              <a:rPr lang="zh-CN" altLang="en-US" sz="1400"/>
              <a:t>分析作业源代码，提取模型架构、训练配置等语义信息，降低 profiling 开销</a:t>
            </a:r>
            <a:endParaRPr lang="en-US" altLang="zh-CN" sz="1400"/>
          </a:p>
          <a:p>
            <a:pPr marL="0" indent="0" algn="l">
              <a:lnSpc>
                <a:spcPct val="110000"/>
              </a:lnSpc>
              <a:buNone/>
            </a:pPr>
            <a:r>
              <a:rPr lang="en-US" altLang="zh-CN" sz="1400" b="1"/>
              <a:t>2. Metric</a:t>
            </a:r>
            <a:r>
              <a:rPr lang="zh-CN" altLang="en-US" sz="1400" b="1"/>
              <a:t> </a:t>
            </a:r>
            <a:r>
              <a:rPr lang="en-US" altLang="zh-CN" sz="1400" b="1"/>
              <a:t>Tracker</a:t>
            </a:r>
          </a:p>
          <a:p>
            <a:pPr>
              <a:lnSpc>
                <a:spcPct val="110000"/>
              </a:lnSpc>
            </a:pPr>
            <a:r>
              <a:rPr lang="zh-CN" altLang="en-US" sz="1400"/>
              <a:t>以非侵入的方式从日志中提取调度器需要的</a:t>
            </a:r>
            <a:r>
              <a:rPr lang="en-US" altLang="zh-CN" sz="1400"/>
              <a:t>metric</a:t>
            </a:r>
            <a:r>
              <a:rPr lang="zh-CN" altLang="en-US" sz="1400"/>
              <a:t>信息</a:t>
            </a:r>
            <a:endParaRPr lang="en-US" altLang="zh-CN" sz="1400"/>
          </a:p>
          <a:p>
            <a:pPr marL="0" indent="0" algn="l">
              <a:lnSpc>
                <a:spcPct val="110000"/>
              </a:lnSpc>
              <a:buNone/>
            </a:pPr>
            <a:r>
              <a:rPr lang="en-US" altLang="zh-CN" sz="1400" b="1"/>
              <a:t>3. Failure</a:t>
            </a:r>
            <a:r>
              <a:rPr lang="zh-CN" altLang="en-US" sz="1400" b="1"/>
              <a:t> </a:t>
            </a:r>
            <a:r>
              <a:rPr lang="en-US" altLang="zh-CN" sz="1400" b="1"/>
              <a:t>Handler</a:t>
            </a:r>
          </a:p>
          <a:p>
            <a:pPr>
              <a:lnSpc>
                <a:spcPct val="110000"/>
              </a:lnSpc>
            </a:pPr>
            <a:r>
              <a:rPr lang="zh-CN" altLang="en-US" sz="1400"/>
              <a:t>理解运行日志中的错误语义，智能识别故障根因并提供处理建议</a:t>
            </a:r>
            <a:endParaRPr lang="en-US" altLang="zh-CN" sz="1400"/>
          </a:p>
          <a:p>
            <a:pPr marL="0" indent="0" algn="l">
              <a:lnSpc>
                <a:spcPct val="110000"/>
              </a:lnSpc>
              <a:buNone/>
            </a:pPr>
            <a:r>
              <a:rPr lang="en-US" altLang="zh-CN" sz="1400" b="1">
                <a:solidFill>
                  <a:srgbClr val="C00000"/>
                </a:solidFill>
              </a:rPr>
              <a:t>Design Principle: </a:t>
            </a:r>
            <a:r>
              <a:rPr lang="zh-CN" altLang="en-US" sz="1400">
                <a:latin typeface="Microsoft YaHei"/>
                <a:ea typeface="Microsoft YaHei"/>
              </a:rPr>
              <a:t>非侵入式设计，作为模块化库实现在 Ray 之上，可无缝接入现有调度器而无需修改任务代码，无需对任务有任何侵入</a:t>
            </a:r>
          </a:p>
        </p:txBody>
      </p:sp>
      <p:pic>
        <p:nvPicPr>
          <p:cNvPr id="3" name="图片 2">
            <a:extLst>
              <a:ext uri="{FF2B5EF4-FFF2-40B4-BE49-F238E27FC236}">
                <a16:creationId xmlns:a16="http://schemas.microsoft.com/office/drawing/2014/main" id="{803D95AE-6B64-DE87-5916-49571BC0610F}"/>
              </a:ext>
            </a:extLst>
          </p:cNvPr>
          <p:cNvPicPr>
            <a:picLocks noChangeAspect="1"/>
          </p:cNvPicPr>
          <p:nvPr/>
        </p:nvPicPr>
        <p:blipFill>
          <a:blip r:embed="rId3"/>
          <a:stretch>
            <a:fillRect/>
          </a:stretch>
        </p:blipFill>
        <p:spPr>
          <a:xfrm>
            <a:off x="4848059" y="1329750"/>
            <a:ext cx="7121968" cy="4198500"/>
          </a:xfrm>
          <a:prstGeom prst="rect">
            <a:avLst/>
          </a:prstGeom>
        </p:spPr>
      </p:pic>
    </p:spTree>
    <p:extLst>
      <p:ext uri="{BB962C8B-B14F-4D97-AF65-F5344CB8AC3E}">
        <p14:creationId xmlns:p14="http://schemas.microsoft.com/office/powerpoint/2010/main" val="1490355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AC790B-AB5F-CAC3-E254-40AFEBB89F0A}"/>
              </a:ext>
            </a:extLst>
          </p:cNvPr>
          <p:cNvSpPr>
            <a:spLocks noGrp="1"/>
          </p:cNvSpPr>
          <p:nvPr>
            <p:ph type="title"/>
          </p:nvPr>
        </p:nvSpPr>
        <p:spPr>
          <a:xfrm>
            <a:off x="221974" y="273160"/>
            <a:ext cx="10515600" cy="887205"/>
          </a:xfrm>
        </p:spPr>
        <p:txBody>
          <a:bodyPr/>
          <a:lstStyle/>
          <a:p>
            <a:r>
              <a:rPr kumimoji="1" lang="en-US" altLang="zh-CN" b="1"/>
              <a:t>Contributions &amp; Results</a:t>
            </a:r>
            <a:endParaRPr kumimoji="1" lang="zh-CN" altLang="en-US"/>
          </a:p>
        </p:txBody>
      </p:sp>
      <p:sp>
        <p:nvSpPr>
          <p:cNvPr id="7" name="内容占位符 6">
            <a:extLst>
              <a:ext uri="{FF2B5EF4-FFF2-40B4-BE49-F238E27FC236}">
                <a16:creationId xmlns:a16="http://schemas.microsoft.com/office/drawing/2014/main" id="{25D5CFE0-4D7B-23A2-2427-B7F8D93E6AEA}"/>
              </a:ext>
            </a:extLst>
          </p:cNvPr>
          <p:cNvSpPr>
            <a:spLocks noGrp="1"/>
          </p:cNvSpPr>
          <p:nvPr>
            <p:ph idx="1"/>
          </p:nvPr>
        </p:nvSpPr>
        <p:spPr>
          <a:xfrm>
            <a:off x="221974" y="1289456"/>
            <a:ext cx="10515600" cy="5697635"/>
          </a:xfrm>
        </p:spPr>
        <p:txBody>
          <a:bodyPr>
            <a:noAutofit/>
          </a:bodyPr>
          <a:lstStyle/>
          <a:p>
            <a:pPr marL="0" indent="0" algn="l">
              <a:buNone/>
            </a:pPr>
            <a:r>
              <a:rPr lang="en-US" altLang="zh-CN" sz="1600" b="1"/>
              <a:t>Contributions</a:t>
            </a:r>
          </a:p>
          <a:p>
            <a:pPr marL="0" indent="0" algn="l">
              <a:buNone/>
            </a:pPr>
            <a:r>
              <a:rPr lang="zh-CN" altLang="en-US" sz="1400"/>
              <a:t>• 提出语义感知的 DL 集群调度新范式</a:t>
            </a:r>
          </a:p>
          <a:p>
            <a:pPr marL="0" indent="0" algn="l">
              <a:buNone/>
            </a:pPr>
            <a:r>
              <a:rPr lang="zh-CN" altLang="en-US" sz="1400"/>
              <a:t>• 设计三个 LLM 组件，从源代码/日志/历史数据中挖掘语义</a:t>
            </a:r>
          </a:p>
          <a:p>
            <a:pPr marL="0" indent="0" algn="l">
              <a:buNone/>
            </a:pPr>
            <a:r>
              <a:rPr lang="zh-CN" altLang="en-US" sz="1400"/>
              <a:t>• 非侵入式集成，可无缝接入现有调度系统</a:t>
            </a:r>
          </a:p>
          <a:p>
            <a:pPr marL="0" indent="0" algn="l">
              <a:buNone/>
            </a:pPr>
            <a:endParaRPr lang="en-US" altLang="zh-CN" sz="1400">
              <a:latin typeface="Microsoft YaHei"/>
              <a:ea typeface="Microsoft YaHei"/>
            </a:endParaRPr>
          </a:p>
          <a:p>
            <a:pPr marL="0" indent="0">
              <a:buNone/>
            </a:pPr>
            <a:r>
              <a:rPr lang="en-US" altLang="zh-CN" sz="1600" b="1"/>
              <a:t>Evaluation</a:t>
            </a:r>
          </a:p>
          <a:p>
            <a:pPr marL="0" indent="0">
              <a:buNone/>
            </a:pPr>
            <a:r>
              <a:rPr lang="zh-CN" altLang="en-US" sz="1400"/>
              <a:t>• 在 128-GPU 物理集群上进行真实实验</a:t>
            </a:r>
          </a:p>
          <a:p>
            <a:pPr marL="0" indent="0">
              <a:buNone/>
            </a:pPr>
            <a:r>
              <a:rPr lang="zh-CN" altLang="en-US" sz="1400"/>
              <a:t>• 基于生产环境 trace 的大规模仿真实验</a:t>
            </a:r>
          </a:p>
          <a:p>
            <a:pPr marL="0" indent="0">
              <a:buNone/>
            </a:pPr>
            <a:r>
              <a:rPr lang="zh-CN" altLang="en-US" sz="1400"/>
              <a:t>• 平均 JCT 降低最高 </a:t>
            </a:r>
            <a:r>
              <a:rPr lang="en-US" altLang="zh-CN" sz="1400" b="1">
                <a:solidFill>
                  <a:srgbClr val="C00000"/>
                </a:solidFill>
              </a:rPr>
              <a:t>1.91x</a:t>
            </a:r>
          </a:p>
          <a:p>
            <a:pPr marL="0" indent="0">
              <a:buNone/>
            </a:pPr>
            <a:r>
              <a:rPr lang="zh-CN" altLang="en-US" sz="1400"/>
              <a:t>• 显著提升调度性能和集群资源利用率</a:t>
            </a:r>
          </a:p>
          <a:p>
            <a:pPr marL="0" indent="0" algn="l">
              <a:buNone/>
            </a:pPr>
            <a:endParaRPr lang="zh-CN" altLang="en-US" sz="1400">
              <a:latin typeface="Microsoft YaHei"/>
              <a:ea typeface="Microsoft YaHei"/>
            </a:endParaRPr>
          </a:p>
        </p:txBody>
      </p:sp>
    </p:spTree>
    <p:extLst>
      <p:ext uri="{BB962C8B-B14F-4D97-AF65-F5344CB8AC3E}">
        <p14:creationId xmlns:p14="http://schemas.microsoft.com/office/powerpoint/2010/main" val="1490355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367D79-E8A6-FC02-48D1-63BF532EEB3B}"/>
              </a:ext>
            </a:extLst>
          </p:cNvPr>
          <p:cNvSpPr>
            <a:spLocks noGrp="1"/>
          </p:cNvSpPr>
          <p:nvPr>
            <p:ph type="title"/>
          </p:nvPr>
        </p:nvSpPr>
        <p:spPr/>
        <p:txBody>
          <a:bodyPr/>
          <a:lstStyle/>
          <a:p>
            <a:r>
              <a:rPr kumimoji="1" lang="en-US" altLang="zh-CN" b="1" dirty="0"/>
              <a:t>Schedule</a:t>
            </a:r>
            <a:r>
              <a:rPr kumimoji="1" lang="zh-CN" altLang="en-US" b="1"/>
              <a:t> </a:t>
            </a:r>
            <a:r>
              <a:rPr kumimoji="1" lang="en-US" altLang="zh-CN" b="1" dirty="0"/>
              <a:t>Advisor</a:t>
            </a:r>
            <a:endParaRPr kumimoji="1" lang="zh-CN" altLang="en-US" b="1"/>
          </a:p>
        </p:txBody>
      </p:sp>
      <p:sp>
        <p:nvSpPr>
          <p:cNvPr id="10" name="TextBox 10"/>
          <p:cNvSpPr txBox="1"/>
          <p:nvPr/>
        </p:nvSpPr>
        <p:spPr>
          <a:xfrm>
            <a:off x="457200" y="1400000"/>
            <a:ext cx="11277600" cy="1600000"/>
          </a:xfrm>
          <a:prstGeom prst="rect">
            <a:avLst/>
          </a:prstGeom>
          <a:noFill/>
        </p:spPr>
        <p:txBody>
          <a:bodyPr wrap="square" rtlCol="0"/>
          <a:lstStyle/>
          <a:p>
            <a:pPr algn="l"/>
            <a:r>
              <a:rPr lang="en-US" altLang="zh-CN" sz="1400" b="1" dirty="0">
                <a:latin typeface="Microsoft YaHei"/>
                <a:ea typeface="Microsoft YaHei"/>
              </a:rPr>
              <a:t>Schedule Advisor </a:t>
            </a:r>
            <a:r>
              <a:rPr lang="zh-CN" altLang="en-US" sz="1400">
                <a:latin typeface="Microsoft YaHei"/>
                <a:ea typeface="Microsoft YaHei"/>
              </a:rPr>
              <a:t>使用 ReAct 风格 LLM Agent 分析源代码，提取模型架构（Model Arch）、数据集（Dataset Settings）、训练参数（Training Config）等语义元数据，生成结构化 JSON 指纹。</a:t>
            </a:r>
            <a:r>
              <a:rPr lang="zh-CN" altLang="en-US" sz="1400" b="1">
                <a:latin typeface="Microsoft YaHei"/>
                <a:ea typeface="Microsoft YaHei"/>
              </a:rPr>
              <a:t>通过 </a:t>
            </a:r>
            <a:r>
              <a:rPr lang="en-US" altLang="zh-CN" sz="1400" b="1" dirty="0">
                <a:latin typeface="Microsoft YaHei"/>
                <a:ea typeface="Microsoft YaHei"/>
              </a:rPr>
              <a:t>embedding</a:t>
            </a:r>
            <a:r>
              <a:rPr lang="zh-CN" altLang="en-US" sz="1400" b="1">
                <a:latin typeface="Microsoft YaHei"/>
                <a:ea typeface="Microsoft YaHei"/>
              </a:rPr>
              <a:t> </a:t>
            </a:r>
            <a:r>
              <a:rPr lang="en-US" altLang="zh-CN" sz="1400" b="1" dirty="0">
                <a:latin typeface="Microsoft YaHei"/>
                <a:ea typeface="Microsoft YaHei"/>
              </a:rPr>
              <a:t>vector</a:t>
            </a:r>
            <a:r>
              <a:rPr lang="zh-CN" altLang="en-US" sz="1400" b="1">
                <a:latin typeface="Microsoft YaHei"/>
                <a:ea typeface="Microsoft YaHei"/>
              </a:rPr>
              <a:t> 的相似度匹配 top-k 历史作业，以其平均时长和 SM 利用率作为预测值，替代昂贵的 </a:t>
            </a:r>
            <a:r>
              <a:rPr lang="en-US" altLang="zh-CN" sz="1400" b="1" dirty="0">
                <a:latin typeface="Microsoft YaHei"/>
                <a:ea typeface="Microsoft YaHei"/>
              </a:rPr>
              <a:t>real</a:t>
            </a:r>
            <a:r>
              <a:rPr lang="zh-CN" altLang="en-US" sz="1400" b="1">
                <a:latin typeface="Microsoft YaHei"/>
                <a:ea typeface="Microsoft YaHei"/>
              </a:rPr>
              <a:t> profiling。</a:t>
            </a:r>
          </a:p>
        </p:txBody>
      </p:sp>
      <p:pic>
        <p:nvPicPr>
          <p:cNvPr id="4" name="图片 3">
            <a:extLst>
              <a:ext uri="{FF2B5EF4-FFF2-40B4-BE49-F238E27FC236}">
                <a16:creationId xmlns:a16="http://schemas.microsoft.com/office/drawing/2014/main" id="{6ABD497B-D805-5135-BEB6-F75ED67AF31B}"/>
              </a:ext>
            </a:extLst>
          </p:cNvPr>
          <p:cNvPicPr>
            <a:picLocks noChangeAspect="1"/>
          </p:cNvPicPr>
          <p:nvPr/>
        </p:nvPicPr>
        <p:blipFill>
          <a:blip r:embed="rId2"/>
          <a:stretch>
            <a:fillRect/>
          </a:stretch>
        </p:blipFill>
        <p:spPr>
          <a:xfrm>
            <a:off x="1148807" y="2328233"/>
            <a:ext cx="5054030" cy="3974670"/>
          </a:xfrm>
          <a:prstGeom prst="rect">
            <a:avLst/>
          </a:prstGeom>
        </p:spPr>
      </p:pic>
      <p:pic>
        <p:nvPicPr>
          <p:cNvPr id="5" name="图片 4">
            <a:extLst>
              <a:ext uri="{FF2B5EF4-FFF2-40B4-BE49-F238E27FC236}">
                <a16:creationId xmlns:a16="http://schemas.microsoft.com/office/drawing/2014/main" id="{690F37DB-151D-6C22-7149-947CF1D4D528}"/>
              </a:ext>
            </a:extLst>
          </p:cNvPr>
          <p:cNvPicPr>
            <a:picLocks noChangeAspect="1"/>
          </p:cNvPicPr>
          <p:nvPr/>
        </p:nvPicPr>
        <p:blipFill>
          <a:blip r:embed="rId3"/>
          <a:stretch>
            <a:fillRect/>
          </a:stretch>
        </p:blipFill>
        <p:spPr>
          <a:xfrm>
            <a:off x="6487043" y="2396267"/>
            <a:ext cx="4250531" cy="3906636"/>
          </a:xfrm>
          <a:prstGeom prst="rect">
            <a:avLst/>
          </a:prstGeom>
        </p:spPr>
      </p:pic>
    </p:spTree>
    <p:extLst>
      <p:ext uri="{BB962C8B-B14F-4D97-AF65-F5344CB8AC3E}">
        <p14:creationId xmlns:p14="http://schemas.microsoft.com/office/powerpoint/2010/main" val="4133609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2B5E6-0F68-CE94-9DBD-29B09CD867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75F907D-59C3-184B-2833-F872524F25C3}"/>
              </a:ext>
            </a:extLst>
          </p:cNvPr>
          <p:cNvSpPr>
            <a:spLocks noGrp="1"/>
          </p:cNvSpPr>
          <p:nvPr>
            <p:ph type="title"/>
          </p:nvPr>
        </p:nvSpPr>
        <p:spPr/>
        <p:txBody>
          <a:bodyPr/>
          <a:lstStyle/>
          <a:p>
            <a:r>
              <a:rPr lang="en" altLang="zh-CN" b="1" dirty="0"/>
              <a:t>Metric Tracker</a:t>
            </a:r>
            <a:endParaRPr kumimoji="1" lang="zh-CN" altLang="en-US" b="1"/>
          </a:p>
        </p:txBody>
      </p:sp>
      <p:sp>
        <p:nvSpPr>
          <p:cNvPr id="10" name="TextBox 10"/>
          <p:cNvSpPr txBox="1"/>
          <p:nvPr/>
        </p:nvSpPr>
        <p:spPr>
          <a:xfrm>
            <a:off x="221974" y="5384269"/>
            <a:ext cx="11277600" cy="1337205"/>
          </a:xfrm>
          <a:prstGeom prst="rect">
            <a:avLst/>
          </a:prstGeom>
          <a:noFill/>
        </p:spPr>
        <p:txBody>
          <a:bodyPr wrap="square" rtlCol="0"/>
          <a:lstStyle/>
          <a:p>
            <a:pPr algn="l"/>
            <a:r>
              <a:rPr lang="en-US" altLang="zh-CN" sz="1600" b="1" dirty="0">
                <a:latin typeface="Microsoft YaHei"/>
                <a:ea typeface="Microsoft YaHei"/>
              </a:rPr>
              <a:t>Metric Tracker </a:t>
            </a:r>
            <a:r>
              <a:rPr lang="zh-CN" altLang="en-US" sz="1600">
                <a:latin typeface="Microsoft YaHei"/>
                <a:ea typeface="Microsoft YaHei"/>
              </a:rPr>
              <a:t>采用两阶段轻量 pipeline：先由 Log Classifier（嵌入模型）从海量日志中快速筛出进度相关行，再由 LLM 精确提取 step time 和 loss 等结构化指标。提取过程以逆序处理日志，获取到足够指标（N 行）后即停止，兼顾低延迟与高精度，成功率达 84.3%，显著优于纯 LLM 方案（59.2%）。</a:t>
            </a:r>
            <a:endParaRPr lang="en-US" altLang="zh-CN" sz="1600" dirty="0">
              <a:latin typeface="Microsoft YaHei"/>
              <a:ea typeface="Microsoft YaHei"/>
            </a:endParaRPr>
          </a:p>
          <a:p>
            <a:pPr algn="l"/>
            <a:endParaRPr lang="en-US" altLang="zh-CN" sz="1400" dirty="0">
              <a:latin typeface="Microsoft YaHei"/>
              <a:ea typeface="Microsoft YaHei"/>
            </a:endParaRPr>
          </a:p>
          <a:p>
            <a:pPr algn="l"/>
            <a:r>
              <a:rPr lang="zh-CN" altLang="en-US" sz="1600" b="1">
                <a:latin typeface="Microsoft YaHei"/>
                <a:ea typeface="Microsoft YaHei"/>
              </a:rPr>
              <a:t>提取到</a:t>
            </a:r>
            <a:r>
              <a:rPr lang="en-US" altLang="zh-CN" sz="1600" b="1" dirty="0">
                <a:latin typeface="Microsoft YaHei"/>
                <a:ea typeface="Microsoft YaHei"/>
              </a:rPr>
              <a:t>step</a:t>
            </a:r>
            <a:r>
              <a:rPr lang="zh-CN" altLang="en-US" sz="1600" b="1">
                <a:latin typeface="Microsoft YaHei"/>
                <a:ea typeface="Microsoft YaHei"/>
              </a:rPr>
              <a:t> </a:t>
            </a:r>
            <a:r>
              <a:rPr lang="en-US" altLang="zh-CN" sz="1600" b="1" dirty="0">
                <a:latin typeface="Microsoft YaHei"/>
                <a:ea typeface="Microsoft YaHei"/>
              </a:rPr>
              <a:t>time</a:t>
            </a:r>
            <a:r>
              <a:rPr lang="zh-CN" altLang="en-US" sz="1600" b="1">
                <a:latin typeface="Microsoft YaHei"/>
                <a:ea typeface="Microsoft YaHei"/>
              </a:rPr>
              <a:t>可以用来识别</a:t>
            </a:r>
            <a:r>
              <a:rPr lang="en-US" altLang="zh-CN" sz="1600" b="1" dirty="0">
                <a:latin typeface="Microsoft YaHei"/>
                <a:ea typeface="Microsoft YaHei"/>
              </a:rPr>
              <a:t>slowdown</a:t>
            </a:r>
            <a:r>
              <a:rPr lang="zh-CN" altLang="en-US" sz="1600" b="1">
                <a:latin typeface="Microsoft YaHei"/>
                <a:ea typeface="Microsoft YaHei"/>
              </a:rPr>
              <a:t>用来指导 </a:t>
            </a:r>
            <a:r>
              <a:rPr lang="en-US" altLang="zh-CN" sz="1600" b="1" dirty="0">
                <a:latin typeface="Microsoft YaHei"/>
                <a:ea typeface="Microsoft YaHei"/>
              </a:rPr>
              <a:t>job</a:t>
            </a:r>
            <a:r>
              <a:rPr lang="zh-CN" altLang="en-US" sz="1600" b="1">
                <a:latin typeface="Microsoft YaHei"/>
                <a:ea typeface="Microsoft YaHei"/>
              </a:rPr>
              <a:t> </a:t>
            </a:r>
            <a:r>
              <a:rPr lang="en-US" altLang="zh-CN" sz="1600" b="1" dirty="0">
                <a:latin typeface="Microsoft YaHei"/>
                <a:ea typeface="Microsoft YaHei"/>
              </a:rPr>
              <a:t>packing</a:t>
            </a:r>
            <a:r>
              <a:rPr lang="zh-CN" altLang="en-US" sz="1600" b="1">
                <a:latin typeface="Microsoft YaHei"/>
                <a:ea typeface="Microsoft YaHei"/>
              </a:rPr>
              <a:t> 决策</a:t>
            </a:r>
            <a:endParaRPr lang="en-US" altLang="zh-CN" sz="1600" b="1" dirty="0">
              <a:latin typeface="Microsoft YaHei"/>
              <a:ea typeface="Microsoft YaHei"/>
            </a:endParaRPr>
          </a:p>
        </p:txBody>
      </p:sp>
      <p:pic>
        <p:nvPicPr>
          <p:cNvPr id="3" name="图片 2">
            <a:extLst>
              <a:ext uri="{FF2B5EF4-FFF2-40B4-BE49-F238E27FC236}">
                <a16:creationId xmlns:a16="http://schemas.microsoft.com/office/drawing/2014/main" id="{AE8E11AE-9534-DD99-91C6-3C03E27A8A7D}"/>
              </a:ext>
            </a:extLst>
          </p:cNvPr>
          <p:cNvPicPr>
            <a:picLocks noChangeAspect="1"/>
          </p:cNvPicPr>
          <p:nvPr/>
        </p:nvPicPr>
        <p:blipFill>
          <a:blip r:embed="rId3"/>
          <a:stretch>
            <a:fillRect/>
          </a:stretch>
        </p:blipFill>
        <p:spPr>
          <a:xfrm>
            <a:off x="2900206" y="1023730"/>
            <a:ext cx="6391587" cy="4094494"/>
          </a:xfrm>
          <a:prstGeom prst="rect">
            <a:avLst/>
          </a:prstGeom>
        </p:spPr>
      </p:pic>
    </p:spTree>
    <p:extLst>
      <p:ext uri="{BB962C8B-B14F-4D97-AF65-F5344CB8AC3E}">
        <p14:creationId xmlns:p14="http://schemas.microsoft.com/office/powerpoint/2010/main" val="50881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BC33B-F986-A914-64C6-AFC9365A721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65EF5D3-FDC9-72C6-B0C0-754223230784}"/>
              </a:ext>
            </a:extLst>
          </p:cNvPr>
          <p:cNvSpPr>
            <a:spLocks noGrp="1"/>
          </p:cNvSpPr>
          <p:nvPr>
            <p:ph type="title"/>
          </p:nvPr>
        </p:nvSpPr>
        <p:spPr/>
        <p:txBody>
          <a:bodyPr/>
          <a:lstStyle/>
          <a:p>
            <a:r>
              <a:rPr kumimoji="1" lang="en-US" altLang="zh-CN" b="1" dirty="0"/>
              <a:t>Failure</a:t>
            </a:r>
            <a:r>
              <a:rPr kumimoji="1" lang="zh-CN" altLang="en-US" b="1"/>
              <a:t> </a:t>
            </a:r>
            <a:r>
              <a:rPr kumimoji="1" lang="en-US" altLang="zh-CN" b="1" dirty="0"/>
              <a:t>Handler</a:t>
            </a:r>
            <a:endParaRPr kumimoji="1" lang="zh-CN" altLang="en-US" b="1"/>
          </a:p>
        </p:txBody>
      </p:sp>
      <p:sp>
        <p:nvSpPr>
          <p:cNvPr id="10" name="TextBox 10"/>
          <p:cNvSpPr txBox="1"/>
          <p:nvPr/>
        </p:nvSpPr>
        <p:spPr>
          <a:xfrm>
            <a:off x="457200" y="1128151"/>
            <a:ext cx="11277600" cy="1357461"/>
          </a:xfrm>
          <a:prstGeom prst="rect">
            <a:avLst/>
          </a:prstGeom>
          <a:noFill/>
        </p:spPr>
        <p:txBody>
          <a:bodyPr wrap="square" rtlCol="0"/>
          <a:lstStyle/>
          <a:p>
            <a:r>
              <a:rPr lang="en-US" altLang="zh-CN" sz="1400" b="1" dirty="0">
                <a:latin typeface="Microsoft YaHei"/>
                <a:ea typeface="Microsoft YaHei"/>
              </a:rPr>
              <a:t>Failure Handler </a:t>
            </a:r>
            <a:r>
              <a:rPr lang="zh-CN" altLang="en-US" sz="1400">
                <a:latin typeface="Microsoft YaHei"/>
                <a:ea typeface="Microsoft YaHei"/>
              </a:rPr>
              <a:t>采用三阶段 pipeline：①Failure Locator 通过二分查找结合 Log Classifier 在海量日志中定位首个真实错误行；② LLM 对错误上下文（约 500 行）做细粒度分类，区分基础设施故障（GPU/NVLink/节点故障）vs 应用层错误；③ 对基础设施故障触发自动化 Recovery Actions（nccl 测试、节点隔离、节点替换、从 checkpoint 恢复），无需人工干预。</a:t>
            </a:r>
            <a:endParaRPr lang="en-US" altLang="zh-CN" sz="1400" dirty="0">
              <a:latin typeface="Microsoft YaHei"/>
              <a:ea typeface="Microsoft YaHei"/>
            </a:endParaRPr>
          </a:p>
          <a:p>
            <a:endParaRPr lang="en-US" altLang="zh-CN" sz="1400" dirty="0">
              <a:latin typeface="Microsoft YaHei"/>
              <a:ea typeface="Microsoft YaHei"/>
            </a:endParaRPr>
          </a:p>
          <a:p>
            <a:r>
              <a:rPr lang="zh-CN" altLang="en-US" sz="1400" b="1">
                <a:latin typeface="Microsoft YaHei"/>
                <a:ea typeface="Microsoft YaHei"/>
              </a:rPr>
              <a:t>识别错误是否可恢复，可恢复错误直接重启，降低任务重排时间</a:t>
            </a:r>
          </a:p>
        </p:txBody>
      </p:sp>
      <p:pic>
        <p:nvPicPr>
          <p:cNvPr id="4" name="图片 3">
            <a:extLst>
              <a:ext uri="{FF2B5EF4-FFF2-40B4-BE49-F238E27FC236}">
                <a16:creationId xmlns:a16="http://schemas.microsoft.com/office/drawing/2014/main" id="{A99A33D8-5498-F595-46DB-D9168F7192F5}"/>
              </a:ext>
            </a:extLst>
          </p:cNvPr>
          <p:cNvPicPr>
            <a:picLocks noChangeAspect="1"/>
          </p:cNvPicPr>
          <p:nvPr/>
        </p:nvPicPr>
        <p:blipFill>
          <a:blip r:embed="rId3"/>
          <a:stretch>
            <a:fillRect/>
          </a:stretch>
        </p:blipFill>
        <p:spPr>
          <a:xfrm>
            <a:off x="1762210" y="2485612"/>
            <a:ext cx="7407509" cy="2972389"/>
          </a:xfrm>
          <a:prstGeom prst="rect">
            <a:avLst/>
          </a:prstGeom>
        </p:spPr>
      </p:pic>
    </p:spTree>
    <p:extLst>
      <p:ext uri="{BB962C8B-B14F-4D97-AF65-F5344CB8AC3E}">
        <p14:creationId xmlns:p14="http://schemas.microsoft.com/office/powerpoint/2010/main" val="26142704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695457-FB49-643F-21FB-289218776E54}"/>
              </a:ext>
            </a:extLst>
          </p:cNvPr>
          <p:cNvSpPr>
            <a:spLocks noGrp="1"/>
          </p:cNvSpPr>
          <p:nvPr>
            <p:ph type="title"/>
          </p:nvPr>
        </p:nvSpPr>
        <p:spPr/>
        <p:txBody>
          <a:bodyPr/>
          <a:lstStyle/>
          <a:p>
            <a:r>
              <a:rPr kumimoji="1" lang="en-US" altLang="zh-CN" b="1" dirty="0"/>
              <a:t>Case</a:t>
            </a:r>
            <a:r>
              <a:rPr kumimoji="1" lang="zh-CN" altLang="en-US" b="1" dirty="0"/>
              <a:t> </a:t>
            </a:r>
            <a:r>
              <a:rPr kumimoji="1" lang="en-US" altLang="zh-CN" b="1" dirty="0" err="1"/>
              <a:t>Studys</a:t>
            </a:r>
            <a:endParaRPr kumimoji="1" lang="zh-CN" altLang="en-US" b="1" dirty="0"/>
          </a:p>
        </p:txBody>
      </p:sp>
      <p:sp>
        <p:nvSpPr>
          <p:cNvPr id="3" name="内容占位符 2">
            <a:extLst>
              <a:ext uri="{FF2B5EF4-FFF2-40B4-BE49-F238E27FC236}">
                <a16:creationId xmlns:a16="http://schemas.microsoft.com/office/drawing/2014/main" id="{317F6BE7-29CB-4358-9262-B98B5BC5C7F5}"/>
              </a:ext>
            </a:extLst>
          </p:cNvPr>
          <p:cNvSpPr>
            <a:spLocks noGrp="1"/>
          </p:cNvSpPr>
          <p:nvPr>
            <p:ph idx="1"/>
          </p:nvPr>
        </p:nvSpPr>
        <p:spPr>
          <a:xfrm>
            <a:off x="221974" y="2048363"/>
            <a:ext cx="10515600" cy="3208318"/>
          </a:xfrm>
        </p:spPr>
        <p:txBody>
          <a:bodyPr>
            <a:normAutofit/>
          </a:bodyPr>
          <a:lstStyle/>
          <a:p>
            <a:pPr>
              <a:lnSpc>
                <a:spcPct val="100000"/>
              </a:lnSpc>
            </a:pPr>
            <a:r>
              <a:rPr lang="en-US" altLang="zh-CN" sz="1600" b="1">
                <a:latin typeface="Microsoft YaHei"/>
                <a:ea typeface="Microsoft YaHei"/>
              </a:rPr>
              <a:t>Non-intrusive Lucid</a:t>
            </a:r>
            <a:r>
              <a:rPr lang="en-US" altLang="zh-CN" sz="1600">
                <a:latin typeface="Microsoft YaHei"/>
                <a:ea typeface="Microsoft YaHei"/>
              </a:rPr>
              <a:t>: </a:t>
            </a:r>
            <a:r>
              <a:rPr lang="zh-CN" altLang="en-US" sz="1600">
                <a:latin typeface="Microsoft YaHei"/>
                <a:ea typeface="Microsoft YaHei"/>
              </a:rPr>
              <a:t>接入 Lucid 调度器，Schedule Advisor 绕过 profiling 并改善时长估计，Metric Tracker 实现干扰感知 packing 撤销。物理集群 JCT 降低 23.2%；仿真提升 1.23×∼1.91×。</a:t>
            </a:r>
          </a:p>
          <a:p>
            <a:pPr>
              <a:lnSpc>
                <a:spcPct val="100000"/>
              </a:lnSpc>
            </a:pPr>
            <a:r>
              <a:rPr lang="en-US" altLang="zh-CN" sz="1600" b="1">
                <a:latin typeface="Microsoft YaHei"/>
                <a:ea typeface="Microsoft YaHei"/>
              </a:rPr>
              <a:t>Elastic Scheduler Sia</a:t>
            </a:r>
            <a:r>
              <a:rPr lang="en-US" altLang="zh-CN" sz="1600">
                <a:latin typeface="Microsoft YaHei"/>
                <a:ea typeface="Microsoft YaHei"/>
              </a:rPr>
              <a:t>: </a:t>
            </a:r>
            <a:r>
              <a:rPr lang="zh-CN" altLang="en-US" sz="1600">
                <a:latin typeface="Microsoft YaHei"/>
                <a:ea typeface="Microsoft YaHei"/>
              </a:rPr>
              <a:t>接入 Sia 弹性调度器，</a:t>
            </a:r>
            <a:r>
              <a:rPr lang="en-US" altLang="zh-CN" sz="1600">
                <a:latin typeface="Microsoft YaHei"/>
                <a:ea typeface="Microsoft YaHei"/>
              </a:rPr>
              <a:t>Job</a:t>
            </a:r>
            <a:r>
              <a:rPr lang="zh-CN" altLang="en-US" sz="1600">
                <a:latin typeface="Microsoft YaHei"/>
                <a:ea typeface="Microsoft YaHei"/>
              </a:rPr>
              <a:t> 到来时先用 Schedule Advisor 匹配历史作业，复用性能数据跳过 profiling（Pre-profiling-free Bootstrapping）。平均 JCT 降低 13.3%∼20%，p99 JCT 与 makespan 同步改善。</a:t>
            </a:r>
          </a:p>
          <a:p>
            <a:pPr>
              <a:lnSpc>
                <a:spcPct val="100000"/>
              </a:lnSpc>
            </a:pPr>
            <a:r>
              <a:rPr lang="en-US" altLang="zh-CN" sz="1600" b="1">
                <a:latin typeface="Microsoft YaHei"/>
                <a:ea typeface="Microsoft YaHei"/>
              </a:rPr>
              <a:t>Standalone </a:t>
            </a:r>
            <a:r>
              <a:rPr lang="en-US" altLang="zh-CN" sz="1600" b="1" err="1">
                <a:latin typeface="Microsoft YaHei"/>
                <a:ea typeface="Microsoft YaHei"/>
              </a:rPr>
              <a:t>SchedMate</a:t>
            </a:r>
            <a:r>
              <a:rPr lang="en-US" altLang="zh-CN" sz="1600">
                <a:latin typeface="Microsoft YaHei"/>
                <a:ea typeface="Microsoft YaHei"/>
              </a:rPr>
              <a:t>: </a:t>
            </a:r>
            <a:r>
              <a:rPr lang="zh-CN" altLang="en-US" sz="1600">
                <a:latin typeface="Microsoft YaHei"/>
                <a:ea typeface="Microsoft YaHei"/>
              </a:rPr>
              <a:t>SchedMate 独立运行，同时启用 Schedule Advisor 与 Failure Handler。相较 QSSF 平均 JCT 提升 25.7%，较 Tiresias 提升 16%；加入 Failure Handler 再额外减少约 12.5% JCT。</a:t>
            </a:r>
            <a:endParaRPr lang="en-US" altLang="zh-CN" sz="1600">
              <a:latin typeface="Microsoft YaHei"/>
              <a:ea typeface="Microsoft YaHei"/>
            </a:endParaRPr>
          </a:p>
          <a:p>
            <a:endParaRPr kumimoji="1" lang="zh-CN" altLang="en-US" sz="1600"/>
          </a:p>
        </p:txBody>
      </p:sp>
    </p:spTree>
    <p:extLst>
      <p:ext uri="{BB962C8B-B14F-4D97-AF65-F5344CB8AC3E}">
        <p14:creationId xmlns:p14="http://schemas.microsoft.com/office/powerpoint/2010/main" val="417664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462AC-5085-9121-DB6F-7410489497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BB209F-E850-175E-8FCA-08D1A160CBA9}"/>
              </a:ext>
            </a:extLst>
          </p:cNvPr>
          <p:cNvSpPr>
            <a:spLocks noGrp="1"/>
          </p:cNvSpPr>
          <p:nvPr>
            <p:ph type="title"/>
          </p:nvPr>
        </p:nvSpPr>
        <p:spPr/>
        <p:txBody>
          <a:bodyPr/>
          <a:lstStyle/>
          <a:p>
            <a:r>
              <a:rPr lang="en" altLang="zh-CN" b="1"/>
              <a:t>Evaluation on a </a:t>
            </a:r>
            <a:r>
              <a:rPr lang="en-US" altLang="zh-CN" b="1"/>
              <a:t>128GPU</a:t>
            </a:r>
            <a:r>
              <a:rPr lang="zh-CN" altLang="en-US" b="1"/>
              <a:t> </a:t>
            </a:r>
            <a:r>
              <a:rPr lang="en" altLang="zh-CN" b="1"/>
              <a:t>Cluster</a:t>
            </a:r>
            <a:endParaRPr kumimoji="1" lang="zh-CN" altLang="en-US" b="1"/>
          </a:p>
        </p:txBody>
      </p:sp>
      <p:sp>
        <p:nvSpPr>
          <p:cNvPr id="5" name="内容占位符 4">
            <a:extLst>
              <a:ext uri="{FF2B5EF4-FFF2-40B4-BE49-F238E27FC236}">
                <a16:creationId xmlns:a16="http://schemas.microsoft.com/office/drawing/2014/main" id="{9D417F9D-333D-612A-D64C-EC4549E28003}"/>
              </a:ext>
            </a:extLst>
          </p:cNvPr>
          <p:cNvSpPr>
            <a:spLocks noGrp="1"/>
          </p:cNvSpPr>
          <p:nvPr>
            <p:ph idx="1"/>
          </p:nvPr>
        </p:nvSpPr>
        <p:spPr/>
        <p:txBody>
          <a:bodyPr/>
          <a:lstStyle/>
          <a:p>
            <a:endParaRPr lang="zh-CN" altLang="en-US"/>
          </a:p>
        </p:txBody>
      </p:sp>
      <p:pic>
        <p:nvPicPr>
          <p:cNvPr id="7" name="图片 6">
            <a:extLst>
              <a:ext uri="{FF2B5EF4-FFF2-40B4-BE49-F238E27FC236}">
                <a16:creationId xmlns:a16="http://schemas.microsoft.com/office/drawing/2014/main" id="{2B44FD5E-560F-4EE7-11BA-39AEE9AE35FC}"/>
              </a:ext>
            </a:extLst>
          </p:cNvPr>
          <p:cNvPicPr>
            <a:picLocks noChangeAspect="1"/>
          </p:cNvPicPr>
          <p:nvPr/>
        </p:nvPicPr>
        <p:blipFill>
          <a:blip r:embed="rId3"/>
          <a:stretch>
            <a:fillRect/>
          </a:stretch>
        </p:blipFill>
        <p:spPr>
          <a:xfrm>
            <a:off x="3004952" y="4091523"/>
            <a:ext cx="6182096" cy="2629952"/>
          </a:xfrm>
          <a:prstGeom prst="rect">
            <a:avLst/>
          </a:prstGeom>
        </p:spPr>
      </p:pic>
      <p:pic>
        <p:nvPicPr>
          <p:cNvPr id="3" name="图片 2">
            <a:extLst>
              <a:ext uri="{FF2B5EF4-FFF2-40B4-BE49-F238E27FC236}">
                <a16:creationId xmlns:a16="http://schemas.microsoft.com/office/drawing/2014/main" id="{A83A3277-E0B1-E900-FE60-C9A6FE3B8AB9}"/>
              </a:ext>
            </a:extLst>
          </p:cNvPr>
          <p:cNvPicPr>
            <a:picLocks noChangeAspect="1"/>
          </p:cNvPicPr>
          <p:nvPr/>
        </p:nvPicPr>
        <p:blipFill>
          <a:blip r:embed="rId4"/>
          <a:stretch>
            <a:fillRect/>
          </a:stretch>
        </p:blipFill>
        <p:spPr>
          <a:xfrm>
            <a:off x="2209800" y="941540"/>
            <a:ext cx="7772400" cy="3149983"/>
          </a:xfrm>
          <a:prstGeom prst="rect">
            <a:avLst/>
          </a:prstGeom>
        </p:spPr>
      </p:pic>
    </p:spTree>
    <p:extLst>
      <p:ext uri="{BB962C8B-B14F-4D97-AF65-F5344CB8AC3E}">
        <p14:creationId xmlns:p14="http://schemas.microsoft.com/office/powerpoint/2010/main" val="2176681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C16B86-E642-501E-E0D0-7E668E6EC4FA}"/>
              </a:ext>
            </a:extLst>
          </p:cNvPr>
          <p:cNvSpPr>
            <a:spLocks noGrp="1"/>
          </p:cNvSpPr>
          <p:nvPr>
            <p:ph type="title"/>
          </p:nvPr>
        </p:nvSpPr>
        <p:spPr/>
        <p:txBody>
          <a:bodyPr/>
          <a:lstStyle/>
          <a:p>
            <a:r>
              <a:rPr kumimoji="1" lang="en-US" altLang="zh-CN" b="1"/>
              <a:t>Simulation-based</a:t>
            </a:r>
            <a:r>
              <a:rPr kumimoji="1" lang="zh-CN" altLang="en-US" b="1"/>
              <a:t> </a:t>
            </a:r>
            <a:r>
              <a:rPr kumimoji="1" lang="en-US" altLang="zh-CN" b="1"/>
              <a:t>Evaluation</a:t>
            </a:r>
            <a:endParaRPr kumimoji="1" lang="zh-CN" altLang="en-US" b="1"/>
          </a:p>
        </p:txBody>
      </p:sp>
      <p:pic>
        <p:nvPicPr>
          <p:cNvPr id="4" name="图片 3">
            <a:extLst>
              <a:ext uri="{FF2B5EF4-FFF2-40B4-BE49-F238E27FC236}">
                <a16:creationId xmlns:a16="http://schemas.microsoft.com/office/drawing/2014/main" id="{2CB4D510-8F18-D977-AD80-0DCB711FDF82}"/>
              </a:ext>
            </a:extLst>
          </p:cNvPr>
          <p:cNvPicPr>
            <a:picLocks noChangeAspect="1"/>
          </p:cNvPicPr>
          <p:nvPr/>
        </p:nvPicPr>
        <p:blipFill>
          <a:blip r:embed="rId2"/>
          <a:stretch>
            <a:fillRect/>
          </a:stretch>
        </p:blipFill>
        <p:spPr>
          <a:xfrm>
            <a:off x="530462" y="2249792"/>
            <a:ext cx="11131075" cy="2904680"/>
          </a:xfrm>
          <a:prstGeom prst="rect">
            <a:avLst/>
          </a:prstGeom>
        </p:spPr>
      </p:pic>
      <p:sp>
        <p:nvSpPr>
          <p:cNvPr id="6" name="文本框 5">
            <a:extLst>
              <a:ext uri="{FF2B5EF4-FFF2-40B4-BE49-F238E27FC236}">
                <a16:creationId xmlns:a16="http://schemas.microsoft.com/office/drawing/2014/main" id="{F6E66438-CCB1-C61C-D244-E4DFA0CDCC64}"/>
              </a:ext>
            </a:extLst>
          </p:cNvPr>
          <p:cNvSpPr txBox="1"/>
          <p:nvPr/>
        </p:nvSpPr>
        <p:spPr>
          <a:xfrm>
            <a:off x="530462" y="1296862"/>
            <a:ext cx="10335460" cy="646331"/>
          </a:xfrm>
          <a:prstGeom prst="rect">
            <a:avLst/>
          </a:prstGeom>
          <a:noFill/>
        </p:spPr>
        <p:txBody>
          <a:bodyPr wrap="square">
            <a:spAutoFit/>
          </a:bodyPr>
          <a:lstStyle/>
          <a:p>
            <a:pPr>
              <a:lnSpc>
                <a:spcPct val="100000"/>
              </a:lnSpc>
            </a:pPr>
            <a:r>
              <a:rPr lang="en-US" altLang="zh-CN" sz="1800" b="1">
                <a:latin typeface="Microsoft YaHei"/>
                <a:ea typeface="Microsoft YaHei"/>
              </a:rPr>
              <a:t>Non-intrusive Lucid</a:t>
            </a:r>
            <a:r>
              <a:rPr lang="en-US" altLang="zh-CN" sz="1800">
                <a:latin typeface="Microsoft YaHei"/>
                <a:ea typeface="Microsoft YaHei"/>
              </a:rPr>
              <a:t>: </a:t>
            </a:r>
            <a:r>
              <a:rPr lang="zh-CN" altLang="en-US" sz="1800">
                <a:latin typeface="Microsoft YaHei"/>
                <a:ea typeface="Microsoft YaHei"/>
              </a:rPr>
              <a:t>接入 Lucid 调度器，Schedule Advisor 绕过 profiling 并改善时长估计，Metric Tracker 实现干扰感知 packing 撤销。物理集群 JCT 降低 23.2%；仿真提升 1.23×∼1.91×。</a:t>
            </a:r>
          </a:p>
        </p:txBody>
      </p:sp>
    </p:spTree>
    <p:extLst>
      <p:ext uri="{BB962C8B-B14F-4D97-AF65-F5344CB8AC3E}">
        <p14:creationId xmlns:p14="http://schemas.microsoft.com/office/powerpoint/2010/main" val="3930119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B4C2CA-C4CC-253D-CB18-F4B2430D67CF}"/>
              </a:ext>
            </a:extLst>
          </p:cNvPr>
          <p:cNvSpPr>
            <a:spLocks noGrp="1"/>
          </p:cNvSpPr>
          <p:nvPr>
            <p:ph type="title"/>
          </p:nvPr>
        </p:nvSpPr>
        <p:spPr/>
        <p:txBody>
          <a:bodyPr/>
          <a:lstStyle/>
          <a:p>
            <a:r>
              <a:rPr kumimoji="1" lang="en-US" altLang="zh-CN" b="1"/>
              <a:t>Simulation-based</a:t>
            </a:r>
            <a:r>
              <a:rPr kumimoji="1" lang="zh-CN" altLang="en-US" b="1"/>
              <a:t> </a:t>
            </a:r>
            <a:r>
              <a:rPr kumimoji="1" lang="en-US" altLang="zh-CN" b="1"/>
              <a:t>Evaluation</a:t>
            </a:r>
            <a:endParaRPr kumimoji="1" lang="zh-CN" altLang="en-US" b="1"/>
          </a:p>
        </p:txBody>
      </p:sp>
      <p:pic>
        <p:nvPicPr>
          <p:cNvPr id="4" name="图片 3">
            <a:extLst>
              <a:ext uri="{FF2B5EF4-FFF2-40B4-BE49-F238E27FC236}">
                <a16:creationId xmlns:a16="http://schemas.microsoft.com/office/drawing/2014/main" id="{B3283015-6FF4-CE67-28F8-7FD006B482D4}"/>
              </a:ext>
            </a:extLst>
          </p:cNvPr>
          <p:cNvPicPr>
            <a:picLocks noChangeAspect="1"/>
          </p:cNvPicPr>
          <p:nvPr/>
        </p:nvPicPr>
        <p:blipFill>
          <a:blip r:embed="rId3"/>
          <a:stretch>
            <a:fillRect/>
          </a:stretch>
        </p:blipFill>
        <p:spPr>
          <a:xfrm>
            <a:off x="5752907" y="0"/>
            <a:ext cx="5782444" cy="6858000"/>
          </a:xfrm>
          <a:prstGeom prst="rect">
            <a:avLst/>
          </a:prstGeom>
        </p:spPr>
      </p:pic>
      <p:sp>
        <p:nvSpPr>
          <p:cNvPr id="6" name="文本框 5">
            <a:extLst>
              <a:ext uri="{FF2B5EF4-FFF2-40B4-BE49-F238E27FC236}">
                <a16:creationId xmlns:a16="http://schemas.microsoft.com/office/drawing/2014/main" id="{49196427-0728-DC53-39C7-1FB15D0E120C}"/>
              </a:ext>
            </a:extLst>
          </p:cNvPr>
          <p:cNvSpPr txBox="1"/>
          <p:nvPr/>
        </p:nvSpPr>
        <p:spPr>
          <a:xfrm>
            <a:off x="191597" y="1897796"/>
            <a:ext cx="6097978" cy="2585323"/>
          </a:xfrm>
          <a:prstGeom prst="rect">
            <a:avLst/>
          </a:prstGeom>
          <a:noFill/>
        </p:spPr>
        <p:txBody>
          <a:bodyPr wrap="square">
            <a:spAutoFit/>
          </a:bodyPr>
          <a:lstStyle/>
          <a:p>
            <a:pPr>
              <a:lnSpc>
                <a:spcPct val="100000"/>
              </a:lnSpc>
            </a:pPr>
            <a:r>
              <a:rPr lang="en-US" altLang="zh-CN" sz="1800" b="1">
                <a:latin typeface="Microsoft YaHei"/>
                <a:ea typeface="Microsoft YaHei"/>
              </a:rPr>
              <a:t>Elastic Scheduler Sia</a:t>
            </a:r>
            <a:r>
              <a:rPr lang="en-US" altLang="zh-CN" sz="1800">
                <a:latin typeface="Microsoft YaHei"/>
                <a:ea typeface="Microsoft YaHei"/>
              </a:rPr>
              <a:t>: Job</a:t>
            </a:r>
            <a:r>
              <a:rPr lang="zh-CN" altLang="en-US" sz="1800">
                <a:latin typeface="Microsoft YaHei"/>
                <a:ea typeface="Microsoft YaHei"/>
              </a:rPr>
              <a:t> 到来时先用 Schedule Advisor 匹配历史作业，复用性能数据跳过 profiling（Pre-profiling-free Bootstrapping）。平均 JCT 降低 13.3%∼20%，p99 JCT 与 makespan 同步改善。</a:t>
            </a:r>
            <a:endParaRPr lang="en-US" altLang="zh-CN" sz="1800">
              <a:latin typeface="Microsoft YaHei"/>
              <a:ea typeface="Microsoft YaHei"/>
            </a:endParaRPr>
          </a:p>
          <a:p>
            <a:pPr>
              <a:lnSpc>
                <a:spcPct val="100000"/>
              </a:lnSpc>
            </a:pPr>
            <a:endParaRPr lang="zh-CN" altLang="en-US" sz="1800">
              <a:latin typeface="Microsoft YaHei"/>
              <a:ea typeface="Microsoft YaHei"/>
            </a:endParaRPr>
          </a:p>
          <a:p>
            <a:pPr>
              <a:lnSpc>
                <a:spcPct val="100000"/>
              </a:lnSpc>
            </a:pPr>
            <a:r>
              <a:rPr lang="en-US" altLang="zh-CN" sz="1800" b="1">
                <a:latin typeface="Microsoft YaHei"/>
                <a:ea typeface="Microsoft YaHei"/>
              </a:rPr>
              <a:t>Standalone </a:t>
            </a:r>
            <a:r>
              <a:rPr lang="en-US" altLang="zh-CN" sz="1800" b="1" err="1">
                <a:latin typeface="Microsoft YaHei"/>
                <a:ea typeface="Microsoft YaHei"/>
              </a:rPr>
              <a:t>SchedMate</a:t>
            </a:r>
            <a:r>
              <a:rPr lang="en-US" altLang="zh-CN" sz="1800">
                <a:latin typeface="Microsoft YaHei"/>
                <a:ea typeface="Microsoft YaHei"/>
              </a:rPr>
              <a:t>: </a:t>
            </a:r>
            <a:r>
              <a:rPr lang="zh-CN" altLang="en-US" sz="1800">
                <a:latin typeface="Microsoft YaHei"/>
                <a:ea typeface="Microsoft YaHei"/>
              </a:rPr>
              <a:t>SchedMate 独立运行，启用 Schedule Advisor 与 Failure Handler。相较 QSSF 平均 JCT 提升 25.7%，较 Tiresias 提升 16%；加入 Failure Handler 再额外减少约 12.5% JCT。</a:t>
            </a:r>
            <a:endParaRPr lang="en-US" altLang="zh-CN" sz="1800">
              <a:latin typeface="Microsoft YaHei"/>
              <a:ea typeface="Microsoft YaHei"/>
            </a:endParaRPr>
          </a:p>
        </p:txBody>
      </p:sp>
    </p:spTree>
    <p:extLst>
      <p:ext uri="{BB962C8B-B14F-4D97-AF65-F5344CB8AC3E}">
        <p14:creationId xmlns:p14="http://schemas.microsoft.com/office/powerpoint/2010/main" val="3860258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BCD2C-24DD-D175-548F-B65A0635150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E3602E-DFBE-4107-7F1C-575C93B5E0BA}"/>
              </a:ext>
            </a:extLst>
          </p:cNvPr>
          <p:cNvSpPr>
            <a:spLocks noGrp="1"/>
          </p:cNvSpPr>
          <p:nvPr>
            <p:ph type="title"/>
          </p:nvPr>
        </p:nvSpPr>
        <p:spPr>
          <a:xfrm>
            <a:off x="221974" y="273160"/>
            <a:ext cx="10515600" cy="887205"/>
          </a:xfrm>
        </p:spPr>
        <p:txBody>
          <a:bodyPr/>
          <a:lstStyle/>
          <a:p>
            <a:r>
              <a:rPr kumimoji="1" lang="en-US" altLang="zh-CN"/>
              <a:t>OSDI 26 Reviews Overview</a:t>
            </a:r>
            <a:endParaRPr kumimoji="1" lang="zh-CN" altLang="en-US"/>
          </a:p>
        </p:txBody>
      </p:sp>
      <p:sp>
        <p:nvSpPr>
          <p:cNvPr id="4" name="内容占位符 3">
            <a:extLst>
              <a:ext uri="{FF2B5EF4-FFF2-40B4-BE49-F238E27FC236}">
                <a16:creationId xmlns:a16="http://schemas.microsoft.com/office/drawing/2014/main" id="{81F61B10-4A93-91C0-21D7-0147393B1886}"/>
              </a:ext>
            </a:extLst>
          </p:cNvPr>
          <p:cNvSpPr>
            <a:spLocks noGrp="1"/>
          </p:cNvSpPr>
          <p:nvPr>
            <p:ph idx="1"/>
          </p:nvPr>
        </p:nvSpPr>
        <p:spPr/>
        <p:txBody>
          <a:bodyPr/>
          <a:lstStyle/>
          <a:p>
            <a:pPr marL="0" indent="0" algn="l">
              <a:buNone/>
            </a:pPr>
            <a:r>
              <a:rPr lang="en-US" altLang="zh-CN" sz="1600" b="1" dirty="0"/>
              <a:t>Paper #232: Unlocking the Black Box: Semantic-Aware Scheduling for GPU Clusters with LLMs</a:t>
            </a:r>
          </a:p>
          <a:p>
            <a:pPr algn="l"/>
            <a:endParaRPr lang="en-US" altLang="zh-CN" sz="1200" dirty="0"/>
          </a:p>
          <a:p>
            <a:pPr algn="l"/>
            <a:r>
              <a:rPr lang="en-US" altLang="zh-CN" sz="1400" b="1" dirty="0"/>
              <a:t>Review A:</a:t>
            </a:r>
            <a:r>
              <a:rPr lang="en-US" altLang="zh-CN" sz="1400" dirty="0"/>
              <a:t> Weak Reject 2</a:t>
            </a:r>
          </a:p>
          <a:p>
            <a:pPr algn="l"/>
            <a:r>
              <a:rPr lang="en-US" altLang="zh-CN" sz="1400" b="1" dirty="0"/>
              <a:t>Review B:</a:t>
            </a:r>
            <a:r>
              <a:rPr lang="en-US" altLang="zh-CN" sz="1400" dirty="0"/>
              <a:t> Weak Reject 2</a:t>
            </a:r>
          </a:p>
          <a:p>
            <a:pPr algn="l"/>
            <a:endParaRPr lang="en-US" altLang="zh-CN" sz="1200" dirty="0"/>
          </a:p>
          <a:p>
            <a:pPr marL="0" indent="0" algn="l">
              <a:buNone/>
            </a:pPr>
            <a:r>
              <a:rPr lang="en-US" altLang="zh-CN" sz="1600" b="1" dirty="0"/>
              <a:t>Main</a:t>
            </a:r>
            <a:r>
              <a:rPr lang="zh-CN" altLang="en-US" sz="1600" b="1" dirty="0"/>
              <a:t> </a:t>
            </a:r>
            <a:r>
              <a:rPr lang="en-US" altLang="zh-CN" sz="1600" b="1" dirty="0"/>
              <a:t>Concerns</a:t>
            </a:r>
          </a:p>
          <a:p>
            <a:pPr marL="342900" indent="-342900" algn="l">
              <a:buChar char="•"/>
            </a:pPr>
            <a:r>
              <a:rPr lang="en-US" altLang="zh-CN" sz="1400" dirty="0" err="1"/>
              <a:t>系统贡献不够清晰：LLM</a:t>
            </a:r>
            <a:r>
              <a:rPr lang="en-US" altLang="zh-CN" sz="1400" dirty="0"/>
              <a:t> </a:t>
            </a:r>
            <a:r>
              <a:rPr lang="en-US" altLang="zh-CN" sz="1400" dirty="0" err="1"/>
              <a:t>信息提取更像工程选择，而非新的调度抽象</a:t>
            </a:r>
            <a:endParaRPr lang="en-US" altLang="zh-CN" sz="1400" dirty="0"/>
          </a:p>
          <a:p>
            <a:pPr marL="342900" indent="-342900" algn="l">
              <a:buChar char="•"/>
            </a:pPr>
            <a:r>
              <a:rPr lang="en-US" altLang="zh-CN" sz="1400" dirty="0" err="1"/>
              <a:t>缺乏与更简单方法的对比（embedding-based</a:t>
            </a:r>
            <a:r>
              <a:rPr lang="en-US" altLang="zh-CN" sz="1400" dirty="0"/>
              <a:t>, </a:t>
            </a:r>
            <a:r>
              <a:rPr lang="en-US" altLang="zh-CN" sz="1400" dirty="0" err="1"/>
              <a:t>轻量级分析</a:t>
            </a:r>
            <a:r>
              <a:rPr lang="en-US" altLang="zh-CN" sz="1400" dirty="0"/>
              <a:t>）</a:t>
            </a:r>
          </a:p>
          <a:p>
            <a:pPr marL="342900" indent="-342900" algn="l">
              <a:buChar char="•"/>
            </a:pPr>
            <a:r>
              <a:rPr lang="en-US" altLang="zh-CN" sz="1400" dirty="0" err="1"/>
              <a:t>实用性论证不充分：缺少生产环境经验支撑</a:t>
            </a:r>
            <a:endParaRPr lang="en-US" altLang="zh-CN" sz="1400" dirty="0"/>
          </a:p>
          <a:p>
            <a:pPr marL="342900" indent="-342900" algn="l">
              <a:buChar char="•"/>
            </a:pPr>
            <a:r>
              <a:rPr lang="en-US" altLang="zh-CN" sz="1400" dirty="0"/>
              <a:t>LLM </a:t>
            </a:r>
            <a:r>
              <a:rPr lang="en-US" altLang="zh-CN" sz="1400" dirty="0" err="1"/>
              <a:t>输出错误时的容错机制未充分讨论</a:t>
            </a:r>
            <a:endParaRPr lang="en-US" altLang="zh-CN" sz="1400" dirty="0"/>
          </a:p>
        </p:txBody>
      </p:sp>
    </p:spTree>
    <p:extLst>
      <p:ext uri="{BB962C8B-B14F-4D97-AF65-F5344CB8AC3E}">
        <p14:creationId xmlns:p14="http://schemas.microsoft.com/office/powerpoint/2010/main" val="2745944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BCD2C-24DD-D175-548F-B65A06351506}"/>
            </a:ext>
          </a:extLst>
        </p:cNvPr>
        <p:cNvGrpSpPr/>
        <p:nvPr/>
      </p:nvGrpSpPr>
      <p:grpSpPr>
        <a:xfrm>
          <a:off x="0" y="0"/>
          <a:ext cx="0" cy="0"/>
          <a:chOff x="0" y="0"/>
          <a:chExt cx="0" cy="0"/>
        </a:xfrm>
      </p:grpSpPr>
      <p:sp>
        <p:nvSpPr>
          <p:cNvPr id="2" name="Title 1"/>
          <p:cNvSpPr>
            <a:spLocks noGrp="1"/>
          </p:cNvSpPr>
          <p:nvPr>
            <p:ph type="title"/>
          </p:nvPr>
        </p:nvSpPr>
        <p:spPr>
          <a:xfrm>
            <a:off x="221974" y="100000"/>
            <a:ext cx="10515600" cy="550000"/>
          </a:xfrm>
        </p:spPr>
        <p:txBody>
          <a:bodyPr/>
          <a:lstStyle/>
          <a:p>
            <a:r>
              <a:rPr kumimoji="1" lang="en-US" altLang="zh-CN" sz="2400"/>
              <a:t>Review #232A</a:t>
            </a:r>
            <a:endParaRPr kumimoji="1" lang="zh-CN" altLang="en-US"/>
          </a:p>
        </p:txBody>
      </p:sp>
      <p:sp>
        <p:nvSpPr>
          <p:cNvPr id="4" name="Content 3"/>
          <p:cNvSpPr>
            <a:spLocks noGrp="1"/>
          </p:cNvSpPr>
          <p:nvPr>
            <p:ph idx="1"/>
          </p:nvPr>
        </p:nvSpPr>
        <p:spPr>
          <a:xfrm>
            <a:off x="221974" y="1268960"/>
            <a:ext cx="11700000" cy="4796560"/>
          </a:xfrm>
        </p:spPr>
        <p:txBody>
          <a:bodyPr>
            <a:normAutofit/>
          </a:bodyPr>
          <a:lstStyle/>
          <a:p>
            <a:pPr marL="0" indent="0" algn="l">
              <a:lnSpc>
                <a:spcPct val="110000"/>
              </a:lnSpc>
              <a:buNone/>
            </a:pPr>
            <a:r>
              <a:rPr lang="en-US" altLang="zh-CN" sz="1600" b="1">
                <a:solidFill>
                  <a:srgbClr val="C62828"/>
                </a:solidFill>
              </a:rPr>
              <a:t>Weaknesses:</a:t>
            </a:r>
          </a:p>
          <a:p>
            <a:pPr algn="l">
              <a:lnSpc>
                <a:spcPct val="110000"/>
              </a:lnSpc>
            </a:pPr>
            <a:r>
              <a:rPr lang="en-US" altLang="zh-CN" sz="1400"/>
              <a:t>It is </a:t>
            </a:r>
            <a:r>
              <a:rPr lang="en-US" altLang="zh-CN" sz="1400" b="1"/>
              <a:t>unclear what the fundamental technical challenge </a:t>
            </a:r>
            <a:r>
              <a:rPr lang="en-US" altLang="zh-CN" sz="1400"/>
              <a:t>is beyond applying LLM-based information extraction, or which </a:t>
            </a:r>
            <a:r>
              <a:rPr lang="en-US" altLang="zh-CN" sz="1400" b="1"/>
              <a:t>new system abstractions, scheduling mechanisms, or design principles</a:t>
            </a:r>
            <a:r>
              <a:rPr lang="en-US" altLang="zh-CN" sz="1400"/>
              <a:t> are introduced as a result.</a:t>
            </a:r>
          </a:p>
          <a:p>
            <a:pPr algn="l">
              <a:lnSpc>
                <a:spcPct val="110000"/>
              </a:lnSpc>
            </a:pPr>
            <a:r>
              <a:rPr lang="en-US" altLang="zh-CN" sz="1400"/>
              <a:t>The motivation largely frames the problem as </a:t>
            </a:r>
            <a:r>
              <a:rPr lang="en-US" altLang="zh-CN" sz="1400" b="1"/>
              <a:t>“LLMs are better tools” rather than as a new systems problem</a:t>
            </a:r>
            <a:r>
              <a:rPr lang="en-US" altLang="zh-CN" sz="1400"/>
              <a:t>. It remains unclear why </a:t>
            </a:r>
            <a:r>
              <a:rPr lang="en-US" altLang="zh-CN" sz="1400" b="1"/>
              <a:t>lighter-weight approaches </a:t>
            </a:r>
            <a:r>
              <a:rPr lang="en-US" altLang="zh-CN" sz="1400"/>
              <a:t>(embedding-based methods or simpler analysis pipelines) would not be sufficient.</a:t>
            </a:r>
          </a:p>
          <a:p>
            <a:pPr algn="l">
              <a:lnSpc>
                <a:spcPct val="110000"/>
              </a:lnSpc>
            </a:pPr>
            <a:r>
              <a:rPr lang="en-US" altLang="zh-CN" sz="1400"/>
              <a:t>Scheduling Advisor: unclear </a:t>
            </a:r>
            <a:r>
              <a:rPr lang="en-US" altLang="zh-CN" sz="1400" b="1"/>
              <a:t>how sensitive predictions are to the choice of T and k</a:t>
            </a:r>
            <a:r>
              <a:rPr lang="en-US" altLang="zh-CN" sz="1400"/>
              <a:t>, and how the system behaves when semantically similar jobs still have very different runtimes due to configuration choices.</a:t>
            </a:r>
          </a:p>
          <a:p>
            <a:pPr algn="l">
              <a:lnSpc>
                <a:spcPct val="110000"/>
              </a:lnSpc>
            </a:pPr>
            <a:r>
              <a:rPr lang="en-US" altLang="zh-CN" sz="1400"/>
              <a:t>The </a:t>
            </a:r>
            <a:r>
              <a:rPr lang="en-US" altLang="zh-CN" sz="1400" b="1"/>
              <a:t>Failure Handler seems loosely connected</a:t>
            </a:r>
            <a:r>
              <a:rPr lang="en-US" altLang="zh-CN" sz="1400"/>
              <a:t> to the main scheduling design. It appears more like an auxiliary log-analysis tool than a core part of the scheduling system.</a:t>
            </a:r>
          </a:p>
          <a:p>
            <a:pPr marL="0" indent="0" algn="l">
              <a:lnSpc>
                <a:spcPct val="110000"/>
              </a:lnSpc>
              <a:buNone/>
            </a:pPr>
            <a:r>
              <a:rPr lang="en-US" altLang="zh-CN" sz="1600" b="1">
                <a:solidFill>
                  <a:srgbClr val="1565C0"/>
                </a:solidFill>
              </a:rPr>
              <a:t>Comments for authors:</a:t>
            </a:r>
          </a:p>
          <a:p>
            <a:pPr algn="l">
              <a:lnSpc>
                <a:spcPct val="110000"/>
              </a:lnSpc>
            </a:pPr>
            <a:r>
              <a:rPr lang="en-US" altLang="zh-CN" sz="1400"/>
              <a:t>The paper would benefit from more clearly </a:t>
            </a:r>
            <a:r>
              <a:rPr lang="en-US" altLang="zh-CN" sz="1400" b="1"/>
              <a:t>articulating its core systems contribution</a:t>
            </a:r>
            <a:r>
              <a:rPr lang="en-US" altLang="zh-CN" sz="1400"/>
              <a:t>. Clarifying </a:t>
            </a:r>
            <a:r>
              <a:rPr lang="en-US" altLang="zh-CN" sz="1400" b="1"/>
              <a:t>what scheduling capabilities become possible</a:t>
            </a:r>
            <a:r>
              <a:rPr lang="en-US" altLang="zh-CN" sz="1400"/>
              <a:t> with the proposed LLM-based semantic extraction, and </a:t>
            </a:r>
            <a:r>
              <a:rPr lang="en-US" altLang="zh-CN" sz="1400" b="1"/>
              <a:t>why these capabilities cannot be achieved with simpler techniques</a:t>
            </a:r>
            <a:r>
              <a:rPr lang="en-US" altLang="zh-CN" sz="1400"/>
              <a:t>, would significantly strengthen the work.</a:t>
            </a:r>
          </a:p>
        </p:txBody>
      </p:sp>
    </p:spTree>
    <p:extLst>
      <p:ext uri="{BB962C8B-B14F-4D97-AF65-F5344CB8AC3E}">
        <p14:creationId xmlns:p14="http://schemas.microsoft.com/office/powerpoint/2010/main" val="2745944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779E0F-FEAF-1C0F-07D0-C3D53F2E3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11205-FB38-88BA-1153-FEB254E05B8D}"/>
              </a:ext>
            </a:extLst>
          </p:cNvPr>
          <p:cNvSpPr>
            <a:spLocks noGrp="1"/>
          </p:cNvSpPr>
          <p:nvPr>
            <p:ph type="title"/>
          </p:nvPr>
        </p:nvSpPr>
        <p:spPr>
          <a:xfrm>
            <a:off x="221974" y="100000"/>
            <a:ext cx="10515600" cy="550000"/>
          </a:xfrm>
        </p:spPr>
        <p:txBody>
          <a:bodyPr/>
          <a:lstStyle/>
          <a:p>
            <a:r>
              <a:rPr kumimoji="1" lang="en-US" altLang="zh-CN" sz="2400"/>
              <a:t>Review #232A</a:t>
            </a:r>
            <a:endParaRPr kumimoji="1" lang="zh-CN" altLang="en-US"/>
          </a:p>
        </p:txBody>
      </p:sp>
      <p:sp>
        <p:nvSpPr>
          <p:cNvPr id="4" name="Content 3">
            <a:extLst>
              <a:ext uri="{FF2B5EF4-FFF2-40B4-BE49-F238E27FC236}">
                <a16:creationId xmlns:a16="http://schemas.microsoft.com/office/drawing/2014/main" id="{CD51BAC0-99BA-AAA5-9AFA-07C1A83CDD19}"/>
              </a:ext>
            </a:extLst>
          </p:cNvPr>
          <p:cNvSpPr>
            <a:spLocks noGrp="1"/>
          </p:cNvSpPr>
          <p:nvPr>
            <p:ph idx="1"/>
          </p:nvPr>
        </p:nvSpPr>
        <p:spPr>
          <a:xfrm>
            <a:off x="221974" y="1268960"/>
            <a:ext cx="11700000" cy="4796560"/>
          </a:xfrm>
        </p:spPr>
        <p:txBody>
          <a:bodyPr>
            <a:normAutofit/>
          </a:bodyPr>
          <a:lstStyle/>
          <a:p>
            <a:pPr marL="0" indent="0" algn="l">
              <a:lnSpc>
                <a:spcPct val="110000"/>
              </a:lnSpc>
              <a:buNone/>
            </a:pPr>
            <a:r>
              <a:rPr lang="en-US" altLang="zh-CN" sz="1600" b="1">
                <a:solidFill>
                  <a:srgbClr val="C62828"/>
                </a:solidFill>
              </a:rPr>
              <a:t>Weaknesses:</a:t>
            </a:r>
          </a:p>
          <a:p>
            <a:pPr algn="l">
              <a:lnSpc>
                <a:spcPct val="110000"/>
              </a:lnSpc>
            </a:pPr>
            <a:r>
              <a:rPr lang="en-US" altLang="zh-CN" sz="1400"/>
              <a:t>It is </a:t>
            </a:r>
            <a:r>
              <a:rPr lang="en-US" altLang="zh-CN" sz="1400" b="1"/>
              <a:t>unclear what the fundamental technical challenge </a:t>
            </a:r>
            <a:r>
              <a:rPr lang="en-US" altLang="zh-CN" sz="1400"/>
              <a:t>is beyond applying LLM-based information extraction, or which </a:t>
            </a:r>
            <a:r>
              <a:rPr lang="en-US" altLang="zh-CN" sz="1400" b="1"/>
              <a:t>new system abstractions, scheduling mechanisms, or design principles</a:t>
            </a:r>
            <a:r>
              <a:rPr lang="en-US" altLang="zh-CN" sz="1400"/>
              <a:t> are introduced as a result.</a:t>
            </a:r>
            <a:r>
              <a:rPr lang="zh-CN" altLang="en-US" sz="1400"/>
              <a:t> </a:t>
            </a:r>
            <a:r>
              <a:rPr lang="zh-CN" altLang="en-US" sz="1400" b="1"/>
              <a:t>没有明显技术挑战</a:t>
            </a:r>
            <a:endParaRPr lang="en-US" altLang="zh-CN" sz="1400" b="1"/>
          </a:p>
          <a:p>
            <a:pPr algn="l">
              <a:lnSpc>
                <a:spcPct val="110000"/>
              </a:lnSpc>
            </a:pPr>
            <a:r>
              <a:rPr lang="en-US" altLang="zh-CN" sz="1400">
                <a:solidFill>
                  <a:schemeClr val="bg1">
                    <a:lumMod val="85000"/>
                  </a:schemeClr>
                </a:solidFill>
              </a:rPr>
              <a:t>The motivation largely frames the problem as </a:t>
            </a:r>
            <a:r>
              <a:rPr lang="en-US" altLang="zh-CN" sz="1400" b="1">
                <a:solidFill>
                  <a:schemeClr val="bg1">
                    <a:lumMod val="85000"/>
                  </a:schemeClr>
                </a:solidFill>
              </a:rPr>
              <a:t>“LLMs are better tools” rather than as a new systems problem</a:t>
            </a:r>
            <a:r>
              <a:rPr lang="en-US" altLang="zh-CN" sz="1400">
                <a:solidFill>
                  <a:schemeClr val="bg1">
                    <a:lumMod val="85000"/>
                  </a:schemeClr>
                </a:solidFill>
              </a:rPr>
              <a:t>. It remains unclear why </a:t>
            </a:r>
            <a:r>
              <a:rPr lang="en-US" altLang="zh-CN" sz="1400" b="1">
                <a:solidFill>
                  <a:schemeClr val="bg1">
                    <a:lumMod val="85000"/>
                  </a:schemeClr>
                </a:solidFill>
              </a:rPr>
              <a:t>lighter-weight approaches </a:t>
            </a:r>
            <a:r>
              <a:rPr lang="en-US" altLang="zh-CN" sz="1400">
                <a:solidFill>
                  <a:schemeClr val="bg1">
                    <a:lumMod val="85000"/>
                  </a:schemeClr>
                </a:solidFill>
              </a:rPr>
              <a:t>(embedding-based methods or simpler analysis pipelines) would not be sufficient.</a:t>
            </a:r>
          </a:p>
          <a:p>
            <a:pPr algn="l">
              <a:lnSpc>
                <a:spcPct val="110000"/>
              </a:lnSpc>
            </a:pPr>
            <a:r>
              <a:rPr lang="en-US" altLang="zh-CN" sz="1400">
                <a:solidFill>
                  <a:schemeClr val="bg1">
                    <a:lumMod val="85000"/>
                  </a:schemeClr>
                </a:solidFill>
              </a:rPr>
              <a:t>Scheduling Advisor: unclear </a:t>
            </a:r>
            <a:r>
              <a:rPr lang="en-US" altLang="zh-CN" sz="1400" b="1">
                <a:solidFill>
                  <a:schemeClr val="bg1">
                    <a:lumMod val="85000"/>
                  </a:schemeClr>
                </a:solidFill>
              </a:rPr>
              <a:t>how sensitive predictions are to the choice of T and k</a:t>
            </a:r>
            <a:r>
              <a:rPr lang="en-US" altLang="zh-CN" sz="1400">
                <a:solidFill>
                  <a:schemeClr val="bg1">
                    <a:lumMod val="85000"/>
                  </a:schemeClr>
                </a:solidFill>
              </a:rPr>
              <a:t>, and how the system behaves when semantically similar jobs still have very different runtimes due to configuration choices.</a:t>
            </a:r>
          </a:p>
          <a:p>
            <a:pPr algn="l">
              <a:lnSpc>
                <a:spcPct val="110000"/>
              </a:lnSpc>
            </a:pPr>
            <a:r>
              <a:rPr lang="en-US" altLang="zh-CN" sz="1400">
                <a:solidFill>
                  <a:schemeClr val="bg1">
                    <a:lumMod val="85000"/>
                  </a:schemeClr>
                </a:solidFill>
              </a:rPr>
              <a:t>The </a:t>
            </a:r>
            <a:r>
              <a:rPr lang="en-US" altLang="zh-CN" sz="1400" b="1">
                <a:solidFill>
                  <a:schemeClr val="bg1">
                    <a:lumMod val="85000"/>
                  </a:schemeClr>
                </a:solidFill>
              </a:rPr>
              <a:t>Failure Handler seems loosely connected</a:t>
            </a:r>
            <a:r>
              <a:rPr lang="en-US" altLang="zh-CN" sz="1400">
                <a:solidFill>
                  <a:schemeClr val="bg1">
                    <a:lumMod val="85000"/>
                  </a:schemeClr>
                </a:solidFill>
              </a:rPr>
              <a:t> to the main scheduling design. It appears more like an auxiliary log-analysis tool than a core part of the scheduling system.</a:t>
            </a:r>
          </a:p>
          <a:p>
            <a:pPr marL="0" indent="0" algn="l">
              <a:lnSpc>
                <a:spcPct val="110000"/>
              </a:lnSpc>
              <a:buNone/>
            </a:pPr>
            <a:r>
              <a:rPr lang="en-US" altLang="zh-CN" sz="1600" b="1">
                <a:solidFill>
                  <a:schemeClr val="bg1">
                    <a:lumMod val="85000"/>
                  </a:schemeClr>
                </a:solidFill>
              </a:rPr>
              <a:t>Comments for authors:</a:t>
            </a:r>
          </a:p>
          <a:p>
            <a:pPr algn="l">
              <a:lnSpc>
                <a:spcPct val="110000"/>
              </a:lnSpc>
            </a:pPr>
            <a:r>
              <a:rPr lang="en-US" altLang="zh-CN" sz="1400">
                <a:solidFill>
                  <a:schemeClr val="bg1">
                    <a:lumMod val="85000"/>
                  </a:schemeClr>
                </a:solidFill>
              </a:rPr>
              <a:t>The paper would benefit from more clearly </a:t>
            </a:r>
            <a:r>
              <a:rPr lang="en-US" altLang="zh-CN" sz="1400" b="1">
                <a:solidFill>
                  <a:schemeClr val="bg1">
                    <a:lumMod val="85000"/>
                  </a:schemeClr>
                </a:solidFill>
              </a:rPr>
              <a:t>articulating its core systems contribution</a:t>
            </a:r>
            <a:r>
              <a:rPr lang="en-US" altLang="zh-CN" sz="1400">
                <a:solidFill>
                  <a:schemeClr val="bg1">
                    <a:lumMod val="85000"/>
                  </a:schemeClr>
                </a:solidFill>
              </a:rPr>
              <a:t>. Clarifying </a:t>
            </a:r>
            <a:r>
              <a:rPr lang="en-US" altLang="zh-CN" sz="1400" b="1">
                <a:solidFill>
                  <a:schemeClr val="bg1">
                    <a:lumMod val="85000"/>
                  </a:schemeClr>
                </a:solidFill>
              </a:rPr>
              <a:t>what scheduling capabilities become possible</a:t>
            </a:r>
            <a:r>
              <a:rPr lang="en-US" altLang="zh-CN" sz="1400">
                <a:solidFill>
                  <a:schemeClr val="bg1">
                    <a:lumMod val="85000"/>
                  </a:schemeClr>
                </a:solidFill>
              </a:rPr>
              <a:t> with the proposed LLM-based semantic extraction, and </a:t>
            </a:r>
            <a:r>
              <a:rPr lang="en-US" altLang="zh-CN" sz="1400" b="1">
                <a:solidFill>
                  <a:schemeClr val="bg1">
                    <a:lumMod val="85000"/>
                  </a:schemeClr>
                </a:solidFill>
              </a:rPr>
              <a:t>why these capabilities cannot be achieved with simpler techniques</a:t>
            </a:r>
            <a:r>
              <a:rPr lang="en-US" altLang="zh-CN" sz="1400">
                <a:solidFill>
                  <a:schemeClr val="bg1">
                    <a:lumMod val="85000"/>
                  </a:schemeClr>
                </a:solidFill>
              </a:rPr>
              <a:t>, would significantly strengthen the work.</a:t>
            </a:r>
          </a:p>
        </p:txBody>
      </p:sp>
    </p:spTree>
    <p:extLst>
      <p:ext uri="{BB962C8B-B14F-4D97-AF65-F5344CB8AC3E}">
        <p14:creationId xmlns:p14="http://schemas.microsoft.com/office/powerpoint/2010/main" val="21574611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B01A3-8711-1F28-B30F-DCF61BB40F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C0FFF9-BE7B-3718-60A9-836089F383FB}"/>
              </a:ext>
            </a:extLst>
          </p:cNvPr>
          <p:cNvSpPr>
            <a:spLocks noGrp="1"/>
          </p:cNvSpPr>
          <p:nvPr>
            <p:ph type="title"/>
          </p:nvPr>
        </p:nvSpPr>
        <p:spPr>
          <a:xfrm>
            <a:off x="221974" y="100000"/>
            <a:ext cx="10515600" cy="550000"/>
          </a:xfrm>
        </p:spPr>
        <p:txBody>
          <a:bodyPr/>
          <a:lstStyle/>
          <a:p>
            <a:r>
              <a:rPr kumimoji="1" lang="en-US" altLang="zh-CN" sz="2400"/>
              <a:t>Review #232A</a:t>
            </a:r>
            <a:endParaRPr kumimoji="1" lang="zh-CN" altLang="en-US"/>
          </a:p>
        </p:txBody>
      </p:sp>
      <p:sp>
        <p:nvSpPr>
          <p:cNvPr id="4" name="Content 3">
            <a:extLst>
              <a:ext uri="{FF2B5EF4-FFF2-40B4-BE49-F238E27FC236}">
                <a16:creationId xmlns:a16="http://schemas.microsoft.com/office/drawing/2014/main" id="{5562A8A5-30D3-BBEB-0C57-B896BF2993B1}"/>
              </a:ext>
            </a:extLst>
          </p:cNvPr>
          <p:cNvSpPr>
            <a:spLocks noGrp="1"/>
          </p:cNvSpPr>
          <p:nvPr>
            <p:ph idx="1"/>
          </p:nvPr>
        </p:nvSpPr>
        <p:spPr>
          <a:xfrm>
            <a:off x="221974" y="1268960"/>
            <a:ext cx="11700000" cy="4796560"/>
          </a:xfrm>
        </p:spPr>
        <p:txBody>
          <a:bodyPr>
            <a:normAutofit/>
          </a:bodyPr>
          <a:lstStyle/>
          <a:p>
            <a:pPr marL="0" indent="0" algn="l">
              <a:lnSpc>
                <a:spcPct val="110000"/>
              </a:lnSpc>
              <a:buNone/>
            </a:pPr>
            <a:r>
              <a:rPr lang="en-US" altLang="zh-CN" sz="1600" b="1">
                <a:solidFill>
                  <a:srgbClr val="C62828"/>
                </a:solidFill>
              </a:rPr>
              <a:t>Weaknesses:</a:t>
            </a:r>
          </a:p>
          <a:p>
            <a:pPr algn="l">
              <a:lnSpc>
                <a:spcPct val="110000"/>
              </a:lnSpc>
            </a:pPr>
            <a:r>
              <a:rPr lang="en-US" altLang="zh-CN" sz="1400">
                <a:solidFill>
                  <a:schemeClr val="bg1">
                    <a:lumMod val="85000"/>
                  </a:schemeClr>
                </a:solidFill>
              </a:rPr>
              <a:t>It is </a:t>
            </a:r>
            <a:r>
              <a:rPr lang="en-US" altLang="zh-CN" sz="1400" b="1">
                <a:solidFill>
                  <a:schemeClr val="bg1">
                    <a:lumMod val="85000"/>
                  </a:schemeClr>
                </a:solidFill>
              </a:rPr>
              <a:t>unclear what the fundamental technical challenge </a:t>
            </a:r>
            <a:r>
              <a:rPr lang="en-US" altLang="zh-CN" sz="1400">
                <a:solidFill>
                  <a:schemeClr val="bg1">
                    <a:lumMod val="85000"/>
                  </a:schemeClr>
                </a:solidFill>
              </a:rPr>
              <a:t>is beyond applying LLM-based information extraction, or which </a:t>
            </a:r>
            <a:r>
              <a:rPr lang="en-US" altLang="zh-CN" sz="1400" b="1">
                <a:solidFill>
                  <a:schemeClr val="bg1">
                    <a:lumMod val="85000"/>
                  </a:schemeClr>
                </a:solidFill>
              </a:rPr>
              <a:t>new system abstractions, scheduling mechanisms, or design principles</a:t>
            </a:r>
            <a:r>
              <a:rPr lang="en-US" altLang="zh-CN" sz="1400">
                <a:solidFill>
                  <a:schemeClr val="bg1">
                    <a:lumMod val="85000"/>
                  </a:schemeClr>
                </a:solidFill>
              </a:rPr>
              <a:t> are introduced as a result.</a:t>
            </a:r>
          </a:p>
          <a:p>
            <a:pPr algn="l">
              <a:lnSpc>
                <a:spcPct val="110000"/>
              </a:lnSpc>
            </a:pPr>
            <a:r>
              <a:rPr lang="en-US" altLang="zh-CN" sz="1400"/>
              <a:t>The motivation largely frames the problem as </a:t>
            </a:r>
            <a:r>
              <a:rPr lang="en-US" altLang="zh-CN" sz="1400" b="1"/>
              <a:t>“LLMs are better tools” rather than as a new systems problem</a:t>
            </a:r>
            <a:r>
              <a:rPr lang="en-US" altLang="zh-CN" sz="1400"/>
              <a:t>. It remains unclear why </a:t>
            </a:r>
            <a:r>
              <a:rPr lang="en-US" altLang="zh-CN" sz="1400" b="1"/>
              <a:t>lighter-weight approaches </a:t>
            </a:r>
            <a:r>
              <a:rPr lang="en-US" altLang="zh-CN" sz="1400"/>
              <a:t>(embedding-based methods or simpler analysis pipelines) would not be sufficient.</a:t>
            </a:r>
            <a:r>
              <a:rPr lang="zh-CN" altLang="en-US" sz="1400"/>
              <a:t> </a:t>
            </a:r>
            <a:endParaRPr lang="en-US" altLang="zh-CN" sz="1400"/>
          </a:p>
          <a:p>
            <a:pPr marL="0" indent="0" algn="l">
              <a:lnSpc>
                <a:spcPct val="110000"/>
              </a:lnSpc>
              <a:buNone/>
            </a:pPr>
            <a:r>
              <a:rPr lang="zh-CN" altLang="en-US" sz="1400" b="1"/>
              <a:t>     没有与轻量级方法对比</a:t>
            </a:r>
            <a:endParaRPr lang="en-US" altLang="zh-CN" sz="1400" b="1"/>
          </a:p>
          <a:p>
            <a:pPr algn="l">
              <a:lnSpc>
                <a:spcPct val="110000"/>
              </a:lnSpc>
            </a:pPr>
            <a:r>
              <a:rPr lang="en-US" altLang="zh-CN" sz="1400">
                <a:solidFill>
                  <a:schemeClr val="bg1">
                    <a:lumMod val="85000"/>
                  </a:schemeClr>
                </a:solidFill>
              </a:rPr>
              <a:t>Scheduling Advisor: unclear </a:t>
            </a:r>
            <a:r>
              <a:rPr lang="en-US" altLang="zh-CN" sz="1400" b="1">
                <a:solidFill>
                  <a:schemeClr val="bg1">
                    <a:lumMod val="85000"/>
                  </a:schemeClr>
                </a:solidFill>
              </a:rPr>
              <a:t>how sensitive predictions are to the choice of T and k</a:t>
            </a:r>
            <a:r>
              <a:rPr lang="en-US" altLang="zh-CN" sz="1400">
                <a:solidFill>
                  <a:schemeClr val="bg1">
                    <a:lumMod val="85000"/>
                  </a:schemeClr>
                </a:solidFill>
              </a:rPr>
              <a:t>, and how the system behaves when semantically similar jobs still have very different runtimes due to configuration choices.</a:t>
            </a:r>
          </a:p>
          <a:p>
            <a:pPr algn="l">
              <a:lnSpc>
                <a:spcPct val="110000"/>
              </a:lnSpc>
            </a:pPr>
            <a:r>
              <a:rPr lang="en-US" altLang="zh-CN" sz="1400">
                <a:solidFill>
                  <a:schemeClr val="bg1">
                    <a:lumMod val="85000"/>
                  </a:schemeClr>
                </a:solidFill>
              </a:rPr>
              <a:t>The </a:t>
            </a:r>
            <a:r>
              <a:rPr lang="en-US" altLang="zh-CN" sz="1400" b="1">
                <a:solidFill>
                  <a:schemeClr val="bg1">
                    <a:lumMod val="85000"/>
                  </a:schemeClr>
                </a:solidFill>
              </a:rPr>
              <a:t>Failure Handler seems loosely connected</a:t>
            </a:r>
            <a:r>
              <a:rPr lang="en-US" altLang="zh-CN" sz="1400">
                <a:solidFill>
                  <a:schemeClr val="bg1">
                    <a:lumMod val="85000"/>
                  </a:schemeClr>
                </a:solidFill>
              </a:rPr>
              <a:t> to the main scheduling design. It appears more like an auxiliary log-analysis tool than a core part of the scheduling system.</a:t>
            </a:r>
          </a:p>
          <a:p>
            <a:pPr marL="0" indent="0" algn="l">
              <a:lnSpc>
                <a:spcPct val="110000"/>
              </a:lnSpc>
              <a:buNone/>
            </a:pPr>
            <a:r>
              <a:rPr lang="en-US" altLang="zh-CN" sz="1600" b="1">
                <a:solidFill>
                  <a:schemeClr val="bg1">
                    <a:lumMod val="85000"/>
                  </a:schemeClr>
                </a:solidFill>
              </a:rPr>
              <a:t>Comments for authors:</a:t>
            </a:r>
          </a:p>
          <a:p>
            <a:pPr algn="l">
              <a:lnSpc>
                <a:spcPct val="110000"/>
              </a:lnSpc>
            </a:pPr>
            <a:r>
              <a:rPr lang="en-US" altLang="zh-CN" sz="1400">
                <a:solidFill>
                  <a:schemeClr val="bg1">
                    <a:lumMod val="85000"/>
                  </a:schemeClr>
                </a:solidFill>
              </a:rPr>
              <a:t>The paper would benefit from more clearly </a:t>
            </a:r>
            <a:r>
              <a:rPr lang="en-US" altLang="zh-CN" sz="1400" b="1">
                <a:solidFill>
                  <a:schemeClr val="bg1">
                    <a:lumMod val="85000"/>
                  </a:schemeClr>
                </a:solidFill>
              </a:rPr>
              <a:t>articulating its core systems contribution</a:t>
            </a:r>
            <a:r>
              <a:rPr lang="en-US" altLang="zh-CN" sz="1400">
                <a:solidFill>
                  <a:schemeClr val="bg1">
                    <a:lumMod val="85000"/>
                  </a:schemeClr>
                </a:solidFill>
              </a:rPr>
              <a:t>. Clarifying </a:t>
            </a:r>
            <a:r>
              <a:rPr lang="en-US" altLang="zh-CN" sz="1400" b="1">
                <a:solidFill>
                  <a:schemeClr val="bg1">
                    <a:lumMod val="85000"/>
                  </a:schemeClr>
                </a:solidFill>
              </a:rPr>
              <a:t>what scheduling capabilities become possible</a:t>
            </a:r>
            <a:r>
              <a:rPr lang="en-US" altLang="zh-CN" sz="1400">
                <a:solidFill>
                  <a:schemeClr val="bg1">
                    <a:lumMod val="85000"/>
                  </a:schemeClr>
                </a:solidFill>
              </a:rPr>
              <a:t> with the proposed LLM-based semantic extraction, and </a:t>
            </a:r>
            <a:r>
              <a:rPr lang="en-US" altLang="zh-CN" sz="1400" b="1">
                <a:solidFill>
                  <a:schemeClr val="bg1">
                    <a:lumMod val="85000"/>
                  </a:schemeClr>
                </a:solidFill>
              </a:rPr>
              <a:t>why these capabilities cannot be achieved with simpler techniques</a:t>
            </a:r>
            <a:r>
              <a:rPr lang="en-US" altLang="zh-CN" sz="1400">
                <a:solidFill>
                  <a:schemeClr val="bg1">
                    <a:lumMod val="85000"/>
                  </a:schemeClr>
                </a:solidFill>
              </a:rPr>
              <a:t>, would significantly strengthen the work.</a:t>
            </a:r>
          </a:p>
        </p:txBody>
      </p:sp>
    </p:spTree>
    <p:extLst>
      <p:ext uri="{BB962C8B-B14F-4D97-AF65-F5344CB8AC3E}">
        <p14:creationId xmlns:p14="http://schemas.microsoft.com/office/powerpoint/2010/main" val="6795953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6AAA1-97C1-8A01-315C-7336D6168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63E03-16B8-920A-82C7-FCB5FF29D867}"/>
              </a:ext>
            </a:extLst>
          </p:cNvPr>
          <p:cNvSpPr>
            <a:spLocks noGrp="1"/>
          </p:cNvSpPr>
          <p:nvPr>
            <p:ph type="title"/>
          </p:nvPr>
        </p:nvSpPr>
        <p:spPr>
          <a:xfrm>
            <a:off x="221974" y="100000"/>
            <a:ext cx="10515600" cy="550000"/>
          </a:xfrm>
        </p:spPr>
        <p:txBody>
          <a:bodyPr/>
          <a:lstStyle/>
          <a:p>
            <a:r>
              <a:rPr kumimoji="1" lang="en-US" altLang="zh-CN" sz="2400"/>
              <a:t>Review #232A</a:t>
            </a:r>
            <a:endParaRPr kumimoji="1" lang="zh-CN" altLang="en-US"/>
          </a:p>
        </p:txBody>
      </p:sp>
      <p:sp>
        <p:nvSpPr>
          <p:cNvPr id="4" name="Content 3">
            <a:extLst>
              <a:ext uri="{FF2B5EF4-FFF2-40B4-BE49-F238E27FC236}">
                <a16:creationId xmlns:a16="http://schemas.microsoft.com/office/drawing/2014/main" id="{61B9BFA3-128C-B9DA-9B8A-DD09CD7174A9}"/>
              </a:ext>
            </a:extLst>
          </p:cNvPr>
          <p:cNvSpPr>
            <a:spLocks noGrp="1"/>
          </p:cNvSpPr>
          <p:nvPr>
            <p:ph idx="1"/>
          </p:nvPr>
        </p:nvSpPr>
        <p:spPr>
          <a:xfrm>
            <a:off x="221974" y="1268960"/>
            <a:ext cx="11700000" cy="4796560"/>
          </a:xfrm>
        </p:spPr>
        <p:txBody>
          <a:bodyPr>
            <a:normAutofit/>
          </a:bodyPr>
          <a:lstStyle/>
          <a:p>
            <a:pPr marL="0" indent="0" algn="l">
              <a:lnSpc>
                <a:spcPct val="110000"/>
              </a:lnSpc>
              <a:buNone/>
            </a:pPr>
            <a:r>
              <a:rPr lang="en-US" altLang="zh-CN" sz="1600" b="1">
                <a:solidFill>
                  <a:srgbClr val="C62828"/>
                </a:solidFill>
              </a:rPr>
              <a:t>Weaknesses:</a:t>
            </a:r>
          </a:p>
          <a:p>
            <a:pPr algn="l">
              <a:lnSpc>
                <a:spcPct val="110000"/>
              </a:lnSpc>
            </a:pPr>
            <a:r>
              <a:rPr lang="en-US" altLang="zh-CN" sz="1400">
                <a:solidFill>
                  <a:schemeClr val="bg1">
                    <a:lumMod val="85000"/>
                  </a:schemeClr>
                </a:solidFill>
              </a:rPr>
              <a:t>It is </a:t>
            </a:r>
            <a:r>
              <a:rPr lang="en-US" altLang="zh-CN" sz="1400" b="1">
                <a:solidFill>
                  <a:schemeClr val="bg1">
                    <a:lumMod val="85000"/>
                  </a:schemeClr>
                </a:solidFill>
              </a:rPr>
              <a:t>unclear what the fundamental technical challenge </a:t>
            </a:r>
            <a:r>
              <a:rPr lang="en-US" altLang="zh-CN" sz="1400">
                <a:solidFill>
                  <a:schemeClr val="bg1">
                    <a:lumMod val="85000"/>
                  </a:schemeClr>
                </a:solidFill>
              </a:rPr>
              <a:t>is beyond applying LLM-based information extraction, or which </a:t>
            </a:r>
            <a:r>
              <a:rPr lang="en-US" altLang="zh-CN" sz="1400" b="1">
                <a:solidFill>
                  <a:schemeClr val="bg1">
                    <a:lumMod val="85000"/>
                  </a:schemeClr>
                </a:solidFill>
              </a:rPr>
              <a:t>new system abstractions, scheduling mechanisms, or design principles</a:t>
            </a:r>
            <a:r>
              <a:rPr lang="en-US" altLang="zh-CN" sz="1400">
                <a:solidFill>
                  <a:schemeClr val="bg1">
                    <a:lumMod val="85000"/>
                  </a:schemeClr>
                </a:solidFill>
              </a:rPr>
              <a:t> are introduced as a result.</a:t>
            </a:r>
          </a:p>
          <a:p>
            <a:pPr algn="l">
              <a:lnSpc>
                <a:spcPct val="110000"/>
              </a:lnSpc>
            </a:pPr>
            <a:r>
              <a:rPr lang="en-US" altLang="zh-CN" sz="1400">
                <a:solidFill>
                  <a:schemeClr val="bg1">
                    <a:lumMod val="85000"/>
                  </a:schemeClr>
                </a:solidFill>
              </a:rPr>
              <a:t>The motivation largely frames the problem as </a:t>
            </a:r>
            <a:r>
              <a:rPr lang="en-US" altLang="zh-CN" sz="1400" b="1">
                <a:solidFill>
                  <a:schemeClr val="bg1">
                    <a:lumMod val="85000"/>
                  </a:schemeClr>
                </a:solidFill>
              </a:rPr>
              <a:t>“LLMs are better tools” rather than as a new systems problem</a:t>
            </a:r>
            <a:r>
              <a:rPr lang="en-US" altLang="zh-CN" sz="1400">
                <a:solidFill>
                  <a:schemeClr val="bg1">
                    <a:lumMod val="85000"/>
                  </a:schemeClr>
                </a:solidFill>
              </a:rPr>
              <a:t>. It remains unclear why </a:t>
            </a:r>
            <a:r>
              <a:rPr lang="en-US" altLang="zh-CN" sz="1400" b="1">
                <a:solidFill>
                  <a:schemeClr val="bg1">
                    <a:lumMod val="85000"/>
                  </a:schemeClr>
                </a:solidFill>
              </a:rPr>
              <a:t>lighter-weight approaches </a:t>
            </a:r>
            <a:r>
              <a:rPr lang="en-US" altLang="zh-CN" sz="1400">
                <a:solidFill>
                  <a:schemeClr val="bg1">
                    <a:lumMod val="85000"/>
                  </a:schemeClr>
                </a:solidFill>
              </a:rPr>
              <a:t>(embedding-based methods or simpler analysis pipelines) would not be sufficient.</a:t>
            </a:r>
          </a:p>
          <a:p>
            <a:pPr algn="l">
              <a:lnSpc>
                <a:spcPct val="110000"/>
              </a:lnSpc>
            </a:pPr>
            <a:r>
              <a:rPr lang="en-US" altLang="zh-CN" sz="1400"/>
              <a:t>Scheduling Advisor: unclear </a:t>
            </a:r>
            <a:r>
              <a:rPr lang="en-US" altLang="zh-CN" sz="1400" b="1"/>
              <a:t>how sensitive predictions are to the choice of T and k</a:t>
            </a:r>
            <a:r>
              <a:rPr lang="en-US" altLang="zh-CN" sz="1400"/>
              <a:t>, and how the system behaves when semantically similar jobs still have very different runtimes due to configuration choices.</a:t>
            </a:r>
            <a:r>
              <a:rPr lang="zh-CN" altLang="en-US" sz="1400"/>
              <a:t> </a:t>
            </a:r>
            <a:r>
              <a:rPr lang="zh-CN" altLang="en-US" sz="1400" b="1"/>
              <a:t>消融实验</a:t>
            </a:r>
            <a:endParaRPr lang="en-US" altLang="zh-CN" sz="1400"/>
          </a:p>
          <a:p>
            <a:pPr algn="l">
              <a:lnSpc>
                <a:spcPct val="110000"/>
              </a:lnSpc>
            </a:pPr>
            <a:r>
              <a:rPr lang="en-US" altLang="zh-CN" sz="1400">
                <a:solidFill>
                  <a:schemeClr val="bg1">
                    <a:lumMod val="85000"/>
                  </a:schemeClr>
                </a:solidFill>
              </a:rPr>
              <a:t>The </a:t>
            </a:r>
            <a:r>
              <a:rPr lang="en-US" altLang="zh-CN" sz="1400" b="1">
                <a:solidFill>
                  <a:schemeClr val="bg1">
                    <a:lumMod val="85000"/>
                  </a:schemeClr>
                </a:solidFill>
              </a:rPr>
              <a:t>Failure Handler seems loosely connected</a:t>
            </a:r>
            <a:r>
              <a:rPr lang="en-US" altLang="zh-CN" sz="1400">
                <a:solidFill>
                  <a:schemeClr val="bg1">
                    <a:lumMod val="85000"/>
                  </a:schemeClr>
                </a:solidFill>
              </a:rPr>
              <a:t> to the main scheduling design. It appears more like an auxiliary log-analysis tool than a core part of the scheduling system.</a:t>
            </a:r>
          </a:p>
          <a:p>
            <a:pPr marL="0" indent="0" algn="l">
              <a:lnSpc>
                <a:spcPct val="110000"/>
              </a:lnSpc>
              <a:buNone/>
            </a:pPr>
            <a:r>
              <a:rPr lang="en-US" altLang="zh-CN" sz="1600" b="1">
                <a:solidFill>
                  <a:schemeClr val="bg1">
                    <a:lumMod val="85000"/>
                  </a:schemeClr>
                </a:solidFill>
              </a:rPr>
              <a:t>Comments for authors:</a:t>
            </a:r>
          </a:p>
          <a:p>
            <a:pPr algn="l">
              <a:lnSpc>
                <a:spcPct val="110000"/>
              </a:lnSpc>
            </a:pPr>
            <a:r>
              <a:rPr lang="en-US" altLang="zh-CN" sz="1400">
                <a:solidFill>
                  <a:schemeClr val="bg1">
                    <a:lumMod val="85000"/>
                  </a:schemeClr>
                </a:solidFill>
              </a:rPr>
              <a:t>The paper would benefit from more clearly </a:t>
            </a:r>
            <a:r>
              <a:rPr lang="en-US" altLang="zh-CN" sz="1400" b="1">
                <a:solidFill>
                  <a:schemeClr val="bg1">
                    <a:lumMod val="85000"/>
                  </a:schemeClr>
                </a:solidFill>
              </a:rPr>
              <a:t>articulating its core systems contribution</a:t>
            </a:r>
            <a:r>
              <a:rPr lang="en-US" altLang="zh-CN" sz="1400">
                <a:solidFill>
                  <a:schemeClr val="bg1">
                    <a:lumMod val="85000"/>
                  </a:schemeClr>
                </a:solidFill>
              </a:rPr>
              <a:t>. Clarifying </a:t>
            </a:r>
            <a:r>
              <a:rPr lang="en-US" altLang="zh-CN" sz="1400" b="1">
                <a:solidFill>
                  <a:schemeClr val="bg1">
                    <a:lumMod val="85000"/>
                  </a:schemeClr>
                </a:solidFill>
              </a:rPr>
              <a:t>what scheduling capabilities become possible</a:t>
            </a:r>
            <a:r>
              <a:rPr lang="en-US" altLang="zh-CN" sz="1400">
                <a:solidFill>
                  <a:schemeClr val="bg1">
                    <a:lumMod val="85000"/>
                  </a:schemeClr>
                </a:solidFill>
              </a:rPr>
              <a:t> with the proposed LLM-based semantic extraction, and </a:t>
            </a:r>
            <a:r>
              <a:rPr lang="en-US" altLang="zh-CN" sz="1400" b="1">
                <a:solidFill>
                  <a:schemeClr val="bg1">
                    <a:lumMod val="85000"/>
                  </a:schemeClr>
                </a:solidFill>
              </a:rPr>
              <a:t>why these capabilities cannot be achieved with simpler techniques</a:t>
            </a:r>
            <a:r>
              <a:rPr lang="en-US" altLang="zh-CN" sz="1400">
                <a:solidFill>
                  <a:schemeClr val="bg1">
                    <a:lumMod val="85000"/>
                  </a:schemeClr>
                </a:solidFill>
              </a:rPr>
              <a:t>, would significantly strengthen the work.</a:t>
            </a:r>
          </a:p>
        </p:txBody>
      </p:sp>
    </p:spTree>
    <p:extLst>
      <p:ext uri="{BB962C8B-B14F-4D97-AF65-F5344CB8AC3E}">
        <p14:creationId xmlns:p14="http://schemas.microsoft.com/office/powerpoint/2010/main" val="1661099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7C174-228D-C442-0DCE-D601FF45A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056C92-DEEC-938F-88A4-151F586C467A}"/>
              </a:ext>
            </a:extLst>
          </p:cNvPr>
          <p:cNvSpPr>
            <a:spLocks noGrp="1"/>
          </p:cNvSpPr>
          <p:nvPr>
            <p:ph type="title"/>
          </p:nvPr>
        </p:nvSpPr>
        <p:spPr>
          <a:xfrm>
            <a:off x="221974" y="100000"/>
            <a:ext cx="10515600" cy="550000"/>
          </a:xfrm>
        </p:spPr>
        <p:txBody>
          <a:bodyPr/>
          <a:lstStyle/>
          <a:p>
            <a:r>
              <a:rPr kumimoji="1" lang="en-US" altLang="zh-CN" sz="2400"/>
              <a:t>Review #232A</a:t>
            </a:r>
            <a:endParaRPr kumimoji="1" lang="zh-CN" altLang="en-US"/>
          </a:p>
        </p:txBody>
      </p:sp>
      <p:sp>
        <p:nvSpPr>
          <p:cNvPr id="4" name="Content 3">
            <a:extLst>
              <a:ext uri="{FF2B5EF4-FFF2-40B4-BE49-F238E27FC236}">
                <a16:creationId xmlns:a16="http://schemas.microsoft.com/office/drawing/2014/main" id="{66E0FCE7-905B-9CE4-B609-994049561A94}"/>
              </a:ext>
            </a:extLst>
          </p:cNvPr>
          <p:cNvSpPr>
            <a:spLocks noGrp="1"/>
          </p:cNvSpPr>
          <p:nvPr>
            <p:ph idx="1"/>
          </p:nvPr>
        </p:nvSpPr>
        <p:spPr>
          <a:xfrm>
            <a:off x="221974" y="1268960"/>
            <a:ext cx="11700000" cy="4796560"/>
          </a:xfrm>
        </p:spPr>
        <p:txBody>
          <a:bodyPr>
            <a:normAutofit/>
          </a:bodyPr>
          <a:lstStyle/>
          <a:p>
            <a:pPr marL="0" indent="0" algn="l">
              <a:lnSpc>
                <a:spcPct val="110000"/>
              </a:lnSpc>
              <a:buNone/>
            </a:pPr>
            <a:r>
              <a:rPr lang="en-US" altLang="zh-CN" sz="1600" b="1">
                <a:solidFill>
                  <a:srgbClr val="C62828"/>
                </a:solidFill>
              </a:rPr>
              <a:t>Weaknesses:</a:t>
            </a:r>
          </a:p>
          <a:p>
            <a:pPr algn="l">
              <a:lnSpc>
                <a:spcPct val="110000"/>
              </a:lnSpc>
            </a:pPr>
            <a:r>
              <a:rPr lang="en-US" altLang="zh-CN" sz="1400">
                <a:solidFill>
                  <a:schemeClr val="bg1">
                    <a:lumMod val="85000"/>
                  </a:schemeClr>
                </a:solidFill>
              </a:rPr>
              <a:t>It is </a:t>
            </a:r>
            <a:r>
              <a:rPr lang="en-US" altLang="zh-CN" sz="1400" b="1">
                <a:solidFill>
                  <a:schemeClr val="bg1">
                    <a:lumMod val="85000"/>
                  </a:schemeClr>
                </a:solidFill>
              </a:rPr>
              <a:t>unclear what the fundamental technical challenge </a:t>
            </a:r>
            <a:r>
              <a:rPr lang="en-US" altLang="zh-CN" sz="1400">
                <a:solidFill>
                  <a:schemeClr val="bg1">
                    <a:lumMod val="85000"/>
                  </a:schemeClr>
                </a:solidFill>
              </a:rPr>
              <a:t>is beyond applying LLM-based information extraction, or which </a:t>
            </a:r>
            <a:r>
              <a:rPr lang="en-US" altLang="zh-CN" sz="1400" b="1">
                <a:solidFill>
                  <a:schemeClr val="bg1">
                    <a:lumMod val="85000"/>
                  </a:schemeClr>
                </a:solidFill>
              </a:rPr>
              <a:t>new system abstractions, scheduling mechanisms, or design principles</a:t>
            </a:r>
            <a:r>
              <a:rPr lang="en-US" altLang="zh-CN" sz="1400">
                <a:solidFill>
                  <a:schemeClr val="bg1">
                    <a:lumMod val="85000"/>
                  </a:schemeClr>
                </a:solidFill>
              </a:rPr>
              <a:t> are introduced as a result.</a:t>
            </a:r>
          </a:p>
          <a:p>
            <a:pPr algn="l">
              <a:lnSpc>
                <a:spcPct val="110000"/>
              </a:lnSpc>
            </a:pPr>
            <a:r>
              <a:rPr lang="en-US" altLang="zh-CN" sz="1400">
                <a:solidFill>
                  <a:schemeClr val="bg1">
                    <a:lumMod val="85000"/>
                  </a:schemeClr>
                </a:solidFill>
              </a:rPr>
              <a:t>The motivation largely frames the problem as </a:t>
            </a:r>
            <a:r>
              <a:rPr lang="en-US" altLang="zh-CN" sz="1400" b="1">
                <a:solidFill>
                  <a:schemeClr val="bg1">
                    <a:lumMod val="85000"/>
                  </a:schemeClr>
                </a:solidFill>
              </a:rPr>
              <a:t>“LLMs are better tools” rather than as a new systems problem</a:t>
            </a:r>
            <a:r>
              <a:rPr lang="en-US" altLang="zh-CN" sz="1400">
                <a:solidFill>
                  <a:schemeClr val="bg1">
                    <a:lumMod val="85000"/>
                  </a:schemeClr>
                </a:solidFill>
              </a:rPr>
              <a:t>. It remains unclear why </a:t>
            </a:r>
            <a:r>
              <a:rPr lang="en-US" altLang="zh-CN" sz="1400" b="1">
                <a:solidFill>
                  <a:schemeClr val="bg1">
                    <a:lumMod val="85000"/>
                  </a:schemeClr>
                </a:solidFill>
              </a:rPr>
              <a:t>lighter-weight approaches </a:t>
            </a:r>
            <a:r>
              <a:rPr lang="en-US" altLang="zh-CN" sz="1400">
                <a:solidFill>
                  <a:schemeClr val="bg1">
                    <a:lumMod val="85000"/>
                  </a:schemeClr>
                </a:solidFill>
              </a:rPr>
              <a:t>(embedding-based methods or simpler analysis pipelines) would not be sufficient.</a:t>
            </a:r>
          </a:p>
          <a:p>
            <a:pPr algn="l">
              <a:lnSpc>
                <a:spcPct val="110000"/>
              </a:lnSpc>
            </a:pPr>
            <a:r>
              <a:rPr lang="en-US" altLang="zh-CN" sz="1400">
                <a:solidFill>
                  <a:schemeClr val="bg1">
                    <a:lumMod val="85000"/>
                  </a:schemeClr>
                </a:solidFill>
              </a:rPr>
              <a:t>Scheduling Advisor: unclear </a:t>
            </a:r>
            <a:r>
              <a:rPr lang="en-US" altLang="zh-CN" sz="1400" b="1">
                <a:solidFill>
                  <a:schemeClr val="bg1">
                    <a:lumMod val="85000"/>
                  </a:schemeClr>
                </a:solidFill>
              </a:rPr>
              <a:t>how sensitive predictions are to the choice of T and k</a:t>
            </a:r>
            <a:r>
              <a:rPr lang="en-US" altLang="zh-CN" sz="1400">
                <a:solidFill>
                  <a:schemeClr val="bg1">
                    <a:lumMod val="85000"/>
                  </a:schemeClr>
                </a:solidFill>
              </a:rPr>
              <a:t>, and how the system behaves when semantically similar jobs still have very different runtimes due to configuration choices.</a:t>
            </a:r>
          </a:p>
          <a:p>
            <a:pPr algn="l">
              <a:lnSpc>
                <a:spcPct val="110000"/>
              </a:lnSpc>
            </a:pPr>
            <a:r>
              <a:rPr lang="en-US" altLang="zh-CN" sz="1400"/>
              <a:t>The </a:t>
            </a:r>
            <a:r>
              <a:rPr lang="en-US" altLang="zh-CN" sz="1400" b="1"/>
              <a:t>Failure Handler seems loosely connected</a:t>
            </a:r>
            <a:r>
              <a:rPr lang="en-US" altLang="zh-CN" sz="1400"/>
              <a:t> to the main scheduling design. It appears more like an auxiliary log-analysis tool than a core part of the scheduling system.</a:t>
            </a:r>
            <a:r>
              <a:rPr lang="zh-CN" altLang="en-US" sz="1400"/>
              <a:t> </a:t>
            </a:r>
            <a:r>
              <a:rPr lang="en-US" altLang="zh-CN" sz="1400" b="1"/>
              <a:t>Failure</a:t>
            </a:r>
            <a:r>
              <a:rPr lang="zh-CN" altLang="en-US" sz="1400" b="1"/>
              <a:t> </a:t>
            </a:r>
            <a:r>
              <a:rPr lang="en-US" altLang="zh-CN" sz="1400" b="1"/>
              <a:t>Handler</a:t>
            </a:r>
            <a:r>
              <a:rPr lang="zh-CN" altLang="en-US" sz="1400" b="1"/>
              <a:t>似乎不是很关键</a:t>
            </a:r>
            <a:endParaRPr lang="en-US" altLang="zh-CN" sz="1400"/>
          </a:p>
          <a:p>
            <a:pPr marL="0" indent="0" algn="l">
              <a:lnSpc>
                <a:spcPct val="110000"/>
              </a:lnSpc>
              <a:buNone/>
            </a:pPr>
            <a:r>
              <a:rPr lang="en-US" altLang="zh-CN" sz="1600" b="1">
                <a:solidFill>
                  <a:schemeClr val="bg1">
                    <a:lumMod val="85000"/>
                  </a:schemeClr>
                </a:solidFill>
              </a:rPr>
              <a:t>Comments for authors:</a:t>
            </a:r>
          </a:p>
          <a:p>
            <a:pPr algn="l">
              <a:lnSpc>
                <a:spcPct val="110000"/>
              </a:lnSpc>
            </a:pPr>
            <a:r>
              <a:rPr lang="en-US" altLang="zh-CN" sz="1400">
                <a:solidFill>
                  <a:schemeClr val="bg1">
                    <a:lumMod val="85000"/>
                  </a:schemeClr>
                </a:solidFill>
              </a:rPr>
              <a:t>The paper would benefit from more clearly </a:t>
            </a:r>
            <a:r>
              <a:rPr lang="en-US" altLang="zh-CN" sz="1400" b="1">
                <a:solidFill>
                  <a:schemeClr val="bg1">
                    <a:lumMod val="85000"/>
                  </a:schemeClr>
                </a:solidFill>
              </a:rPr>
              <a:t>articulating its core systems contribution</a:t>
            </a:r>
            <a:r>
              <a:rPr lang="en-US" altLang="zh-CN" sz="1400">
                <a:solidFill>
                  <a:schemeClr val="bg1">
                    <a:lumMod val="85000"/>
                  </a:schemeClr>
                </a:solidFill>
              </a:rPr>
              <a:t>. Clarifying </a:t>
            </a:r>
            <a:r>
              <a:rPr lang="en-US" altLang="zh-CN" sz="1400" b="1">
                <a:solidFill>
                  <a:schemeClr val="bg1">
                    <a:lumMod val="85000"/>
                  </a:schemeClr>
                </a:solidFill>
              </a:rPr>
              <a:t>what scheduling capabilities become possible</a:t>
            </a:r>
            <a:r>
              <a:rPr lang="en-US" altLang="zh-CN" sz="1400">
                <a:solidFill>
                  <a:schemeClr val="bg1">
                    <a:lumMod val="85000"/>
                  </a:schemeClr>
                </a:solidFill>
              </a:rPr>
              <a:t> with the proposed LLM-based semantic extraction, and </a:t>
            </a:r>
            <a:r>
              <a:rPr lang="en-US" altLang="zh-CN" sz="1400" b="1">
                <a:solidFill>
                  <a:schemeClr val="bg1">
                    <a:lumMod val="85000"/>
                  </a:schemeClr>
                </a:solidFill>
              </a:rPr>
              <a:t>why these capabilities cannot be achieved with simpler techniques</a:t>
            </a:r>
            <a:r>
              <a:rPr lang="en-US" altLang="zh-CN" sz="1400">
                <a:solidFill>
                  <a:schemeClr val="bg1">
                    <a:lumMod val="85000"/>
                  </a:schemeClr>
                </a:solidFill>
              </a:rPr>
              <a:t>, would significantly strengthen the work.</a:t>
            </a:r>
          </a:p>
        </p:txBody>
      </p:sp>
    </p:spTree>
    <p:extLst>
      <p:ext uri="{BB962C8B-B14F-4D97-AF65-F5344CB8AC3E}">
        <p14:creationId xmlns:p14="http://schemas.microsoft.com/office/powerpoint/2010/main" val="15533154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BCD2C-24DD-D175-548F-B65A06351506}"/>
            </a:ext>
          </a:extLst>
        </p:cNvPr>
        <p:cNvGrpSpPr/>
        <p:nvPr/>
      </p:nvGrpSpPr>
      <p:grpSpPr>
        <a:xfrm>
          <a:off x="0" y="0"/>
          <a:ext cx="0" cy="0"/>
          <a:chOff x="0" y="0"/>
          <a:chExt cx="0" cy="0"/>
        </a:xfrm>
      </p:grpSpPr>
      <p:sp>
        <p:nvSpPr>
          <p:cNvPr id="2" name="Title 1"/>
          <p:cNvSpPr>
            <a:spLocks noGrp="1"/>
          </p:cNvSpPr>
          <p:nvPr>
            <p:ph type="title"/>
          </p:nvPr>
        </p:nvSpPr>
        <p:spPr>
          <a:xfrm>
            <a:off x="221974" y="100000"/>
            <a:ext cx="10515600" cy="550000"/>
          </a:xfrm>
        </p:spPr>
        <p:txBody>
          <a:bodyPr/>
          <a:lstStyle/>
          <a:p>
            <a:r>
              <a:rPr kumimoji="1" lang="en-US" altLang="zh-CN" sz="2400"/>
              <a:t>Review #232B</a:t>
            </a:r>
            <a:endParaRPr kumimoji="1" lang="zh-CN" altLang="en-US"/>
          </a:p>
        </p:txBody>
      </p:sp>
      <p:sp>
        <p:nvSpPr>
          <p:cNvPr id="4" name="Content 3"/>
          <p:cNvSpPr>
            <a:spLocks noGrp="1"/>
          </p:cNvSpPr>
          <p:nvPr>
            <p:ph idx="1"/>
          </p:nvPr>
        </p:nvSpPr>
        <p:spPr>
          <a:xfrm>
            <a:off x="221974" y="923520"/>
            <a:ext cx="11700000" cy="4867680"/>
          </a:xfrm>
        </p:spPr>
        <p:txBody>
          <a:bodyPr>
            <a:normAutofit/>
          </a:bodyPr>
          <a:lstStyle/>
          <a:p>
            <a:pPr marL="0" indent="0">
              <a:lnSpc>
                <a:spcPct val="110000"/>
              </a:lnSpc>
              <a:buFont typeface="Arial" panose="020B0604020202020204" pitchFamily="34" charset="0"/>
              <a:buNone/>
            </a:pPr>
            <a:r>
              <a:rPr lang="en-US" altLang="zh-CN" sz="1600" b="1">
                <a:solidFill>
                  <a:srgbClr val="C00000"/>
                </a:solidFill>
              </a:rPr>
              <a:t>Weaknesses:</a:t>
            </a:r>
          </a:p>
          <a:p>
            <a:pPr>
              <a:lnSpc>
                <a:spcPct val="100000"/>
              </a:lnSpc>
            </a:pPr>
            <a:r>
              <a:rPr lang="en-US" altLang="zh-CN" sz="1400"/>
              <a:t>Schedule</a:t>
            </a:r>
            <a:r>
              <a:rPr lang="zh-CN" altLang="en-US" sz="1400"/>
              <a:t> </a:t>
            </a:r>
            <a:r>
              <a:rPr lang="en-US" altLang="zh-CN" sz="1400"/>
              <a:t>Advisor:</a:t>
            </a:r>
            <a:r>
              <a:rPr lang="zh-CN" altLang="en-US" sz="1400"/>
              <a:t> </a:t>
            </a:r>
            <a:r>
              <a:rPr lang="en-US" altLang="zh-CN" sz="1400"/>
              <a:t>Job metadata like model name and number of steps are important. However, there are many other factors: the version of the source code, the underlying training framework, the NCCL library, etc may have an effect; the hardware, failures/preemptions, exact GPU allocation topology, data source distance may all have an effect. Missing those factors → inaccurate match; consider all factors → may not get a match.</a:t>
            </a:r>
          </a:p>
          <a:p>
            <a:pPr>
              <a:lnSpc>
                <a:spcPct val="100000"/>
              </a:lnSpc>
            </a:pPr>
            <a:r>
              <a:rPr lang="en-US" altLang="zh-CN" sz="1400"/>
              <a:t>Failure</a:t>
            </a:r>
            <a:r>
              <a:rPr lang="zh-CN" altLang="en-US" sz="1400"/>
              <a:t> </a:t>
            </a:r>
            <a:r>
              <a:rPr lang="en-US" altLang="zh-CN" sz="1400"/>
              <a:t>Handling:</a:t>
            </a:r>
            <a:r>
              <a:rPr lang="zh-CN" altLang="en-US" sz="1400"/>
              <a:t> </a:t>
            </a:r>
            <a:r>
              <a:rPr lang="en-US" altLang="zh-CN" sz="1400"/>
              <a:t>Production systems need to consider: 1) degraded hardware (may not have a clear error message); 2) silent data corruptions (SDCs); 3) failures in the dependent system (which may include the logging system itself). If we still need a separate diagnosis system, is it more convenient to just build one system?</a:t>
            </a:r>
          </a:p>
          <a:p>
            <a:pPr>
              <a:lnSpc>
                <a:spcPct val="100000"/>
              </a:lnSpc>
            </a:pPr>
            <a:r>
              <a:rPr lang="en-US" altLang="zh-CN" sz="1400"/>
              <a:t>LLM error output:</a:t>
            </a:r>
            <a:r>
              <a:rPr lang="zh-CN" altLang="en-US" sz="1400"/>
              <a:t> </a:t>
            </a:r>
            <a:r>
              <a:rPr lang="en-US" altLang="zh-CN" sz="1400"/>
              <a:t>Since LLMs are still imperfect, what could go wrong if LLMs output wrong information? The paper argues that if LLMs cannot find correct information, we can fall back to old approaches, but what happens if LLMs give wrong information? Do the authors meet such cases in their experiments?</a:t>
            </a:r>
          </a:p>
          <a:p>
            <a:pPr marL="0" indent="0">
              <a:lnSpc>
                <a:spcPct val="110000"/>
              </a:lnSpc>
              <a:buNone/>
            </a:pPr>
            <a:r>
              <a:rPr lang="en-US" altLang="zh-CN" sz="1600" b="1">
                <a:solidFill>
                  <a:srgbClr val="1565C0"/>
                </a:solidFill>
              </a:rPr>
              <a:t>Comments for authors:</a:t>
            </a:r>
          </a:p>
          <a:p>
            <a:pPr>
              <a:lnSpc>
                <a:spcPct val="110000"/>
              </a:lnSpc>
            </a:pPr>
            <a:r>
              <a:rPr lang="en-US" altLang="zh-CN" sz="1400"/>
              <a:t>This is not a paper that tries to </a:t>
            </a:r>
            <a:r>
              <a:rPr lang="en-US" altLang="zh-CN" sz="1400" b="1"/>
              <a:t>propose novel techniques</a:t>
            </a:r>
            <a:r>
              <a:rPr lang="en-US" altLang="zh-CN" sz="1400"/>
              <a:t>, but instead it tries to leverage some known ideas to address problems in ML scheduling in a practical way. I like its practical aspect, but unfortunately, I think it’s really challenging to make a convincing argument about practicability without some </a:t>
            </a:r>
            <a:r>
              <a:rPr lang="en-US" altLang="zh-CN" sz="1400" b="1"/>
              <a:t>production experience</a:t>
            </a:r>
            <a:r>
              <a:rPr lang="en-US" altLang="zh-CN" sz="1400"/>
              <a:t>.</a:t>
            </a:r>
          </a:p>
          <a:p>
            <a:pPr marL="0" indent="0" algn="l">
              <a:buNone/>
            </a:pPr>
            <a:endParaRPr lang="en-US" altLang="zh-CN" sz="1400"/>
          </a:p>
        </p:txBody>
      </p:sp>
    </p:spTree>
    <p:extLst>
      <p:ext uri="{BB962C8B-B14F-4D97-AF65-F5344CB8AC3E}">
        <p14:creationId xmlns:p14="http://schemas.microsoft.com/office/powerpoint/2010/main" val="2745944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1C54A-32D7-94B7-1D1C-F1C343F4A2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BA455-2312-16E0-B95B-05DB0472FA60}"/>
              </a:ext>
            </a:extLst>
          </p:cNvPr>
          <p:cNvSpPr>
            <a:spLocks noGrp="1"/>
          </p:cNvSpPr>
          <p:nvPr>
            <p:ph type="title"/>
          </p:nvPr>
        </p:nvSpPr>
        <p:spPr>
          <a:xfrm>
            <a:off x="221974" y="100000"/>
            <a:ext cx="10515600" cy="550000"/>
          </a:xfrm>
        </p:spPr>
        <p:txBody>
          <a:bodyPr/>
          <a:lstStyle/>
          <a:p>
            <a:r>
              <a:rPr kumimoji="1" lang="en-US" altLang="zh-CN" sz="2400"/>
              <a:t>Review #232B</a:t>
            </a:r>
            <a:endParaRPr kumimoji="1" lang="zh-CN" altLang="en-US"/>
          </a:p>
        </p:txBody>
      </p:sp>
      <p:sp>
        <p:nvSpPr>
          <p:cNvPr id="4" name="Content 3">
            <a:extLst>
              <a:ext uri="{FF2B5EF4-FFF2-40B4-BE49-F238E27FC236}">
                <a16:creationId xmlns:a16="http://schemas.microsoft.com/office/drawing/2014/main" id="{BD96CAE4-954F-EBF7-96CC-B96052A3AA0B}"/>
              </a:ext>
            </a:extLst>
          </p:cNvPr>
          <p:cNvSpPr>
            <a:spLocks noGrp="1"/>
          </p:cNvSpPr>
          <p:nvPr>
            <p:ph idx="1"/>
          </p:nvPr>
        </p:nvSpPr>
        <p:spPr>
          <a:xfrm>
            <a:off x="221974" y="923520"/>
            <a:ext cx="11700000" cy="4867680"/>
          </a:xfrm>
        </p:spPr>
        <p:txBody>
          <a:bodyPr>
            <a:normAutofit/>
          </a:bodyPr>
          <a:lstStyle/>
          <a:p>
            <a:pPr marL="0" indent="0">
              <a:lnSpc>
                <a:spcPct val="110000"/>
              </a:lnSpc>
              <a:buFont typeface="Arial" panose="020B0604020202020204" pitchFamily="34" charset="0"/>
              <a:buNone/>
            </a:pPr>
            <a:r>
              <a:rPr lang="en-US" altLang="zh-CN" sz="1600" b="1">
                <a:solidFill>
                  <a:srgbClr val="C00000"/>
                </a:solidFill>
              </a:rPr>
              <a:t>Weaknesses:</a:t>
            </a:r>
          </a:p>
          <a:p>
            <a:pPr>
              <a:lnSpc>
                <a:spcPct val="100000"/>
              </a:lnSpc>
            </a:pPr>
            <a:r>
              <a:rPr lang="en-US" altLang="zh-CN" sz="1400" b="1"/>
              <a:t>Schedule</a:t>
            </a:r>
            <a:r>
              <a:rPr lang="zh-CN" altLang="en-US" sz="1400" b="1"/>
              <a:t> </a:t>
            </a:r>
            <a:r>
              <a:rPr lang="en-US" altLang="zh-CN" sz="1400" b="1"/>
              <a:t>Advisor</a:t>
            </a:r>
            <a:r>
              <a:rPr lang="en-US" altLang="zh-CN" sz="1400"/>
              <a:t>:</a:t>
            </a:r>
            <a:r>
              <a:rPr lang="zh-CN" altLang="en-US" sz="1400"/>
              <a:t> </a:t>
            </a:r>
            <a:r>
              <a:rPr lang="en-US" altLang="zh-CN" sz="1400"/>
              <a:t>Job metadata like model name and number of steps are important. However, there are many other factors: the version of the source code, the underlying training framework, the NCCL library, etc may have an effect; the hardware, failures/preemptions, exact GPU allocation topology, data source distance may all have an effect. </a:t>
            </a:r>
            <a:r>
              <a:rPr lang="en-US" altLang="zh-CN" sz="1400" b="1"/>
              <a:t>Missing those factors → inaccurate match; consider all factors → may not get a match.</a:t>
            </a:r>
            <a:r>
              <a:rPr lang="zh-CN" altLang="en-US" sz="1400" b="1"/>
              <a:t> 对</a:t>
            </a:r>
            <a:r>
              <a:rPr lang="en-US" altLang="zh-CN" sz="1400" b="1"/>
              <a:t>matching</a:t>
            </a:r>
            <a:r>
              <a:rPr lang="zh-CN" altLang="en-US" sz="1400" b="1"/>
              <a:t>准确率的质疑</a:t>
            </a:r>
            <a:endParaRPr lang="en-US" altLang="zh-CN" sz="1400" b="1"/>
          </a:p>
          <a:p>
            <a:pPr>
              <a:lnSpc>
                <a:spcPct val="100000"/>
              </a:lnSpc>
            </a:pPr>
            <a:r>
              <a:rPr lang="en-US" altLang="zh-CN" sz="1400">
                <a:solidFill>
                  <a:schemeClr val="bg1">
                    <a:lumMod val="85000"/>
                  </a:schemeClr>
                </a:solidFill>
              </a:rPr>
              <a:t>Failure</a:t>
            </a:r>
            <a:r>
              <a:rPr lang="zh-CN" altLang="en-US" sz="1400">
                <a:solidFill>
                  <a:schemeClr val="bg1">
                    <a:lumMod val="85000"/>
                  </a:schemeClr>
                </a:solidFill>
              </a:rPr>
              <a:t> </a:t>
            </a:r>
            <a:r>
              <a:rPr lang="en-US" altLang="zh-CN" sz="1400">
                <a:solidFill>
                  <a:schemeClr val="bg1">
                    <a:lumMod val="85000"/>
                  </a:schemeClr>
                </a:solidFill>
              </a:rPr>
              <a:t>Handling:</a:t>
            </a:r>
            <a:r>
              <a:rPr lang="zh-CN" altLang="en-US" sz="1400">
                <a:solidFill>
                  <a:schemeClr val="bg1">
                    <a:lumMod val="85000"/>
                  </a:schemeClr>
                </a:solidFill>
              </a:rPr>
              <a:t> </a:t>
            </a:r>
            <a:r>
              <a:rPr lang="en-US" altLang="zh-CN" sz="1400">
                <a:solidFill>
                  <a:schemeClr val="bg1">
                    <a:lumMod val="85000"/>
                  </a:schemeClr>
                </a:solidFill>
              </a:rPr>
              <a:t>Production systems need to consider: 1) degraded hardware (may not have a clear error message); 2) silent data corruptions (SDCs); 3) failures in the dependent system (which may include the logging system itself). If we still need a separate diagnosis system, is it more convenient to just build one system?</a:t>
            </a:r>
          </a:p>
          <a:p>
            <a:pPr>
              <a:lnSpc>
                <a:spcPct val="100000"/>
              </a:lnSpc>
            </a:pPr>
            <a:r>
              <a:rPr lang="en-US" altLang="zh-CN" sz="1400">
                <a:solidFill>
                  <a:schemeClr val="bg1">
                    <a:lumMod val="85000"/>
                  </a:schemeClr>
                </a:solidFill>
              </a:rPr>
              <a:t>LLM error output:</a:t>
            </a:r>
            <a:r>
              <a:rPr lang="zh-CN" altLang="en-US" sz="1400">
                <a:solidFill>
                  <a:schemeClr val="bg1">
                    <a:lumMod val="85000"/>
                  </a:schemeClr>
                </a:solidFill>
              </a:rPr>
              <a:t> </a:t>
            </a:r>
            <a:r>
              <a:rPr lang="en-US" altLang="zh-CN" sz="1400">
                <a:solidFill>
                  <a:schemeClr val="bg1">
                    <a:lumMod val="85000"/>
                  </a:schemeClr>
                </a:solidFill>
              </a:rPr>
              <a:t>Since LLMs are still imperfect, what could go wrong if LLMs output wrong information? The paper argues that if LLMs cannot find correct information, we can fall back to old approaches, but what happens if LLMs give wrong information? Do the authors meet such cases in their experiments?</a:t>
            </a:r>
          </a:p>
          <a:p>
            <a:pPr marL="0" indent="0">
              <a:lnSpc>
                <a:spcPct val="110000"/>
              </a:lnSpc>
              <a:buNone/>
            </a:pPr>
            <a:r>
              <a:rPr lang="en-US" altLang="zh-CN" sz="1600" b="1">
                <a:solidFill>
                  <a:schemeClr val="bg1">
                    <a:lumMod val="85000"/>
                  </a:schemeClr>
                </a:solidFill>
              </a:rPr>
              <a:t>Comments for authors:</a:t>
            </a:r>
          </a:p>
          <a:p>
            <a:pPr>
              <a:lnSpc>
                <a:spcPct val="110000"/>
              </a:lnSpc>
            </a:pPr>
            <a:r>
              <a:rPr lang="en-US" altLang="zh-CN" sz="1400">
                <a:solidFill>
                  <a:schemeClr val="bg1">
                    <a:lumMod val="85000"/>
                  </a:schemeClr>
                </a:solidFill>
              </a:rPr>
              <a:t>This is not a paper that tries to </a:t>
            </a:r>
            <a:r>
              <a:rPr lang="en-US" altLang="zh-CN" sz="1400" b="1">
                <a:solidFill>
                  <a:schemeClr val="bg1">
                    <a:lumMod val="85000"/>
                  </a:schemeClr>
                </a:solidFill>
              </a:rPr>
              <a:t>propose novel techniques</a:t>
            </a:r>
            <a:r>
              <a:rPr lang="en-US" altLang="zh-CN" sz="1400">
                <a:solidFill>
                  <a:schemeClr val="bg1">
                    <a:lumMod val="85000"/>
                  </a:schemeClr>
                </a:solidFill>
              </a:rPr>
              <a:t>, but instead it tries to leverage some known ideas to address problems in ML scheduling in a practical way. I like its practical aspect, but unfortunately, I think it’s really challenging to make a convincing argument about practicability without some </a:t>
            </a:r>
            <a:r>
              <a:rPr lang="en-US" altLang="zh-CN" sz="1400" b="1">
                <a:solidFill>
                  <a:schemeClr val="bg1">
                    <a:lumMod val="85000"/>
                  </a:schemeClr>
                </a:solidFill>
              </a:rPr>
              <a:t>production experience</a:t>
            </a:r>
            <a:r>
              <a:rPr lang="en-US" altLang="zh-CN" sz="1400">
                <a:solidFill>
                  <a:schemeClr val="bg1">
                    <a:lumMod val="85000"/>
                  </a:schemeClr>
                </a:solidFill>
              </a:rPr>
              <a:t>.</a:t>
            </a:r>
          </a:p>
          <a:p>
            <a:pPr marL="0" indent="0" algn="l">
              <a:buNone/>
            </a:pPr>
            <a:endParaRPr lang="en-US" altLang="zh-CN" sz="1400"/>
          </a:p>
        </p:txBody>
      </p:sp>
    </p:spTree>
    <p:extLst>
      <p:ext uri="{BB962C8B-B14F-4D97-AF65-F5344CB8AC3E}">
        <p14:creationId xmlns:p14="http://schemas.microsoft.com/office/powerpoint/2010/main" val="5556418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97A4E-9C72-2E5A-1193-9915BDF756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8187E-BAF0-8C0A-8547-2A967DEBE6E1}"/>
              </a:ext>
            </a:extLst>
          </p:cNvPr>
          <p:cNvSpPr>
            <a:spLocks noGrp="1"/>
          </p:cNvSpPr>
          <p:nvPr>
            <p:ph type="title"/>
          </p:nvPr>
        </p:nvSpPr>
        <p:spPr>
          <a:xfrm>
            <a:off x="221974" y="100000"/>
            <a:ext cx="10515600" cy="550000"/>
          </a:xfrm>
        </p:spPr>
        <p:txBody>
          <a:bodyPr/>
          <a:lstStyle/>
          <a:p>
            <a:r>
              <a:rPr kumimoji="1" lang="en-US" altLang="zh-CN" sz="2400"/>
              <a:t>Review #232B</a:t>
            </a:r>
            <a:endParaRPr kumimoji="1" lang="zh-CN" altLang="en-US"/>
          </a:p>
        </p:txBody>
      </p:sp>
      <p:sp>
        <p:nvSpPr>
          <p:cNvPr id="4" name="Content 3">
            <a:extLst>
              <a:ext uri="{FF2B5EF4-FFF2-40B4-BE49-F238E27FC236}">
                <a16:creationId xmlns:a16="http://schemas.microsoft.com/office/drawing/2014/main" id="{09E9A76B-B937-9896-9011-30A08A8BAD96}"/>
              </a:ext>
            </a:extLst>
          </p:cNvPr>
          <p:cNvSpPr>
            <a:spLocks noGrp="1"/>
          </p:cNvSpPr>
          <p:nvPr>
            <p:ph idx="1"/>
          </p:nvPr>
        </p:nvSpPr>
        <p:spPr>
          <a:xfrm>
            <a:off x="221974" y="923520"/>
            <a:ext cx="11700000" cy="4867680"/>
          </a:xfrm>
        </p:spPr>
        <p:txBody>
          <a:bodyPr>
            <a:normAutofit/>
          </a:bodyPr>
          <a:lstStyle/>
          <a:p>
            <a:pPr marL="0" indent="0">
              <a:lnSpc>
                <a:spcPct val="110000"/>
              </a:lnSpc>
              <a:buFont typeface="Arial" panose="020B0604020202020204" pitchFamily="34" charset="0"/>
              <a:buNone/>
            </a:pPr>
            <a:r>
              <a:rPr lang="en-US" altLang="zh-CN" sz="1600" b="1">
                <a:solidFill>
                  <a:srgbClr val="C00000"/>
                </a:solidFill>
              </a:rPr>
              <a:t>Weaknesses:</a:t>
            </a:r>
          </a:p>
          <a:p>
            <a:pPr>
              <a:lnSpc>
                <a:spcPct val="100000"/>
              </a:lnSpc>
            </a:pPr>
            <a:r>
              <a:rPr lang="en-US" altLang="zh-CN" sz="1400" b="1">
                <a:solidFill>
                  <a:schemeClr val="bg1">
                    <a:lumMod val="85000"/>
                  </a:schemeClr>
                </a:solidFill>
              </a:rPr>
              <a:t>Schedule</a:t>
            </a:r>
            <a:r>
              <a:rPr lang="zh-CN" altLang="en-US" sz="1400" b="1">
                <a:solidFill>
                  <a:schemeClr val="bg1">
                    <a:lumMod val="85000"/>
                  </a:schemeClr>
                </a:solidFill>
              </a:rPr>
              <a:t> </a:t>
            </a:r>
            <a:r>
              <a:rPr lang="en-US" altLang="zh-CN" sz="1400" b="1">
                <a:solidFill>
                  <a:schemeClr val="bg1">
                    <a:lumMod val="85000"/>
                  </a:schemeClr>
                </a:solidFill>
              </a:rPr>
              <a:t>Advisor</a:t>
            </a:r>
            <a:r>
              <a:rPr lang="en-US" altLang="zh-CN" sz="1400">
                <a:solidFill>
                  <a:schemeClr val="bg1">
                    <a:lumMod val="85000"/>
                  </a:schemeClr>
                </a:solidFill>
              </a:rPr>
              <a:t>:</a:t>
            </a:r>
            <a:r>
              <a:rPr lang="zh-CN" altLang="en-US" sz="1400">
                <a:solidFill>
                  <a:schemeClr val="bg1">
                    <a:lumMod val="85000"/>
                  </a:schemeClr>
                </a:solidFill>
              </a:rPr>
              <a:t> </a:t>
            </a:r>
            <a:r>
              <a:rPr lang="en-US" altLang="zh-CN" sz="1400">
                <a:solidFill>
                  <a:schemeClr val="bg1">
                    <a:lumMod val="85000"/>
                  </a:schemeClr>
                </a:solidFill>
              </a:rPr>
              <a:t>Job metadata like model name and number of steps are important. However, there are many other factors: the version of the source code, the underlying training framework, the NCCL library, etc may have an effect; the hardware, failures/preemptions, exact GPU allocation topology, data source distance may all have an effect. </a:t>
            </a:r>
            <a:r>
              <a:rPr lang="en-US" altLang="zh-CN" sz="1400" b="1">
                <a:solidFill>
                  <a:schemeClr val="bg1">
                    <a:lumMod val="85000"/>
                  </a:schemeClr>
                </a:solidFill>
              </a:rPr>
              <a:t>Missing those factors → inaccurate match; consider all factors → may not get a match.</a:t>
            </a:r>
          </a:p>
          <a:p>
            <a:pPr>
              <a:lnSpc>
                <a:spcPct val="100000"/>
              </a:lnSpc>
            </a:pPr>
            <a:r>
              <a:rPr lang="en-US" altLang="zh-CN" sz="1400"/>
              <a:t>Failure</a:t>
            </a:r>
            <a:r>
              <a:rPr lang="zh-CN" altLang="en-US" sz="1400"/>
              <a:t> </a:t>
            </a:r>
            <a:r>
              <a:rPr lang="en-US" altLang="zh-CN" sz="1400"/>
              <a:t>Handling:</a:t>
            </a:r>
            <a:r>
              <a:rPr lang="zh-CN" altLang="en-US" sz="1400"/>
              <a:t> </a:t>
            </a:r>
            <a:r>
              <a:rPr lang="en-US" altLang="zh-CN" sz="1400"/>
              <a:t>Production systems need to consider: 1) degraded hardware (may not have a clear error message); 2) silent data corruptions (SDCs); 3) failures in the dependent system (which may include the logging system itself). If we still need a separate diagnosis system, is it more convenient to just build one system?</a:t>
            </a:r>
            <a:r>
              <a:rPr lang="zh-CN" altLang="en-US" sz="1400"/>
              <a:t> </a:t>
            </a:r>
            <a:r>
              <a:rPr lang="en-US" altLang="zh-CN" sz="1400" b="1"/>
              <a:t>Failure</a:t>
            </a:r>
            <a:r>
              <a:rPr lang="zh-CN" altLang="en-US" sz="1400" b="1"/>
              <a:t> 要考虑的问题太多，仍然需要一个外部的系统</a:t>
            </a:r>
            <a:endParaRPr lang="en-US" altLang="zh-CN" sz="1400" b="1"/>
          </a:p>
          <a:p>
            <a:pPr>
              <a:lnSpc>
                <a:spcPct val="100000"/>
              </a:lnSpc>
            </a:pPr>
            <a:r>
              <a:rPr lang="en-US" altLang="zh-CN" sz="1400">
                <a:solidFill>
                  <a:schemeClr val="bg1">
                    <a:lumMod val="85000"/>
                  </a:schemeClr>
                </a:solidFill>
              </a:rPr>
              <a:t>LLM error output:</a:t>
            </a:r>
            <a:r>
              <a:rPr lang="zh-CN" altLang="en-US" sz="1400">
                <a:solidFill>
                  <a:schemeClr val="bg1">
                    <a:lumMod val="85000"/>
                  </a:schemeClr>
                </a:solidFill>
              </a:rPr>
              <a:t> </a:t>
            </a:r>
            <a:r>
              <a:rPr lang="en-US" altLang="zh-CN" sz="1400">
                <a:solidFill>
                  <a:schemeClr val="bg1">
                    <a:lumMod val="85000"/>
                  </a:schemeClr>
                </a:solidFill>
              </a:rPr>
              <a:t>Since LLMs are still imperfect, what could go wrong if LLMs output wrong information? The paper argues that if LLMs cannot find correct information, we can fall back to old approaches, but what happens if LLMs give wrong information? Do the authors meet such cases in their experiments?</a:t>
            </a:r>
          </a:p>
          <a:p>
            <a:pPr marL="0" indent="0">
              <a:lnSpc>
                <a:spcPct val="110000"/>
              </a:lnSpc>
              <a:buNone/>
            </a:pPr>
            <a:r>
              <a:rPr lang="en-US" altLang="zh-CN" sz="1600" b="1">
                <a:solidFill>
                  <a:schemeClr val="bg1">
                    <a:lumMod val="85000"/>
                  </a:schemeClr>
                </a:solidFill>
              </a:rPr>
              <a:t>Comments for authors:</a:t>
            </a:r>
          </a:p>
          <a:p>
            <a:pPr>
              <a:lnSpc>
                <a:spcPct val="110000"/>
              </a:lnSpc>
            </a:pPr>
            <a:r>
              <a:rPr lang="en-US" altLang="zh-CN" sz="1400">
                <a:solidFill>
                  <a:schemeClr val="bg1">
                    <a:lumMod val="85000"/>
                  </a:schemeClr>
                </a:solidFill>
              </a:rPr>
              <a:t>This is not a paper that tries to </a:t>
            </a:r>
            <a:r>
              <a:rPr lang="en-US" altLang="zh-CN" sz="1400" b="1">
                <a:solidFill>
                  <a:schemeClr val="bg1">
                    <a:lumMod val="85000"/>
                  </a:schemeClr>
                </a:solidFill>
              </a:rPr>
              <a:t>propose novel techniques</a:t>
            </a:r>
            <a:r>
              <a:rPr lang="en-US" altLang="zh-CN" sz="1400">
                <a:solidFill>
                  <a:schemeClr val="bg1">
                    <a:lumMod val="85000"/>
                  </a:schemeClr>
                </a:solidFill>
              </a:rPr>
              <a:t>, but instead it tries to leverage some known ideas to address problems in ML scheduling in a practical way. I like its practical aspect, but unfortunately, I think it’s really challenging to make a convincing argument about practicability without some </a:t>
            </a:r>
            <a:r>
              <a:rPr lang="en-US" altLang="zh-CN" sz="1400" b="1">
                <a:solidFill>
                  <a:schemeClr val="bg1">
                    <a:lumMod val="85000"/>
                  </a:schemeClr>
                </a:solidFill>
              </a:rPr>
              <a:t>production experience</a:t>
            </a:r>
            <a:r>
              <a:rPr lang="en-US" altLang="zh-CN" sz="1400">
                <a:solidFill>
                  <a:schemeClr val="bg1">
                    <a:lumMod val="85000"/>
                  </a:schemeClr>
                </a:solidFill>
              </a:rPr>
              <a:t>.</a:t>
            </a:r>
          </a:p>
          <a:p>
            <a:pPr marL="0" indent="0" algn="l">
              <a:buNone/>
            </a:pPr>
            <a:endParaRPr lang="en-US" altLang="zh-CN" sz="1400"/>
          </a:p>
        </p:txBody>
      </p:sp>
    </p:spTree>
    <p:extLst>
      <p:ext uri="{BB962C8B-B14F-4D97-AF65-F5344CB8AC3E}">
        <p14:creationId xmlns:p14="http://schemas.microsoft.com/office/powerpoint/2010/main" val="4291677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494AE-A3CA-0D58-9DAB-E41029750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DE54A-94AB-9A93-17B8-F75A4758C707}"/>
              </a:ext>
            </a:extLst>
          </p:cNvPr>
          <p:cNvSpPr>
            <a:spLocks noGrp="1"/>
          </p:cNvSpPr>
          <p:nvPr>
            <p:ph type="title"/>
          </p:nvPr>
        </p:nvSpPr>
        <p:spPr>
          <a:xfrm>
            <a:off x="221974" y="100000"/>
            <a:ext cx="10515600" cy="550000"/>
          </a:xfrm>
        </p:spPr>
        <p:txBody>
          <a:bodyPr/>
          <a:lstStyle/>
          <a:p>
            <a:r>
              <a:rPr kumimoji="1" lang="en-US" altLang="zh-CN" sz="2400"/>
              <a:t>Review #232B</a:t>
            </a:r>
            <a:endParaRPr kumimoji="1" lang="zh-CN" altLang="en-US"/>
          </a:p>
        </p:txBody>
      </p:sp>
      <p:sp>
        <p:nvSpPr>
          <p:cNvPr id="4" name="Content 3">
            <a:extLst>
              <a:ext uri="{FF2B5EF4-FFF2-40B4-BE49-F238E27FC236}">
                <a16:creationId xmlns:a16="http://schemas.microsoft.com/office/drawing/2014/main" id="{0BF33386-B31A-3E94-D5B0-D108F2A1BE40}"/>
              </a:ext>
            </a:extLst>
          </p:cNvPr>
          <p:cNvSpPr>
            <a:spLocks noGrp="1"/>
          </p:cNvSpPr>
          <p:nvPr>
            <p:ph idx="1"/>
          </p:nvPr>
        </p:nvSpPr>
        <p:spPr>
          <a:xfrm>
            <a:off x="221974" y="923520"/>
            <a:ext cx="11700000" cy="4867680"/>
          </a:xfrm>
        </p:spPr>
        <p:txBody>
          <a:bodyPr>
            <a:normAutofit/>
          </a:bodyPr>
          <a:lstStyle/>
          <a:p>
            <a:pPr marL="0" indent="0">
              <a:lnSpc>
                <a:spcPct val="110000"/>
              </a:lnSpc>
              <a:buFont typeface="Arial" panose="020B0604020202020204" pitchFamily="34" charset="0"/>
              <a:buNone/>
            </a:pPr>
            <a:r>
              <a:rPr lang="en-US" altLang="zh-CN" sz="1600" b="1">
                <a:solidFill>
                  <a:srgbClr val="C00000"/>
                </a:solidFill>
              </a:rPr>
              <a:t>Weaknesses:</a:t>
            </a:r>
          </a:p>
          <a:p>
            <a:pPr>
              <a:lnSpc>
                <a:spcPct val="100000"/>
              </a:lnSpc>
            </a:pPr>
            <a:r>
              <a:rPr lang="en-US" altLang="zh-CN" sz="1400" b="1">
                <a:solidFill>
                  <a:schemeClr val="bg1">
                    <a:lumMod val="85000"/>
                  </a:schemeClr>
                </a:solidFill>
              </a:rPr>
              <a:t>Schedule</a:t>
            </a:r>
            <a:r>
              <a:rPr lang="zh-CN" altLang="en-US" sz="1400" b="1">
                <a:solidFill>
                  <a:schemeClr val="bg1">
                    <a:lumMod val="85000"/>
                  </a:schemeClr>
                </a:solidFill>
              </a:rPr>
              <a:t> </a:t>
            </a:r>
            <a:r>
              <a:rPr lang="en-US" altLang="zh-CN" sz="1400" b="1">
                <a:solidFill>
                  <a:schemeClr val="bg1">
                    <a:lumMod val="85000"/>
                  </a:schemeClr>
                </a:solidFill>
              </a:rPr>
              <a:t>Advisor</a:t>
            </a:r>
            <a:r>
              <a:rPr lang="en-US" altLang="zh-CN" sz="1400">
                <a:solidFill>
                  <a:schemeClr val="bg1">
                    <a:lumMod val="85000"/>
                  </a:schemeClr>
                </a:solidFill>
              </a:rPr>
              <a:t>:</a:t>
            </a:r>
            <a:r>
              <a:rPr lang="zh-CN" altLang="en-US" sz="1400">
                <a:solidFill>
                  <a:schemeClr val="bg1">
                    <a:lumMod val="85000"/>
                  </a:schemeClr>
                </a:solidFill>
              </a:rPr>
              <a:t> </a:t>
            </a:r>
            <a:r>
              <a:rPr lang="en-US" altLang="zh-CN" sz="1400">
                <a:solidFill>
                  <a:schemeClr val="bg1">
                    <a:lumMod val="85000"/>
                  </a:schemeClr>
                </a:solidFill>
              </a:rPr>
              <a:t>Job metadata like model name and number of steps are important. However, there are many other factors: the version of the source code, the underlying training framework, the NCCL library, etc may have an effect; the hardware, failures/preemptions, exact GPU allocation topology, data source distance may all have an effect. </a:t>
            </a:r>
            <a:r>
              <a:rPr lang="en-US" altLang="zh-CN" sz="1400" b="1">
                <a:solidFill>
                  <a:schemeClr val="bg1">
                    <a:lumMod val="85000"/>
                  </a:schemeClr>
                </a:solidFill>
              </a:rPr>
              <a:t>Missing those factors → inaccurate match; consider all factors → may not get a match.</a:t>
            </a:r>
          </a:p>
          <a:p>
            <a:pPr>
              <a:lnSpc>
                <a:spcPct val="100000"/>
              </a:lnSpc>
            </a:pPr>
            <a:r>
              <a:rPr lang="en-US" altLang="zh-CN" sz="1400">
                <a:solidFill>
                  <a:schemeClr val="bg1">
                    <a:lumMod val="85000"/>
                  </a:schemeClr>
                </a:solidFill>
              </a:rPr>
              <a:t>Failure</a:t>
            </a:r>
            <a:r>
              <a:rPr lang="zh-CN" altLang="en-US" sz="1400">
                <a:solidFill>
                  <a:schemeClr val="bg1">
                    <a:lumMod val="85000"/>
                  </a:schemeClr>
                </a:solidFill>
              </a:rPr>
              <a:t> </a:t>
            </a:r>
            <a:r>
              <a:rPr lang="en-US" altLang="zh-CN" sz="1400">
                <a:solidFill>
                  <a:schemeClr val="bg1">
                    <a:lumMod val="85000"/>
                  </a:schemeClr>
                </a:solidFill>
              </a:rPr>
              <a:t>Handling:</a:t>
            </a:r>
            <a:r>
              <a:rPr lang="zh-CN" altLang="en-US" sz="1400">
                <a:solidFill>
                  <a:schemeClr val="bg1">
                    <a:lumMod val="85000"/>
                  </a:schemeClr>
                </a:solidFill>
              </a:rPr>
              <a:t> </a:t>
            </a:r>
            <a:r>
              <a:rPr lang="en-US" altLang="zh-CN" sz="1400">
                <a:solidFill>
                  <a:schemeClr val="bg1">
                    <a:lumMod val="85000"/>
                  </a:schemeClr>
                </a:solidFill>
              </a:rPr>
              <a:t>Production systems need to consider: 1) degraded hardware (may not have a clear error message); 2) silent data corruptions (SDCs); 3) failures in the dependent system (which may include the logging system itself). If we still need a separate diagnosis system, is it more convenient to just build one system?</a:t>
            </a:r>
            <a:r>
              <a:rPr lang="zh-CN" altLang="en-US" sz="1400">
                <a:solidFill>
                  <a:schemeClr val="bg1">
                    <a:lumMod val="85000"/>
                  </a:schemeClr>
                </a:solidFill>
              </a:rPr>
              <a:t> </a:t>
            </a:r>
            <a:r>
              <a:rPr lang="en-US" altLang="zh-CN" sz="1400" b="1">
                <a:solidFill>
                  <a:schemeClr val="bg1">
                    <a:lumMod val="85000"/>
                  </a:schemeClr>
                </a:solidFill>
              </a:rPr>
              <a:t>Failure</a:t>
            </a:r>
            <a:r>
              <a:rPr lang="zh-CN" altLang="en-US" sz="1400" b="1">
                <a:solidFill>
                  <a:schemeClr val="bg1">
                    <a:lumMod val="85000"/>
                  </a:schemeClr>
                </a:solidFill>
              </a:rPr>
              <a:t> 要考虑的问题太多，仍然需要一个外部的系统</a:t>
            </a:r>
            <a:endParaRPr lang="en-US" altLang="zh-CN" sz="1400" b="1">
              <a:solidFill>
                <a:schemeClr val="bg1">
                  <a:lumMod val="85000"/>
                </a:schemeClr>
              </a:solidFill>
            </a:endParaRPr>
          </a:p>
          <a:p>
            <a:pPr>
              <a:lnSpc>
                <a:spcPct val="100000"/>
              </a:lnSpc>
            </a:pPr>
            <a:r>
              <a:rPr lang="en-US" altLang="zh-CN" sz="1400" b="1"/>
              <a:t>LLM error output:</a:t>
            </a:r>
            <a:r>
              <a:rPr lang="zh-CN" altLang="en-US" sz="1400" b="1"/>
              <a:t> </a:t>
            </a:r>
            <a:r>
              <a:rPr lang="en-US" altLang="zh-CN" sz="1400"/>
              <a:t>Since LLMs are still imperfect, what could go wrong if LLMs output wrong information? The paper argues that if LLMs cannot find correct information, we can fall back to old approaches, but what happens if LLMs give wrong information? Do the authors meet such cases in their experiments?</a:t>
            </a:r>
            <a:r>
              <a:rPr lang="zh-CN" altLang="en-US" sz="1400"/>
              <a:t> </a:t>
            </a:r>
            <a:r>
              <a:rPr lang="en-US" altLang="zh-CN" sz="1400" b="1"/>
              <a:t>LLM</a:t>
            </a:r>
            <a:r>
              <a:rPr lang="zh-CN" altLang="en-US" sz="1400" b="1"/>
              <a:t> 输出错误信息的情况没有讨论</a:t>
            </a:r>
            <a:endParaRPr lang="en-US" altLang="zh-CN" sz="1400" b="1"/>
          </a:p>
          <a:p>
            <a:pPr marL="0" indent="0">
              <a:lnSpc>
                <a:spcPct val="110000"/>
              </a:lnSpc>
              <a:buNone/>
            </a:pPr>
            <a:r>
              <a:rPr lang="en-US" altLang="zh-CN" sz="1600" b="1">
                <a:solidFill>
                  <a:schemeClr val="bg1">
                    <a:lumMod val="85000"/>
                  </a:schemeClr>
                </a:solidFill>
              </a:rPr>
              <a:t>Comments for authors:</a:t>
            </a:r>
          </a:p>
          <a:p>
            <a:pPr>
              <a:lnSpc>
                <a:spcPct val="110000"/>
              </a:lnSpc>
            </a:pPr>
            <a:r>
              <a:rPr lang="en-US" altLang="zh-CN" sz="1400">
                <a:solidFill>
                  <a:schemeClr val="bg1">
                    <a:lumMod val="85000"/>
                  </a:schemeClr>
                </a:solidFill>
              </a:rPr>
              <a:t>This is not a paper that tries to </a:t>
            </a:r>
            <a:r>
              <a:rPr lang="en-US" altLang="zh-CN" sz="1400" b="1">
                <a:solidFill>
                  <a:schemeClr val="bg1">
                    <a:lumMod val="85000"/>
                  </a:schemeClr>
                </a:solidFill>
              </a:rPr>
              <a:t>propose novel techniques</a:t>
            </a:r>
            <a:r>
              <a:rPr lang="en-US" altLang="zh-CN" sz="1400">
                <a:solidFill>
                  <a:schemeClr val="bg1">
                    <a:lumMod val="85000"/>
                  </a:schemeClr>
                </a:solidFill>
              </a:rPr>
              <a:t>, but instead it tries to leverage some known ideas to address problems in ML scheduling in a practical way. I like its practical aspect, but unfortunately, I think it’s really challenging to make a convincing argument about practicability without some </a:t>
            </a:r>
            <a:r>
              <a:rPr lang="en-US" altLang="zh-CN" sz="1400" b="1">
                <a:solidFill>
                  <a:schemeClr val="bg1">
                    <a:lumMod val="85000"/>
                  </a:schemeClr>
                </a:solidFill>
              </a:rPr>
              <a:t>production experience</a:t>
            </a:r>
            <a:r>
              <a:rPr lang="en-US" altLang="zh-CN" sz="1400">
                <a:solidFill>
                  <a:schemeClr val="bg1">
                    <a:lumMod val="85000"/>
                  </a:schemeClr>
                </a:solidFill>
              </a:rPr>
              <a:t>.</a:t>
            </a:r>
          </a:p>
          <a:p>
            <a:pPr marL="0" indent="0" algn="l">
              <a:buNone/>
            </a:pPr>
            <a:endParaRPr lang="en-US" altLang="zh-CN" sz="1400"/>
          </a:p>
        </p:txBody>
      </p:sp>
    </p:spTree>
    <p:extLst>
      <p:ext uri="{BB962C8B-B14F-4D97-AF65-F5344CB8AC3E}">
        <p14:creationId xmlns:p14="http://schemas.microsoft.com/office/powerpoint/2010/main" val="11198753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0BCD2C-24DD-D175-548F-B65A0635150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0E3602E-DFBE-4107-7F1C-575C93B5E0BA}"/>
              </a:ext>
            </a:extLst>
          </p:cNvPr>
          <p:cNvSpPr>
            <a:spLocks noGrp="1"/>
          </p:cNvSpPr>
          <p:nvPr>
            <p:ph type="title"/>
          </p:nvPr>
        </p:nvSpPr>
        <p:spPr>
          <a:xfrm>
            <a:off x="221974" y="273160"/>
            <a:ext cx="10515600" cy="887205"/>
          </a:xfrm>
        </p:spPr>
        <p:txBody>
          <a:bodyPr/>
          <a:lstStyle/>
          <a:p>
            <a:r>
              <a:rPr kumimoji="1" lang="en-US" altLang="zh-CN" err="1"/>
              <a:t>改进方向</a:t>
            </a:r>
            <a:endParaRPr kumimoji="1" lang="zh-CN" altLang="en-US"/>
          </a:p>
        </p:txBody>
      </p:sp>
      <p:sp>
        <p:nvSpPr>
          <p:cNvPr id="4" name="内容占位符 3">
            <a:extLst>
              <a:ext uri="{FF2B5EF4-FFF2-40B4-BE49-F238E27FC236}">
                <a16:creationId xmlns:a16="http://schemas.microsoft.com/office/drawing/2014/main" id="{81F61B10-4A93-91C0-21D7-0147393B1886}"/>
              </a:ext>
            </a:extLst>
          </p:cNvPr>
          <p:cNvSpPr>
            <a:spLocks noGrp="1"/>
          </p:cNvSpPr>
          <p:nvPr>
            <p:ph idx="1"/>
          </p:nvPr>
        </p:nvSpPr>
        <p:spPr/>
        <p:txBody>
          <a:bodyPr/>
          <a:lstStyle/>
          <a:p>
            <a:pPr marL="0" indent="0">
              <a:buNone/>
            </a:pPr>
            <a:r>
              <a:rPr lang="en-US" altLang="zh-CN" sz="1600" b="1" err="1"/>
              <a:t>系统贡献阐述</a:t>
            </a:r>
            <a:endParaRPr lang="en-US" altLang="zh-CN" sz="1600" b="1"/>
          </a:p>
          <a:p>
            <a:pPr>
              <a:buFont typeface="Wingdings" pitchFamily="2" charset="2"/>
              <a:buChar char="Ø"/>
            </a:pPr>
            <a:r>
              <a:rPr lang="zh-CN" altLang="en-US" sz="1400"/>
              <a:t>突出 </a:t>
            </a:r>
            <a:r>
              <a:rPr lang="en-US" altLang="zh-CN" sz="1400"/>
              <a:t>system</a:t>
            </a:r>
            <a:r>
              <a:rPr lang="zh-CN" altLang="en-US" sz="1400"/>
              <a:t> </a:t>
            </a:r>
            <a:r>
              <a:rPr lang="en-US" altLang="zh-CN" sz="1400"/>
              <a:t>challenges</a:t>
            </a:r>
          </a:p>
          <a:p>
            <a:pPr>
              <a:buFont typeface="Wingdings" pitchFamily="2" charset="2"/>
              <a:buChar char="Ø"/>
            </a:pPr>
            <a:r>
              <a:rPr lang="en-US" altLang="zh-CN" sz="1400" err="1"/>
              <a:t>明确提出</a:t>
            </a:r>
            <a:r>
              <a:rPr lang="en-US" altLang="zh-CN" sz="1400"/>
              <a:t> LLM 语义提取带来的新调度能力，而非仅仅“更好的工具”</a:t>
            </a:r>
          </a:p>
          <a:p>
            <a:pPr marL="0" indent="0">
              <a:buNone/>
            </a:pPr>
            <a:endParaRPr lang="en-US" altLang="zh-CN" sz="1600"/>
          </a:p>
          <a:p>
            <a:pPr marL="0" indent="0">
              <a:buNone/>
            </a:pPr>
            <a:r>
              <a:rPr lang="en-US" altLang="zh-CN" sz="1600" b="1"/>
              <a:t>Scheduling</a:t>
            </a:r>
            <a:r>
              <a:rPr lang="zh-CN" altLang="en-US" sz="1600" b="1"/>
              <a:t> </a:t>
            </a:r>
            <a:r>
              <a:rPr lang="en-US" altLang="zh-CN" sz="1600" b="1"/>
              <a:t>Advisor</a:t>
            </a:r>
          </a:p>
          <a:p>
            <a:pPr marL="342900" indent="-342900">
              <a:buFont typeface="Arial" panose="020B0604020202020204" pitchFamily="34" charset="0"/>
              <a:buChar char="•"/>
            </a:pPr>
            <a:r>
              <a:rPr lang="en-US" altLang="zh-CN" sz="1600" err="1"/>
              <a:t>增加与</a:t>
            </a:r>
            <a:r>
              <a:rPr lang="en-US" altLang="zh-CN" sz="1600"/>
              <a:t> embedding-based / </a:t>
            </a:r>
            <a:r>
              <a:rPr lang="en-US" altLang="zh-CN" sz="1600" err="1"/>
              <a:t>轻量级方法的实验对比</a:t>
            </a:r>
            <a:endParaRPr lang="en-US" altLang="zh-CN" sz="1600"/>
          </a:p>
          <a:p>
            <a:pPr marL="342900" indent="-342900"/>
            <a:r>
              <a:rPr lang="en-US" altLang="zh-CN" sz="1600"/>
              <a:t>LLM </a:t>
            </a:r>
            <a:r>
              <a:rPr lang="zh-CN" altLang="en-US" sz="1600"/>
              <a:t>的</a:t>
            </a:r>
            <a:r>
              <a:rPr lang="en-US" altLang="zh-CN" sz="1600" err="1"/>
              <a:t>容错机制</a:t>
            </a:r>
            <a:endParaRPr lang="en-US" altLang="zh-CN" sz="1600"/>
          </a:p>
          <a:p>
            <a:pPr marL="0" indent="0">
              <a:buNone/>
            </a:pPr>
            <a:endParaRPr lang="en-US" altLang="zh-CN" sz="1600"/>
          </a:p>
          <a:p>
            <a:pPr marL="0" indent="0">
              <a:buFont typeface="Arial" panose="020B0604020202020204" pitchFamily="34" charset="0"/>
              <a:buNone/>
            </a:pPr>
            <a:r>
              <a:rPr lang="zh-CN" altLang="en-US" sz="1600" b="1"/>
              <a:t>去掉 </a:t>
            </a:r>
            <a:r>
              <a:rPr lang="en-US" altLang="zh-CN" sz="1600" b="1"/>
              <a:t>Failure</a:t>
            </a:r>
            <a:r>
              <a:rPr lang="zh-CN" altLang="en-US" sz="1600" b="1"/>
              <a:t> </a:t>
            </a:r>
            <a:r>
              <a:rPr lang="en-US" altLang="zh-CN" sz="1600" b="1"/>
              <a:t>Handling</a:t>
            </a:r>
            <a:r>
              <a:rPr lang="zh-CN" altLang="en-US" sz="1600" b="1"/>
              <a:t> </a:t>
            </a:r>
            <a:r>
              <a:rPr lang="en-US" altLang="zh-CN" sz="1600" b="1"/>
              <a:t>(and</a:t>
            </a:r>
            <a:r>
              <a:rPr lang="zh-CN" altLang="en-US" sz="1600" b="1"/>
              <a:t> </a:t>
            </a:r>
            <a:r>
              <a:rPr lang="en-US" altLang="zh-CN" sz="1600" b="1"/>
              <a:t>metric</a:t>
            </a:r>
            <a:r>
              <a:rPr lang="zh-CN" altLang="en-US" sz="1600" b="1"/>
              <a:t> </a:t>
            </a:r>
            <a:r>
              <a:rPr lang="en-US" altLang="zh-CN" sz="1600" b="1"/>
              <a:t>tracker)</a:t>
            </a:r>
            <a:r>
              <a:rPr lang="zh-CN" altLang="en-US" sz="1600" b="1"/>
              <a:t>？</a:t>
            </a:r>
            <a:endParaRPr lang="en-US" altLang="zh-CN" sz="1600" b="1"/>
          </a:p>
          <a:p>
            <a:r>
              <a:rPr lang="en-US" altLang="zh-CN" sz="1600"/>
              <a:t>Reviewer</a:t>
            </a:r>
            <a:r>
              <a:rPr lang="zh-CN" altLang="en-US" sz="1600"/>
              <a:t> 主要关注第一个组件，</a:t>
            </a:r>
            <a:r>
              <a:rPr lang="en-US" altLang="zh-CN" sz="1600"/>
              <a:t>Failure</a:t>
            </a:r>
            <a:r>
              <a:rPr lang="zh-CN" altLang="en-US" sz="1600"/>
              <a:t>和</a:t>
            </a:r>
            <a:r>
              <a:rPr lang="en-US" altLang="zh-CN" sz="1600"/>
              <a:t>Metric</a:t>
            </a:r>
            <a:r>
              <a:rPr lang="zh-CN" altLang="en-US" sz="1600"/>
              <a:t>几乎被忽略。</a:t>
            </a:r>
            <a:endParaRPr lang="en-US" altLang="zh-CN" sz="1600"/>
          </a:p>
        </p:txBody>
      </p:sp>
    </p:spTree>
    <p:extLst>
      <p:ext uri="{BB962C8B-B14F-4D97-AF65-F5344CB8AC3E}">
        <p14:creationId xmlns:p14="http://schemas.microsoft.com/office/powerpoint/2010/main" val="27459447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078992" y="2298192"/>
            <a:ext cx="10012680" cy="914400"/>
          </a:xfrm>
          <a:prstGeom prst="rect">
            <a:avLst/>
          </a:prstGeom>
          <a:noFill/>
          <a:ln/>
        </p:spPr>
        <p:txBody>
          <a:bodyPr wrap="square" lIns="0" tIns="0" rIns="0" bIns="0" rtlCol="0" anchor="ctr"/>
          <a:lstStyle/>
          <a:p>
            <a:pPr marL="0" indent="0" algn="ctr">
              <a:buNone/>
            </a:pPr>
            <a:r>
              <a:rPr lang="en-US" sz="2700" b="1">
                <a:solidFill>
                  <a:srgbClr val="111111"/>
                </a:solidFill>
                <a:latin typeface="Times New Roman" pitchFamily="34" charset="0"/>
                <a:ea typeface="Times New Roman" pitchFamily="34" charset="-122"/>
                <a:cs typeface="Times New Roman" pitchFamily="34" charset="-120"/>
              </a:rPr>
              <a:t>FlexRL:</a:t>
            </a:r>
            <a:endParaRPr lang="en-US" sz="2700"/>
          </a:p>
          <a:p>
            <a:pPr marL="0" indent="0" algn="ctr">
              <a:buNone/>
            </a:pPr>
            <a:r>
              <a:rPr lang="en-US" sz="2700" b="1">
                <a:solidFill>
                  <a:srgbClr val="111111"/>
                </a:solidFill>
                <a:latin typeface="Times New Roman" pitchFamily="34" charset="0"/>
                <a:ea typeface="Times New Roman" pitchFamily="34" charset="-122"/>
                <a:cs typeface="Times New Roman" pitchFamily="34" charset="-120"/>
              </a:rPr>
              <a:t>Scaling VLM RL Training via Efficient Load Balancing</a:t>
            </a:r>
            <a:endParaRPr lang="en-US" sz="2700"/>
          </a:p>
        </p:txBody>
      </p:sp>
      <p:sp>
        <p:nvSpPr>
          <p:cNvPr id="3" name="Shape 1"/>
          <p:cNvSpPr/>
          <p:nvPr/>
        </p:nvSpPr>
        <p:spPr>
          <a:xfrm>
            <a:off x="2971800" y="3340608"/>
            <a:ext cx="6245352" cy="18288"/>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1051560" y="3596640"/>
            <a:ext cx="10058400" cy="402336"/>
          </a:xfrm>
          <a:prstGeom prst="rect">
            <a:avLst/>
          </a:prstGeom>
          <a:noFill/>
          <a:ln/>
        </p:spPr>
        <p:txBody>
          <a:bodyPr wrap="square" lIns="0" tIns="0" rIns="0" bIns="0" rtlCol="0" anchor="ctr"/>
          <a:lstStyle/>
          <a:p>
            <a:pPr marL="0" indent="0" algn="ctr">
              <a:buNone/>
            </a:pPr>
            <a:r>
              <a:rPr lang="en-US" sz="1400" dirty="0" err="1">
                <a:solidFill>
                  <a:srgbClr val="222222"/>
                </a:solidFill>
                <a:latin typeface="Arial" pitchFamily="34" charset="0"/>
                <a:ea typeface="Arial" pitchFamily="34" charset="-122"/>
                <a:cs typeface="Arial" pitchFamily="34" charset="-120"/>
              </a:rPr>
              <a:t>Zerui</a:t>
            </a:r>
            <a:r>
              <a:rPr lang="en-US" sz="1400" dirty="0">
                <a:solidFill>
                  <a:srgbClr val="222222"/>
                </a:solidFill>
                <a:latin typeface="Arial" pitchFamily="34" charset="0"/>
                <a:ea typeface="Arial" pitchFamily="34" charset="-122"/>
                <a:cs typeface="Arial" pitchFamily="34" charset="-120"/>
              </a:rPr>
              <a:t> Wang, </a:t>
            </a:r>
            <a:r>
              <a:rPr lang="en-US" sz="1400" dirty="0" err="1">
                <a:solidFill>
                  <a:srgbClr val="222222"/>
                </a:solidFill>
                <a:latin typeface="Arial" pitchFamily="34" charset="0"/>
                <a:ea typeface="Arial" pitchFamily="34" charset="-122"/>
                <a:cs typeface="Arial" pitchFamily="34" charset="-120"/>
              </a:rPr>
              <a:t>Qinghao</a:t>
            </a:r>
            <a:r>
              <a:rPr lang="en-US" sz="1400" dirty="0">
                <a:solidFill>
                  <a:srgbClr val="222222"/>
                </a:solidFill>
                <a:latin typeface="Arial" pitchFamily="34" charset="0"/>
                <a:ea typeface="Arial" pitchFamily="34" charset="-122"/>
                <a:cs typeface="Arial" pitchFamily="34" charset="-120"/>
              </a:rPr>
              <a:t> Hu, Chang Chen, </a:t>
            </a:r>
            <a:r>
              <a:rPr lang="en-US" sz="1400" dirty="0" err="1">
                <a:solidFill>
                  <a:srgbClr val="222222"/>
                </a:solidFill>
                <a:latin typeface="Arial" pitchFamily="34" charset="0"/>
                <a:ea typeface="Arial" pitchFamily="34" charset="-122"/>
                <a:cs typeface="Arial" pitchFamily="34" charset="-120"/>
              </a:rPr>
              <a:t>Jiecheng</a:t>
            </a:r>
            <a:r>
              <a:rPr lang="en-US" sz="1400" dirty="0">
                <a:solidFill>
                  <a:srgbClr val="222222"/>
                </a:solidFill>
                <a:latin typeface="Arial" pitchFamily="34" charset="0"/>
                <a:ea typeface="Arial" pitchFamily="34" charset="-122"/>
                <a:cs typeface="Arial" pitchFamily="34" charset="-120"/>
              </a:rPr>
              <a:t> Zhou,</a:t>
            </a:r>
            <a:endParaRPr lang="en-US" sz="1400" dirty="0"/>
          </a:p>
          <a:p>
            <a:pPr marL="0" indent="0" algn="ctr">
              <a:buNone/>
            </a:pPr>
            <a:r>
              <a:rPr lang="en-US" sz="1400" dirty="0">
                <a:solidFill>
                  <a:srgbClr val="222222"/>
                </a:solidFill>
                <a:latin typeface="Arial" pitchFamily="34" charset="0"/>
                <a:ea typeface="Arial" pitchFamily="34" charset="-122"/>
                <a:cs typeface="Arial" pitchFamily="34" charset="-120"/>
              </a:rPr>
              <a:t>Haojie </a:t>
            </a:r>
            <a:r>
              <a:rPr lang="en-US" sz="1400" dirty="0" err="1">
                <a:solidFill>
                  <a:srgbClr val="222222"/>
                </a:solidFill>
                <a:latin typeface="Arial" pitchFamily="34" charset="0"/>
                <a:ea typeface="Arial" pitchFamily="34" charset="-122"/>
                <a:cs typeface="Arial" pitchFamily="34" charset="-120"/>
              </a:rPr>
              <a:t>Duanmu</a:t>
            </a:r>
            <a:r>
              <a:rPr lang="en-US" sz="1400" dirty="0">
                <a:solidFill>
                  <a:srgbClr val="222222"/>
                </a:solidFill>
                <a:latin typeface="Arial" pitchFamily="34" charset="0"/>
                <a:ea typeface="Arial" pitchFamily="34" charset="-122"/>
                <a:cs typeface="Arial" pitchFamily="34" charset="-120"/>
              </a:rPr>
              <a:t>, Xingcheng Zhang, Peng Sun, Dahua Lin</a:t>
            </a:r>
            <a:endParaRPr lang="en-US" sz="1400" dirty="0"/>
          </a:p>
        </p:txBody>
      </p:sp>
      <p:sp>
        <p:nvSpPr>
          <p:cNvPr id="5" name="Text 3"/>
          <p:cNvSpPr/>
          <p:nvPr/>
        </p:nvSpPr>
        <p:spPr>
          <a:xfrm>
            <a:off x="1005840" y="4035552"/>
            <a:ext cx="10149840" cy="256032"/>
          </a:xfrm>
          <a:prstGeom prst="rect">
            <a:avLst/>
          </a:prstGeom>
          <a:noFill/>
          <a:ln/>
        </p:spPr>
        <p:txBody>
          <a:bodyPr wrap="square" lIns="0" tIns="0" rIns="0" bIns="0" rtlCol="0" anchor="ctr"/>
          <a:lstStyle/>
          <a:p>
            <a:pPr marL="0" indent="0" algn="ctr">
              <a:buNone/>
            </a:pPr>
            <a:r>
              <a:rPr lang="en-US" sz="1400">
                <a:solidFill>
                  <a:srgbClr val="6B6B6B"/>
                </a:solidFill>
                <a:latin typeface="Arial" pitchFamily="34" charset="0"/>
                <a:ea typeface="Arial" pitchFamily="34" charset="-122"/>
                <a:cs typeface="Arial" pitchFamily="34" charset="-120"/>
              </a:rPr>
              <a:t>Shanghai Jiao Tong University · Shanghai AI Lab · MIT · USTC · Peking University · CUHK</a:t>
            </a:r>
            <a:endParaRPr lang="en-US" sz="1400"/>
          </a:p>
        </p:txBody>
      </p:sp>
      <p:sp>
        <p:nvSpPr>
          <p:cNvPr id="7" name="Text 5"/>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1</a:t>
            </a:r>
            <a:endParaRPr lang="en-US" sz="85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Executive Summary</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612648" y="1252728"/>
            <a:ext cx="357530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1. Problem</a:t>
            </a:r>
            <a:endParaRPr lang="en-US" sz="1550"/>
          </a:p>
        </p:txBody>
      </p:sp>
      <p:sp>
        <p:nvSpPr>
          <p:cNvPr id="5" name="Text 3"/>
          <p:cNvSpPr/>
          <p:nvPr/>
        </p:nvSpPr>
        <p:spPr>
          <a:xfrm>
            <a:off x="612648" y="1545336"/>
            <a:ext cx="3575304" cy="417880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Two bottlenecks dominate VLM RL:</a:t>
            </a:r>
            <a:endParaRPr lang="en-US" sz="1230"/>
          </a:p>
          <a:p>
            <a:pPr marL="0" indent="0">
              <a:buNone/>
            </a:pPr>
            <a:endParaRPr lang="en-US" sz="1230"/>
          </a:p>
          <a:p>
            <a:pPr marL="0" indent="0">
              <a:buNone/>
            </a:pPr>
            <a:r>
              <a:rPr lang="en-US" sz="1230">
                <a:solidFill>
                  <a:srgbClr val="222222"/>
                </a:solidFill>
                <a:latin typeface="Arial" pitchFamily="34" charset="0"/>
                <a:ea typeface="Arial" pitchFamily="34" charset="-122"/>
                <a:cs typeface="Arial" pitchFamily="34" charset="-120"/>
              </a:rPr>
              <a:t>• data loading is centralized on one controller</a:t>
            </a:r>
            <a:endParaRPr lang="en-US" sz="1230"/>
          </a:p>
          <a:p>
            <a:pPr marL="0" indent="0">
              <a:buNone/>
            </a:pPr>
            <a:r>
              <a:rPr lang="en-US" sz="1230">
                <a:solidFill>
                  <a:srgbClr val="222222"/>
                </a:solidFill>
                <a:latin typeface="Arial" pitchFamily="34" charset="0"/>
                <a:ea typeface="Arial" pitchFamily="34" charset="-122"/>
                <a:cs typeface="Arial" pitchFamily="34" charset="-120"/>
              </a:rPr>
              <a:t>• heterogeneous batches create compute / memory imbalance across GPUs</a:t>
            </a:r>
            <a:endParaRPr lang="en-US" sz="1230"/>
          </a:p>
          <a:p>
            <a:pPr marL="0" indent="0">
              <a:buNone/>
            </a:pPr>
            <a:r>
              <a:rPr lang="en-US" sz="1230">
                <a:solidFill>
                  <a:srgbClr val="222222"/>
                </a:solidFill>
                <a:latin typeface="Arial" pitchFamily="34" charset="0"/>
                <a:ea typeface="Arial" pitchFamily="34" charset="-122"/>
                <a:cs typeface="Arial" pitchFamily="34" charset="-120"/>
              </a:rPr>
              <a:t>• fixing only one side is not enough</a:t>
            </a:r>
            <a:endParaRPr lang="en-US" sz="1230"/>
          </a:p>
        </p:txBody>
      </p:sp>
      <p:sp>
        <p:nvSpPr>
          <p:cNvPr id="6" name="Text 4"/>
          <p:cNvSpPr/>
          <p:nvPr/>
        </p:nvSpPr>
        <p:spPr>
          <a:xfrm>
            <a:off x="4306824" y="1252728"/>
            <a:ext cx="357530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2. System</a:t>
            </a:r>
            <a:endParaRPr lang="en-US" sz="1550"/>
          </a:p>
        </p:txBody>
      </p:sp>
      <p:sp>
        <p:nvSpPr>
          <p:cNvPr id="7" name="Text 5"/>
          <p:cNvSpPr/>
          <p:nvPr/>
        </p:nvSpPr>
        <p:spPr>
          <a:xfrm>
            <a:off x="4306824" y="1545336"/>
            <a:ext cx="3575304" cy="417880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FlexRL has two pieces:</a:t>
            </a:r>
            <a:endParaRPr lang="en-US" sz="1230"/>
          </a:p>
          <a:p>
            <a:pPr marL="0" indent="0">
              <a:buNone/>
            </a:pPr>
            <a:endParaRPr lang="en-US" sz="1230"/>
          </a:p>
          <a:p>
            <a:pPr marL="0" indent="0">
              <a:buNone/>
            </a:pPr>
            <a:r>
              <a:rPr lang="en-US" sz="1230">
                <a:solidFill>
                  <a:srgbClr val="222222"/>
                </a:solidFill>
                <a:latin typeface="Arial" pitchFamily="34" charset="0"/>
                <a:ea typeface="Arial" pitchFamily="34" charset="-122"/>
                <a:cs typeface="Arial" pitchFamily="34" charset="-120"/>
              </a:rPr>
              <a:t>• ShadowLoader: metadata-only scheduling on the controller; workers do preprocessing</a:t>
            </a:r>
            <a:endParaRPr lang="en-US" sz="1230"/>
          </a:p>
          <a:p>
            <a:pPr marL="0" indent="0">
              <a:buNone/>
            </a:pPr>
            <a:r>
              <a:rPr lang="en-US" sz="1230">
                <a:solidFill>
                  <a:srgbClr val="222222"/>
                </a:solidFill>
                <a:latin typeface="Arial" pitchFamily="34" charset="0"/>
                <a:ea typeface="Arial" pitchFamily="34" charset="-122"/>
                <a:cs typeface="Arial" pitchFamily="34" charset="-120"/>
              </a:rPr>
              <a:t>• FlexUlysses: adaptive sharding, hierarchical device groups, and overlapped execution</a:t>
            </a:r>
            <a:endParaRPr lang="en-US" sz="1230"/>
          </a:p>
        </p:txBody>
      </p:sp>
      <p:sp>
        <p:nvSpPr>
          <p:cNvPr id="8" name="Text 6"/>
          <p:cNvSpPr/>
          <p:nvPr/>
        </p:nvSpPr>
        <p:spPr>
          <a:xfrm>
            <a:off x="8001000" y="1252728"/>
            <a:ext cx="357530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3. Impact</a:t>
            </a:r>
            <a:endParaRPr lang="en-US" sz="1550"/>
          </a:p>
        </p:txBody>
      </p:sp>
      <p:sp>
        <p:nvSpPr>
          <p:cNvPr id="9" name="Text 7"/>
          <p:cNvSpPr/>
          <p:nvPr/>
        </p:nvSpPr>
        <p:spPr>
          <a:xfrm>
            <a:off x="8001000" y="1545336"/>
            <a:ext cx="3575304" cy="417880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On 7B / 32B models and two 128-GPU clusters:</a:t>
            </a:r>
            <a:endParaRPr lang="en-US" sz="1230"/>
          </a:p>
          <a:p>
            <a:pPr marL="0" indent="0">
              <a:buNone/>
            </a:pPr>
            <a:endParaRPr lang="en-US" sz="1230"/>
          </a:p>
          <a:p>
            <a:pPr marL="0" indent="0">
              <a:buNone/>
            </a:pPr>
            <a:r>
              <a:rPr lang="en-US" sz="1230">
                <a:solidFill>
                  <a:srgbClr val="222222"/>
                </a:solidFill>
                <a:latin typeface="Arial" pitchFamily="34" charset="0"/>
                <a:ea typeface="Arial" pitchFamily="34" charset="-122"/>
                <a:cs typeface="Arial" pitchFamily="34" charset="-120"/>
              </a:rPr>
              <a:t>• up to 8.47× end-to-end speedup</a:t>
            </a:r>
            <a:endParaRPr lang="en-US" sz="1230"/>
          </a:p>
          <a:p>
            <a:pPr marL="0" indent="0">
              <a:buNone/>
            </a:pPr>
            <a:r>
              <a:rPr lang="en-US" sz="1230">
                <a:solidFill>
                  <a:srgbClr val="222222"/>
                </a:solidFill>
                <a:latin typeface="Arial" pitchFamily="34" charset="0"/>
                <a:ea typeface="Arial" pitchFamily="34" charset="-122"/>
                <a:cs typeface="Arial" pitchFamily="34" charset="-120"/>
              </a:rPr>
              <a:t>• 117.42× data-loading speedup</a:t>
            </a:r>
            <a:endParaRPr lang="en-US" sz="1230"/>
          </a:p>
          <a:p>
            <a:pPr marL="0" indent="0">
              <a:buNone/>
            </a:pPr>
            <a:r>
              <a:rPr lang="en-US" sz="1230">
                <a:solidFill>
                  <a:srgbClr val="222222"/>
                </a:solidFill>
                <a:latin typeface="Arial" pitchFamily="34" charset="0"/>
                <a:ea typeface="Arial" pitchFamily="34" charset="-122"/>
                <a:cs typeface="Arial" pitchFamily="34" charset="-120"/>
              </a:rPr>
              <a:t>• balance ratio reaches 1.0 in the Ulysses comparison</a:t>
            </a:r>
            <a:endParaRPr lang="en-US" sz="1230"/>
          </a:p>
        </p:txBody>
      </p:sp>
      <p:sp>
        <p:nvSpPr>
          <p:cNvPr id="10" name="Text 8"/>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2</a:t>
            </a:r>
            <a:endParaRPr lang="en-US" sz="85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Why VLM RL Training is Hard</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640080" y="1243584"/>
            <a:ext cx="526694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Bottleneck A — Data preparation on the controller</a:t>
            </a:r>
            <a:endParaRPr lang="en-US" sz="1550"/>
          </a:p>
        </p:txBody>
      </p:sp>
      <p:sp>
        <p:nvSpPr>
          <p:cNvPr id="5" name="Text 3"/>
          <p:cNvSpPr/>
          <p:nvPr/>
        </p:nvSpPr>
        <p:spPr>
          <a:xfrm>
            <a:off x="640080" y="1536192"/>
            <a:ext cx="5266944" cy="4178808"/>
          </a:xfrm>
          <a:prstGeom prst="rect">
            <a:avLst/>
          </a:prstGeom>
          <a:noFill/>
          <a:ln/>
        </p:spPr>
        <p:txBody>
          <a:bodyPr wrap="square" lIns="0" tIns="0" rIns="0" bIns="0" rtlCol="0" anchor="t"/>
          <a:lstStyle/>
          <a:p>
            <a:pPr marL="0" indent="0">
              <a:buNone/>
            </a:pPr>
            <a:endParaRPr lang="en-US" sz="1230"/>
          </a:p>
        </p:txBody>
      </p:sp>
      <p:sp>
        <p:nvSpPr>
          <p:cNvPr id="6" name="Text 4"/>
          <p:cNvSpPr/>
          <p:nvPr/>
        </p:nvSpPr>
        <p:spPr>
          <a:xfrm>
            <a:off x="868680" y="1828800"/>
            <a:ext cx="4663440" cy="493776"/>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Image/video decoding, frame sampling, and preprocessing are CPU- and I/O-heavy.</a:t>
            </a:r>
            <a:endParaRPr lang="en-US" sz="1400"/>
          </a:p>
        </p:txBody>
      </p:sp>
      <p:sp>
        <p:nvSpPr>
          <p:cNvPr id="7" name="Text 5"/>
          <p:cNvSpPr/>
          <p:nvPr/>
        </p:nvSpPr>
        <p:spPr>
          <a:xfrm>
            <a:off x="868680" y="2414016"/>
            <a:ext cx="4663440" cy="493776"/>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In the veRL multimodal baseline, data loading takes 57.1% of the iteration time.</a:t>
            </a:r>
            <a:endParaRPr lang="en-US" sz="1400"/>
          </a:p>
        </p:txBody>
      </p:sp>
      <p:sp>
        <p:nvSpPr>
          <p:cNvPr id="8" name="Text 6"/>
          <p:cNvSpPr/>
          <p:nvPr/>
        </p:nvSpPr>
        <p:spPr>
          <a:xfrm>
            <a:off x="868680" y="2999232"/>
            <a:ext cx="4663440" cy="658368"/>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As batch size grows, the controller becomes the single straggler and can hit host-memory OOM.</a:t>
            </a:r>
            <a:endParaRPr lang="en-US" sz="1400"/>
          </a:p>
        </p:txBody>
      </p:sp>
      <p:sp>
        <p:nvSpPr>
          <p:cNvPr id="9" name="Text 7"/>
          <p:cNvSpPr/>
          <p:nvPr/>
        </p:nvSpPr>
        <p:spPr>
          <a:xfrm>
            <a:off x="960120" y="4114800"/>
            <a:ext cx="2148840" cy="164592"/>
          </a:xfrm>
          <a:prstGeom prst="rect">
            <a:avLst/>
          </a:prstGeom>
          <a:noFill/>
          <a:ln/>
        </p:spPr>
        <p:txBody>
          <a:bodyPr wrap="square" lIns="0" tIns="0" rIns="0" bIns="0" rtlCol="0" anchor="ctr"/>
          <a:lstStyle/>
          <a:p>
            <a:pPr marL="0" indent="0" algn="ctr">
              <a:buNone/>
            </a:pPr>
            <a:r>
              <a:rPr lang="en-US" sz="1120" b="1">
                <a:solidFill>
                  <a:srgbClr val="6B6B6B"/>
                </a:solidFill>
                <a:latin typeface="Arial" pitchFamily="34" charset="0"/>
                <a:ea typeface="Arial" pitchFamily="34" charset="-122"/>
                <a:cs typeface="Arial" pitchFamily="34" charset="-120"/>
              </a:rPr>
              <a:t>Observed in baseline</a:t>
            </a:r>
            <a:endParaRPr lang="en-US" sz="1120"/>
          </a:p>
        </p:txBody>
      </p:sp>
      <p:sp>
        <p:nvSpPr>
          <p:cNvPr id="10" name="Text 8"/>
          <p:cNvSpPr/>
          <p:nvPr/>
        </p:nvSpPr>
        <p:spPr>
          <a:xfrm>
            <a:off x="960120" y="4443984"/>
            <a:ext cx="2148840" cy="502920"/>
          </a:xfrm>
          <a:prstGeom prst="rect">
            <a:avLst/>
          </a:prstGeom>
          <a:noFill/>
          <a:ln/>
        </p:spPr>
        <p:txBody>
          <a:bodyPr wrap="square" lIns="0" tIns="0" rIns="0" bIns="0" rtlCol="0" anchor="ctr"/>
          <a:lstStyle/>
          <a:p>
            <a:pPr marL="0" indent="0" algn="ctr">
              <a:buNone/>
            </a:pPr>
            <a:r>
              <a:rPr lang="en-US" sz="2100" b="1">
                <a:solidFill>
                  <a:srgbClr val="111111"/>
                </a:solidFill>
                <a:latin typeface="Times New Roman" pitchFamily="34" charset="0"/>
                <a:ea typeface="Times New Roman" pitchFamily="34" charset="-122"/>
                <a:cs typeface="Times New Roman" pitchFamily="34" charset="-120"/>
              </a:rPr>
              <a:t>57.1%</a:t>
            </a:r>
            <a:endParaRPr lang="en-US" sz="2100"/>
          </a:p>
        </p:txBody>
      </p:sp>
      <p:sp>
        <p:nvSpPr>
          <p:cNvPr id="11" name="Text 9"/>
          <p:cNvSpPr/>
          <p:nvPr/>
        </p:nvSpPr>
        <p:spPr>
          <a:xfrm>
            <a:off x="960120" y="5010912"/>
            <a:ext cx="2148840" cy="128016"/>
          </a:xfrm>
          <a:prstGeom prst="rect">
            <a:avLst/>
          </a:prstGeom>
          <a:noFill/>
          <a:ln/>
        </p:spPr>
        <p:txBody>
          <a:bodyPr wrap="square" lIns="0" tIns="0" rIns="0" bIns="0" rtlCol="0" anchor="ctr"/>
          <a:lstStyle/>
          <a:p>
            <a:pPr marL="0" indent="0" algn="ctr">
              <a:buNone/>
            </a:pPr>
            <a:r>
              <a:rPr lang="en-US" sz="1120">
                <a:solidFill>
                  <a:srgbClr val="222222"/>
                </a:solidFill>
                <a:latin typeface="Arial" pitchFamily="34" charset="0"/>
                <a:ea typeface="Arial" pitchFamily="34" charset="-122"/>
                <a:cs typeface="Arial" pitchFamily="34" charset="-120"/>
              </a:rPr>
              <a:t>of step time spent on data loading</a:t>
            </a:r>
            <a:endParaRPr lang="en-US" sz="1120"/>
          </a:p>
        </p:txBody>
      </p:sp>
      <p:sp>
        <p:nvSpPr>
          <p:cNvPr id="12" name="Text 10"/>
          <p:cNvSpPr/>
          <p:nvPr/>
        </p:nvSpPr>
        <p:spPr>
          <a:xfrm>
            <a:off x="3337560" y="4114800"/>
            <a:ext cx="2148840" cy="164592"/>
          </a:xfrm>
          <a:prstGeom prst="rect">
            <a:avLst/>
          </a:prstGeom>
          <a:noFill/>
          <a:ln/>
        </p:spPr>
        <p:txBody>
          <a:bodyPr wrap="square" lIns="0" tIns="0" rIns="0" bIns="0" rtlCol="0" anchor="ctr"/>
          <a:lstStyle/>
          <a:p>
            <a:pPr marL="0" indent="0" algn="ctr">
              <a:buNone/>
            </a:pPr>
            <a:r>
              <a:rPr lang="en-US" sz="1120" b="1">
                <a:solidFill>
                  <a:srgbClr val="6B6B6B"/>
                </a:solidFill>
                <a:latin typeface="Arial" pitchFamily="34" charset="0"/>
                <a:ea typeface="Arial" pitchFamily="34" charset="-122"/>
                <a:cs typeface="Arial" pitchFamily="34" charset="-120"/>
              </a:rPr>
              <a:t>Failure mode</a:t>
            </a:r>
            <a:endParaRPr lang="en-US" sz="1120"/>
          </a:p>
        </p:txBody>
      </p:sp>
      <p:sp>
        <p:nvSpPr>
          <p:cNvPr id="13" name="Text 11"/>
          <p:cNvSpPr/>
          <p:nvPr/>
        </p:nvSpPr>
        <p:spPr>
          <a:xfrm>
            <a:off x="3337560" y="4443984"/>
            <a:ext cx="2148840" cy="502920"/>
          </a:xfrm>
          <a:prstGeom prst="rect">
            <a:avLst/>
          </a:prstGeom>
          <a:noFill/>
          <a:ln/>
        </p:spPr>
        <p:txBody>
          <a:bodyPr wrap="square" lIns="0" tIns="0" rIns="0" bIns="0" rtlCol="0" anchor="ctr"/>
          <a:lstStyle/>
          <a:p>
            <a:pPr marL="0" indent="0" algn="ctr">
              <a:buNone/>
            </a:pPr>
            <a:r>
              <a:rPr lang="en-US" sz="2100" b="1">
                <a:solidFill>
                  <a:srgbClr val="111111"/>
                </a:solidFill>
                <a:latin typeface="Times New Roman" pitchFamily="34" charset="0"/>
                <a:ea typeface="Times New Roman" pitchFamily="34" charset="-122"/>
                <a:cs typeface="Times New Roman" pitchFamily="34" charset="-120"/>
              </a:rPr>
              <a:t>OOM</a:t>
            </a:r>
            <a:endParaRPr lang="en-US" sz="2100"/>
          </a:p>
        </p:txBody>
      </p:sp>
      <p:sp>
        <p:nvSpPr>
          <p:cNvPr id="14" name="Text 12"/>
          <p:cNvSpPr/>
          <p:nvPr/>
        </p:nvSpPr>
        <p:spPr>
          <a:xfrm>
            <a:off x="3337560" y="5010912"/>
            <a:ext cx="2148840" cy="128016"/>
          </a:xfrm>
          <a:prstGeom prst="rect">
            <a:avLst/>
          </a:prstGeom>
          <a:noFill/>
          <a:ln/>
        </p:spPr>
        <p:txBody>
          <a:bodyPr wrap="square" lIns="0" tIns="0" rIns="0" bIns="0" rtlCol="0" anchor="ctr"/>
          <a:lstStyle/>
          <a:p>
            <a:pPr marL="0" indent="0" algn="ctr">
              <a:buNone/>
            </a:pPr>
            <a:r>
              <a:rPr lang="en-US" sz="1120">
                <a:solidFill>
                  <a:srgbClr val="222222"/>
                </a:solidFill>
                <a:latin typeface="Arial" pitchFamily="34" charset="0"/>
                <a:ea typeface="Arial" pitchFamily="34" charset="-122"/>
                <a:cs typeface="Arial" pitchFamily="34" charset="-120"/>
              </a:rPr>
              <a:t>Controller-side CPU memory becomes the bottleneck</a:t>
            </a:r>
            <a:endParaRPr lang="en-US" sz="1120"/>
          </a:p>
        </p:txBody>
      </p:sp>
      <p:sp>
        <p:nvSpPr>
          <p:cNvPr id="15" name="Text 13"/>
          <p:cNvSpPr/>
          <p:nvPr/>
        </p:nvSpPr>
        <p:spPr>
          <a:xfrm>
            <a:off x="6281928" y="1243584"/>
            <a:ext cx="526694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Bottleneck B — Cross-GPU execution imbalance</a:t>
            </a:r>
            <a:endParaRPr lang="en-US" sz="1550"/>
          </a:p>
        </p:txBody>
      </p:sp>
      <p:sp>
        <p:nvSpPr>
          <p:cNvPr id="16" name="Text 14"/>
          <p:cNvSpPr/>
          <p:nvPr/>
        </p:nvSpPr>
        <p:spPr>
          <a:xfrm>
            <a:off x="6281928" y="1536192"/>
            <a:ext cx="5266944" cy="4178808"/>
          </a:xfrm>
          <a:prstGeom prst="rect">
            <a:avLst/>
          </a:prstGeom>
          <a:noFill/>
          <a:ln/>
        </p:spPr>
        <p:txBody>
          <a:bodyPr wrap="square" lIns="0" tIns="0" rIns="0" bIns="0" rtlCol="0" anchor="t"/>
          <a:lstStyle/>
          <a:p>
            <a:pPr marL="0" indent="0">
              <a:buNone/>
            </a:pPr>
            <a:endParaRPr lang="en-US" sz="1230"/>
          </a:p>
        </p:txBody>
      </p:sp>
      <p:sp>
        <p:nvSpPr>
          <p:cNvPr id="17" name="Text 15"/>
          <p:cNvSpPr/>
          <p:nvPr/>
        </p:nvSpPr>
        <p:spPr>
          <a:xfrm>
            <a:off x="6510528" y="1828800"/>
            <a:ext cx="4663440" cy="658368"/>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Attention compute grows quadratically with sequence length, while activation memory grows linearly.</a:t>
            </a:r>
            <a:endParaRPr lang="en-US" sz="1400"/>
          </a:p>
        </p:txBody>
      </p:sp>
      <p:sp>
        <p:nvSpPr>
          <p:cNvPr id="18" name="Text 16"/>
          <p:cNvSpPr/>
          <p:nvPr/>
        </p:nvSpPr>
        <p:spPr>
          <a:xfrm>
            <a:off x="6510528" y="2542032"/>
            <a:ext cx="4663440" cy="694944"/>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Text length is a poor proxy for visual cost: image counts and video frame counts change both compute and memory.</a:t>
            </a:r>
            <a:endParaRPr lang="en-US" sz="1400"/>
          </a:p>
        </p:txBody>
      </p:sp>
      <p:sp>
        <p:nvSpPr>
          <p:cNvPr id="19" name="Text 17"/>
          <p:cNvSpPr/>
          <p:nvPr/>
        </p:nvSpPr>
        <p:spPr>
          <a:xfrm>
            <a:off x="6510528" y="3310128"/>
            <a:ext cx="4663440" cy="694944"/>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Length-only bucketing can still leave one DP rank as the straggler—or even OOM on long contexts.</a:t>
            </a:r>
            <a:endParaRPr lang="en-US" sz="1400"/>
          </a:p>
        </p:txBody>
      </p:sp>
      <p:sp>
        <p:nvSpPr>
          <p:cNvPr id="20" name="Text 18"/>
          <p:cNvSpPr/>
          <p:nvPr/>
        </p:nvSpPr>
        <p:spPr>
          <a:xfrm>
            <a:off x="6629400" y="4114800"/>
            <a:ext cx="2148840" cy="164592"/>
          </a:xfrm>
          <a:prstGeom prst="rect">
            <a:avLst/>
          </a:prstGeom>
          <a:noFill/>
          <a:ln/>
        </p:spPr>
        <p:txBody>
          <a:bodyPr wrap="square" lIns="0" tIns="0" rIns="0" bIns="0" rtlCol="0" anchor="ctr"/>
          <a:lstStyle/>
          <a:p>
            <a:pPr marL="0" indent="0" algn="ctr">
              <a:buNone/>
            </a:pPr>
            <a:r>
              <a:rPr lang="en-US" sz="1120" b="1">
                <a:solidFill>
                  <a:srgbClr val="6B6B6B"/>
                </a:solidFill>
                <a:latin typeface="Arial" pitchFamily="34" charset="0"/>
                <a:ea typeface="Arial" pitchFamily="34" charset="-122"/>
                <a:cs typeface="Arial" pitchFamily="34" charset="-120"/>
              </a:rPr>
              <a:t>Skew source</a:t>
            </a:r>
            <a:endParaRPr lang="en-US" sz="1120"/>
          </a:p>
        </p:txBody>
      </p:sp>
      <p:sp>
        <p:nvSpPr>
          <p:cNvPr id="21" name="Text 19"/>
          <p:cNvSpPr/>
          <p:nvPr/>
        </p:nvSpPr>
        <p:spPr>
          <a:xfrm>
            <a:off x="6629400" y="4443984"/>
            <a:ext cx="2148840" cy="502920"/>
          </a:xfrm>
          <a:prstGeom prst="rect">
            <a:avLst/>
          </a:prstGeom>
          <a:noFill/>
          <a:ln/>
        </p:spPr>
        <p:txBody>
          <a:bodyPr wrap="square" lIns="0" tIns="0" rIns="0" bIns="0" rtlCol="0" anchor="ctr"/>
          <a:lstStyle/>
          <a:p>
            <a:pPr marL="0" indent="0" algn="ctr">
              <a:buNone/>
            </a:pPr>
            <a:r>
              <a:rPr lang="en-US" sz="1550" b="1">
                <a:solidFill>
                  <a:srgbClr val="111111"/>
                </a:solidFill>
                <a:latin typeface="Times New Roman" pitchFamily="34" charset="0"/>
                <a:ea typeface="Times New Roman" pitchFamily="34" charset="-122"/>
                <a:cs typeface="Times New Roman" pitchFamily="34" charset="-120"/>
              </a:rPr>
              <a:t>Mixed modalities</a:t>
            </a:r>
            <a:endParaRPr lang="en-US" sz="1550"/>
          </a:p>
        </p:txBody>
      </p:sp>
      <p:sp>
        <p:nvSpPr>
          <p:cNvPr id="22" name="Text 20"/>
          <p:cNvSpPr/>
          <p:nvPr/>
        </p:nvSpPr>
        <p:spPr>
          <a:xfrm>
            <a:off x="6629400" y="5010912"/>
            <a:ext cx="2148840" cy="128016"/>
          </a:xfrm>
          <a:prstGeom prst="rect">
            <a:avLst/>
          </a:prstGeom>
          <a:noFill/>
          <a:ln/>
        </p:spPr>
        <p:txBody>
          <a:bodyPr wrap="square" lIns="0" tIns="0" rIns="0" bIns="0" rtlCol="0" anchor="ctr"/>
          <a:lstStyle/>
          <a:p>
            <a:pPr marL="0" indent="0" algn="ctr">
              <a:buNone/>
            </a:pPr>
            <a:r>
              <a:rPr lang="en-US" sz="1120">
                <a:solidFill>
                  <a:srgbClr val="222222"/>
                </a:solidFill>
                <a:latin typeface="Arial" pitchFamily="34" charset="0"/>
                <a:ea typeface="Arial" pitchFamily="34" charset="-122"/>
                <a:cs typeface="Arial" pitchFamily="34" charset="-120"/>
              </a:rPr>
              <a:t>short image-text + long video-text in the same RL batch</a:t>
            </a:r>
            <a:endParaRPr lang="en-US" sz="1120"/>
          </a:p>
        </p:txBody>
      </p:sp>
      <p:sp>
        <p:nvSpPr>
          <p:cNvPr id="23" name="Text 21"/>
          <p:cNvSpPr/>
          <p:nvPr/>
        </p:nvSpPr>
        <p:spPr>
          <a:xfrm>
            <a:off x="9006840" y="4114800"/>
            <a:ext cx="2148840" cy="164592"/>
          </a:xfrm>
          <a:prstGeom prst="rect">
            <a:avLst/>
          </a:prstGeom>
          <a:noFill/>
          <a:ln/>
        </p:spPr>
        <p:txBody>
          <a:bodyPr wrap="square" lIns="0" tIns="0" rIns="0" bIns="0" rtlCol="0" anchor="ctr"/>
          <a:lstStyle/>
          <a:p>
            <a:pPr marL="0" indent="0" algn="ctr">
              <a:buNone/>
            </a:pPr>
            <a:r>
              <a:rPr lang="en-US" sz="1120" b="1">
                <a:solidFill>
                  <a:srgbClr val="6B6B6B"/>
                </a:solidFill>
                <a:latin typeface="Arial" pitchFamily="34" charset="0"/>
                <a:ea typeface="Arial" pitchFamily="34" charset="-122"/>
                <a:cs typeface="Arial" pitchFamily="34" charset="-120"/>
              </a:rPr>
              <a:t>Why prior work falls short</a:t>
            </a:r>
            <a:endParaRPr lang="en-US" sz="1120"/>
          </a:p>
        </p:txBody>
      </p:sp>
      <p:sp>
        <p:nvSpPr>
          <p:cNvPr id="24" name="Text 22"/>
          <p:cNvSpPr/>
          <p:nvPr/>
        </p:nvSpPr>
        <p:spPr>
          <a:xfrm>
            <a:off x="9006840" y="4443984"/>
            <a:ext cx="2148840" cy="502920"/>
          </a:xfrm>
          <a:prstGeom prst="rect">
            <a:avLst/>
          </a:prstGeom>
          <a:noFill/>
          <a:ln/>
        </p:spPr>
        <p:txBody>
          <a:bodyPr wrap="square" lIns="0" tIns="0" rIns="0" bIns="0" rtlCol="0" anchor="ctr"/>
          <a:lstStyle/>
          <a:p>
            <a:pPr marL="0" indent="0" algn="ctr">
              <a:buNone/>
            </a:pPr>
            <a:r>
              <a:rPr lang="en-US" sz="1550" b="1">
                <a:solidFill>
                  <a:srgbClr val="111111"/>
                </a:solidFill>
                <a:latin typeface="Times New Roman" pitchFamily="34" charset="0"/>
                <a:ea typeface="Times New Roman" pitchFamily="34" charset="-122"/>
                <a:cs typeface="Times New Roman" pitchFamily="34" charset="-120"/>
              </a:rPr>
              <a:t>Bucketing ≠ balancing</a:t>
            </a:r>
            <a:endParaRPr lang="en-US" sz="1550"/>
          </a:p>
        </p:txBody>
      </p:sp>
      <p:sp>
        <p:nvSpPr>
          <p:cNvPr id="25" name="Text 23"/>
          <p:cNvSpPr/>
          <p:nvPr/>
        </p:nvSpPr>
        <p:spPr>
          <a:xfrm>
            <a:off x="9006840" y="5010912"/>
            <a:ext cx="2148840" cy="128016"/>
          </a:xfrm>
          <a:prstGeom prst="rect">
            <a:avLst/>
          </a:prstGeom>
          <a:noFill/>
          <a:ln/>
        </p:spPr>
        <p:txBody>
          <a:bodyPr wrap="square" lIns="0" tIns="0" rIns="0" bIns="0" rtlCol="0" anchor="ctr"/>
          <a:lstStyle/>
          <a:p>
            <a:pPr marL="0" indent="0" algn="ctr">
              <a:buNone/>
            </a:pPr>
            <a:r>
              <a:rPr lang="en-US" sz="1100">
                <a:solidFill>
                  <a:srgbClr val="222222"/>
                </a:solidFill>
                <a:latin typeface="Arial" pitchFamily="34" charset="0"/>
                <a:ea typeface="Arial" pitchFamily="34" charset="-122"/>
                <a:cs typeface="Arial" pitchFamily="34" charset="-120"/>
              </a:rPr>
              <a:t>fixed parallelism or coarse buckets cannot eliminate stragglers</a:t>
            </a:r>
            <a:endParaRPr lang="en-US" sz="1100"/>
          </a:p>
        </p:txBody>
      </p:sp>
      <p:sp>
        <p:nvSpPr>
          <p:cNvPr id="26" name="Text 24"/>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3</a:t>
            </a:r>
            <a:endParaRPr lang="en-US" sz="85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FlexRL Overview</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685800" y="1298448"/>
            <a:ext cx="1920240" cy="228600"/>
          </a:xfrm>
          <a:prstGeom prst="rect">
            <a:avLst/>
          </a:prstGeom>
          <a:noFill/>
          <a:ln/>
        </p:spPr>
        <p:txBody>
          <a:bodyPr wrap="square" lIns="0" tIns="0" rIns="0" bIns="0" rtlCol="0" anchor="ctr"/>
          <a:lstStyle/>
          <a:p>
            <a:pPr marL="0" indent="0">
              <a:buNone/>
            </a:pPr>
            <a:r>
              <a:rPr lang="en-US" sz="1550" b="1">
                <a:solidFill>
                  <a:srgbClr val="111111"/>
                </a:solidFill>
                <a:latin typeface="Arial" pitchFamily="34" charset="0"/>
                <a:ea typeface="Arial" pitchFamily="34" charset="-122"/>
                <a:cs typeface="Arial" pitchFamily="34" charset="-120"/>
              </a:rPr>
              <a:t>Core idea</a:t>
            </a:r>
            <a:endParaRPr lang="en-US" sz="1550"/>
          </a:p>
        </p:txBody>
      </p:sp>
      <p:sp>
        <p:nvSpPr>
          <p:cNvPr id="5" name="Text 3"/>
          <p:cNvSpPr/>
          <p:nvPr/>
        </p:nvSpPr>
        <p:spPr>
          <a:xfrm>
            <a:off x="731520" y="1719072"/>
            <a:ext cx="3337560" cy="713232"/>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ShadowLoader decentralizes multimodal preprocessing and keeps only lightweight metadata on the controller.</a:t>
            </a:r>
            <a:endParaRPr lang="en-US" sz="1400"/>
          </a:p>
        </p:txBody>
      </p:sp>
      <p:sp>
        <p:nvSpPr>
          <p:cNvPr id="6" name="Text 4"/>
          <p:cNvSpPr/>
          <p:nvPr/>
        </p:nvSpPr>
        <p:spPr>
          <a:xfrm>
            <a:off x="731520" y="2542032"/>
            <a:ext cx="3337560" cy="841248"/>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FlexUlysses shards only the sequences that need it, balancing both compute and memory at sub-sequence granularity.</a:t>
            </a:r>
            <a:endParaRPr lang="en-US" sz="1400"/>
          </a:p>
        </p:txBody>
      </p:sp>
      <p:sp>
        <p:nvSpPr>
          <p:cNvPr id="7" name="Text 5"/>
          <p:cNvSpPr/>
          <p:nvPr/>
        </p:nvSpPr>
        <p:spPr>
          <a:xfrm>
            <a:off x="731520" y="3547872"/>
            <a:ext cx="3337560" cy="859536"/>
          </a:xfrm>
          <a:prstGeom prst="rect">
            <a:avLst/>
          </a:prstGeom>
          <a:noFill/>
          <a:ln/>
        </p:spPr>
        <p:txBody>
          <a:bodyPr wrap="square" lIns="0" tIns="0" rIns="0" bIns="0" rtlCol="0" anchor="ctr"/>
          <a:lstStyle/>
          <a:p>
            <a:pPr marL="203200" indent="-203200">
              <a:buSzPct val="100000"/>
              <a:buChar char="•"/>
            </a:pPr>
            <a:r>
              <a:rPr lang="en-US" sz="1400">
                <a:solidFill>
                  <a:srgbClr val="222222"/>
                </a:solidFill>
                <a:latin typeface="Arial" pitchFamily="34" charset="0"/>
                <a:ea typeface="Arial" pitchFamily="34" charset="-122"/>
                <a:cs typeface="Arial" pitchFamily="34" charset="-120"/>
              </a:rPr>
              <a:t>The two components are co-designed so sharding decisions can guide slice-aware data loading and reduce transfer volume.</a:t>
            </a:r>
            <a:endParaRPr lang="en-US" sz="1400"/>
          </a:p>
        </p:txBody>
      </p:sp>
      <p:pic>
        <p:nvPicPr>
          <p:cNvPr id="8" name="Image 0" descr="/Users/wangzerui/Documents/papers_agent/.cache/flexrl_talk_build/assets/real_overview__v3.png"/>
          <p:cNvPicPr>
            <a:picLocks noChangeAspect="1"/>
          </p:cNvPicPr>
          <p:nvPr/>
        </p:nvPicPr>
        <p:blipFill>
          <a:blip r:embed="rId3"/>
          <a:stretch>
            <a:fillRect/>
          </a:stretch>
        </p:blipFill>
        <p:spPr>
          <a:xfrm>
            <a:off x="4389120" y="1267766"/>
            <a:ext cx="7223760" cy="5182003"/>
          </a:xfrm>
          <a:prstGeom prst="rect">
            <a:avLst/>
          </a:prstGeom>
        </p:spPr>
      </p:pic>
      <p:sp>
        <p:nvSpPr>
          <p:cNvPr id="9" name="Text 6"/>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4</a:t>
            </a:r>
            <a:endParaRPr lang="en-US" sz="85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ShadowLoader</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676656" y="1261872"/>
            <a:ext cx="1143000" cy="201168"/>
          </a:xfrm>
          <a:prstGeom prst="rect">
            <a:avLst/>
          </a:prstGeom>
          <a:noFill/>
          <a:ln/>
        </p:spPr>
        <p:txBody>
          <a:bodyPr wrap="square" lIns="0" tIns="0" rIns="0" bIns="0" rtlCol="0" anchor="ctr"/>
          <a:lstStyle/>
          <a:p>
            <a:pPr marL="0" indent="0">
              <a:buNone/>
            </a:pPr>
            <a:r>
              <a:rPr lang="en-US" sz="1550" b="1">
                <a:solidFill>
                  <a:srgbClr val="111111"/>
                </a:solidFill>
                <a:latin typeface="Arial" pitchFamily="34" charset="0"/>
                <a:ea typeface="Arial" pitchFamily="34" charset="-122"/>
                <a:cs typeface="Arial" pitchFamily="34" charset="-120"/>
              </a:rPr>
              <a:t>Workflow</a:t>
            </a:r>
            <a:endParaRPr lang="en-US" sz="1550"/>
          </a:p>
        </p:txBody>
      </p:sp>
      <p:sp>
        <p:nvSpPr>
          <p:cNvPr id="5" name="Text 3"/>
          <p:cNvSpPr/>
          <p:nvPr/>
        </p:nvSpPr>
        <p:spPr>
          <a:xfrm>
            <a:off x="850392" y="1947672"/>
            <a:ext cx="1737360" cy="320040"/>
          </a:xfrm>
          <a:prstGeom prst="rect">
            <a:avLst/>
          </a:prstGeom>
          <a:noFill/>
          <a:ln/>
        </p:spPr>
        <p:txBody>
          <a:bodyPr wrap="square" lIns="0" tIns="0" rIns="0" bIns="0" rtlCol="0" anchor="ctr"/>
          <a:lstStyle/>
          <a:p>
            <a:pPr marL="0" indent="0" algn="ctr">
              <a:buNone/>
            </a:pPr>
            <a:r>
              <a:rPr lang="en-US" sz="1450" b="1">
                <a:solidFill>
                  <a:srgbClr val="111111"/>
                </a:solidFill>
                <a:latin typeface="Arial" pitchFamily="34" charset="0"/>
                <a:ea typeface="Arial" pitchFamily="34" charset="-122"/>
                <a:cs typeface="Arial" pitchFamily="34" charset="-120"/>
              </a:rPr>
              <a:t>Proxy</a:t>
            </a:r>
            <a:endParaRPr lang="en-US" sz="1450"/>
          </a:p>
          <a:p>
            <a:pPr marL="0" indent="0" algn="ctr">
              <a:buNone/>
            </a:pPr>
            <a:r>
              <a:rPr lang="en-US" sz="1450" b="1">
                <a:solidFill>
                  <a:srgbClr val="111111"/>
                </a:solidFill>
                <a:latin typeface="Arial" pitchFamily="34" charset="0"/>
                <a:ea typeface="Arial" pitchFamily="34" charset="-122"/>
                <a:cs typeface="Arial" pitchFamily="34" charset="-120"/>
              </a:rPr>
              <a:t>Dataloader</a:t>
            </a:r>
            <a:endParaRPr lang="en-US" sz="1450"/>
          </a:p>
        </p:txBody>
      </p:sp>
      <p:sp>
        <p:nvSpPr>
          <p:cNvPr id="6" name="Text 4"/>
          <p:cNvSpPr/>
          <p:nvPr/>
        </p:nvSpPr>
        <p:spPr>
          <a:xfrm>
            <a:off x="850392" y="2350008"/>
            <a:ext cx="1737360" cy="502920"/>
          </a:xfrm>
          <a:prstGeom prst="rect">
            <a:avLst/>
          </a:prstGeom>
          <a:noFill/>
          <a:ln/>
        </p:spPr>
        <p:txBody>
          <a:bodyPr wrap="square" lIns="0" tIns="0" rIns="0" bIns="0" rtlCol="0" anchor="ctr"/>
          <a:lstStyle/>
          <a:p>
            <a:pPr marL="0" indent="0" algn="ctr">
              <a:buNone/>
            </a:pPr>
            <a:r>
              <a:rPr lang="en-US" sz="1120">
                <a:solidFill>
                  <a:srgbClr val="222222"/>
                </a:solidFill>
                <a:latin typeface="Arial" pitchFamily="34" charset="0"/>
                <a:ea typeface="Arial" pitchFamily="34" charset="-122"/>
                <a:cs typeface="Arial" pitchFamily="34" charset="-120"/>
              </a:rPr>
              <a:t>Controller keeps FakeTensor metadata only</a:t>
            </a:r>
            <a:endParaRPr lang="en-US" sz="1120"/>
          </a:p>
        </p:txBody>
      </p:sp>
      <p:sp>
        <p:nvSpPr>
          <p:cNvPr id="7" name="Text 5"/>
          <p:cNvSpPr/>
          <p:nvPr/>
        </p:nvSpPr>
        <p:spPr>
          <a:xfrm>
            <a:off x="2779776" y="2240280"/>
            <a:ext cx="164592" cy="164592"/>
          </a:xfrm>
          <a:prstGeom prst="rect">
            <a:avLst/>
          </a:prstGeom>
          <a:noFill/>
          <a:ln/>
        </p:spPr>
        <p:txBody>
          <a:bodyPr wrap="square" lIns="0" tIns="0" rIns="0" bIns="0" rtlCol="0" anchor="ctr"/>
          <a:lstStyle/>
          <a:p>
            <a:pPr marL="0" indent="0" algn="ctr">
              <a:buNone/>
            </a:pPr>
            <a:r>
              <a:rPr lang="en-US" sz="1600" b="1">
                <a:solidFill>
                  <a:srgbClr val="6B6B6B"/>
                </a:solidFill>
                <a:latin typeface="Arial" pitchFamily="34" charset="0"/>
                <a:ea typeface="Arial" pitchFamily="34" charset="-122"/>
                <a:cs typeface="Arial" pitchFamily="34" charset="-120"/>
              </a:rPr>
              <a:t>→</a:t>
            </a:r>
            <a:endParaRPr lang="en-US" sz="1600"/>
          </a:p>
        </p:txBody>
      </p:sp>
      <p:sp>
        <p:nvSpPr>
          <p:cNvPr id="8" name="Text 6"/>
          <p:cNvSpPr/>
          <p:nvPr/>
        </p:nvSpPr>
        <p:spPr>
          <a:xfrm>
            <a:off x="3154680" y="1947672"/>
            <a:ext cx="1737360" cy="320040"/>
          </a:xfrm>
          <a:prstGeom prst="rect">
            <a:avLst/>
          </a:prstGeom>
          <a:noFill/>
          <a:ln/>
        </p:spPr>
        <p:txBody>
          <a:bodyPr wrap="square" lIns="0" tIns="0" rIns="0" bIns="0" rtlCol="0" anchor="ctr"/>
          <a:lstStyle/>
          <a:p>
            <a:pPr marL="0" indent="0" algn="ctr">
              <a:buNone/>
            </a:pPr>
            <a:r>
              <a:rPr lang="en-US" sz="1450" b="1">
                <a:solidFill>
                  <a:srgbClr val="111111"/>
                </a:solidFill>
                <a:latin typeface="Arial" pitchFamily="34" charset="0"/>
                <a:ea typeface="Arial" pitchFamily="34" charset="-122"/>
                <a:cs typeface="Arial" pitchFamily="34" charset="-120"/>
              </a:rPr>
              <a:t>Local</a:t>
            </a:r>
            <a:endParaRPr lang="en-US" sz="1450"/>
          </a:p>
          <a:p>
            <a:pPr marL="0" indent="0" algn="ctr">
              <a:buNone/>
            </a:pPr>
            <a:r>
              <a:rPr lang="en-US" sz="1450" b="1">
                <a:solidFill>
                  <a:srgbClr val="111111"/>
                </a:solidFill>
                <a:latin typeface="Arial" pitchFamily="34" charset="0"/>
                <a:ea typeface="Arial" pitchFamily="34" charset="-122"/>
                <a:cs typeface="Arial" pitchFamily="34" charset="-120"/>
              </a:rPr>
              <a:t>Preprocessor</a:t>
            </a:r>
            <a:endParaRPr lang="en-US" sz="1450"/>
          </a:p>
        </p:txBody>
      </p:sp>
      <p:sp>
        <p:nvSpPr>
          <p:cNvPr id="9" name="Text 7"/>
          <p:cNvSpPr/>
          <p:nvPr/>
        </p:nvSpPr>
        <p:spPr>
          <a:xfrm>
            <a:off x="3154680" y="2350008"/>
            <a:ext cx="1737360" cy="502920"/>
          </a:xfrm>
          <a:prstGeom prst="rect">
            <a:avLst/>
          </a:prstGeom>
          <a:noFill/>
          <a:ln/>
        </p:spPr>
        <p:txBody>
          <a:bodyPr wrap="square" lIns="0" tIns="0" rIns="0" bIns="0" rtlCol="0" anchor="ctr"/>
          <a:lstStyle/>
          <a:p>
            <a:pPr marL="0" indent="0" algn="ctr">
              <a:buNone/>
            </a:pPr>
            <a:r>
              <a:rPr lang="en-US" sz="1120">
                <a:solidFill>
                  <a:srgbClr val="222222"/>
                </a:solidFill>
                <a:latin typeface="Arial" pitchFamily="34" charset="0"/>
                <a:ea typeface="Arial" pitchFamily="34" charset="-122"/>
                <a:cs typeface="Arial" pitchFamily="34" charset="-120"/>
              </a:rPr>
              <a:t>Worker-side decode, frame sampling, and caching</a:t>
            </a:r>
            <a:endParaRPr lang="en-US" sz="1120"/>
          </a:p>
        </p:txBody>
      </p:sp>
      <p:sp>
        <p:nvSpPr>
          <p:cNvPr id="10" name="Text 8"/>
          <p:cNvSpPr/>
          <p:nvPr/>
        </p:nvSpPr>
        <p:spPr>
          <a:xfrm>
            <a:off x="5084064" y="2240280"/>
            <a:ext cx="164592" cy="164592"/>
          </a:xfrm>
          <a:prstGeom prst="rect">
            <a:avLst/>
          </a:prstGeom>
          <a:noFill/>
          <a:ln/>
        </p:spPr>
        <p:txBody>
          <a:bodyPr wrap="square" lIns="0" tIns="0" rIns="0" bIns="0" rtlCol="0" anchor="ctr"/>
          <a:lstStyle/>
          <a:p>
            <a:pPr marL="0" indent="0" algn="ctr">
              <a:buNone/>
            </a:pPr>
            <a:r>
              <a:rPr lang="en-US" sz="1600" b="1">
                <a:solidFill>
                  <a:srgbClr val="6B6B6B"/>
                </a:solidFill>
                <a:latin typeface="Arial" pitchFamily="34" charset="0"/>
                <a:ea typeface="Arial" pitchFamily="34" charset="-122"/>
                <a:cs typeface="Arial" pitchFamily="34" charset="-120"/>
              </a:rPr>
              <a:t>→</a:t>
            </a:r>
            <a:endParaRPr lang="en-US" sz="1600"/>
          </a:p>
        </p:txBody>
      </p:sp>
      <p:sp>
        <p:nvSpPr>
          <p:cNvPr id="11" name="Text 9"/>
          <p:cNvSpPr/>
          <p:nvPr/>
        </p:nvSpPr>
        <p:spPr>
          <a:xfrm>
            <a:off x="5458968" y="1947672"/>
            <a:ext cx="1737360" cy="320040"/>
          </a:xfrm>
          <a:prstGeom prst="rect">
            <a:avLst/>
          </a:prstGeom>
          <a:noFill/>
          <a:ln/>
        </p:spPr>
        <p:txBody>
          <a:bodyPr wrap="square" lIns="0" tIns="0" rIns="0" bIns="0" rtlCol="0" anchor="ctr"/>
          <a:lstStyle/>
          <a:p>
            <a:pPr marL="0" indent="0" algn="ctr">
              <a:buNone/>
            </a:pPr>
            <a:r>
              <a:rPr lang="en-US" sz="1450" b="1">
                <a:solidFill>
                  <a:srgbClr val="111111"/>
                </a:solidFill>
                <a:latin typeface="Arial" pitchFamily="34" charset="0"/>
                <a:ea typeface="Arial" pitchFamily="34" charset="-122"/>
                <a:cs typeface="Arial" pitchFamily="34" charset="-120"/>
              </a:rPr>
              <a:t>MetaStore</a:t>
            </a:r>
            <a:endParaRPr lang="en-US" sz="1450"/>
          </a:p>
        </p:txBody>
      </p:sp>
      <p:sp>
        <p:nvSpPr>
          <p:cNvPr id="12" name="Text 10"/>
          <p:cNvSpPr/>
          <p:nvPr/>
        </p:nvSpPr>
        <p:spPr>
          <a:xfrm>
            <a:off x="5458968" y="2350008"/>
            <a:ext cx="1737360" cy="502920"/>
          </a:xfrm>
          <a:prstGeom prst="rect">
            <a:avLst/>
          </a:prstGeom>
          <a:noFill/>
          <a:ln/>
        </p:spPr>
        <p:txBody>
          <a:bodyPr wrap="square" lIns="0" tIns="0" rIns="0" bIns="0" rtlCol="0" anchor="ctr"/>
          <a:lstStyle/>
          <a:p>
            <a:pPr marL="0" indent="0" algn="ctr">
              <a:buNone/>
            </a:pPr>
            <a:r>
              <a:rPr lang="en-US" sz="1120">
                <a:solidFill>
                  <a:srgbClr val="222222"/>
                </a:solidFill>
                <a:latin typeface="Arial" pitchFamily="34" charset="0"/>
                <a:ea typeface="Arial" pitchFamily="34" charset="-122"/>
                <a:cs typeface="Arial" pitchFamily="34" charset="-120"/>
              </a:rPr>
              <a:t>Track sample ID → physical location mapping</a:t>
            </a:r>
            <a:endParaRPr lang="en-US" sz="1120"/>
          </a:p>
        </p:txBody>
      </p:sp>
      <p:sp>
        <p:nvSpPr>
          <p:cNvPr id="13" name="Text 11"/>
          <p:cNvSpPr/>
          <p:nvPr/>
        </p:nvSpPr>
        <p:spPr>
          <a:xfrm>
            <a:off x="7388352" y="2240280"/>
            <a:ext cx="164592" cy="164592"/>
          </a:xfrm>
          <a:prstGeom prst="rect">
            <a:avLst/>
          </a:prstGeom>
          <a:noFill/>
          <a:ln/>
        </p:spPr>
        <p:txBody>
          <a:bodyPr wrap="square" lIns="0" tIns="0" rIns="0" bIns="0" rtlCol="0" anchor="ctr"/>
          <a:lstStyle/>
          <a:p>
            <a:pPr marL="0" indent="0" algn="ctr">
              <a:buNone/>
            </a:pPr>
            <a:r>
              <a:rPr lang="en-US" sz="1600" b="1">
                <a:solidFill>
                  <a:srgbClr val="6B6B6B"/>
                </a:solidFill>
                <a:latin typeface="Arial" pitchFamily="34" charset="0"/>
                <a:ea typeface="Arial" pitchFamily="34" charset="-122"/>
                <a:cs typeface="Arial" pitchFamily="34" charset="-120"/>
              </a:rPr>
              <a:t>→</a:t>
            </a:r>
            <a:endParaRPr lang="en-US" sz="1600"/>
          </a:p>
        </p:txBody>
      </p:sp>
      <p:sp>
        <p:nvSpPr>
          <p:cNvPr id="14" name="Text 12"/>
          <p:cNvSpPr/>
          <p:nvPr/>
        </p:nvSpPr>
        <p:spPr>
          <a:xfrm>
            <a:off x="7763256" y="1947672"/>
            <a:ext cx="1737360" cy="320040"/>
          </a:xfrm>
          <a:prstGeom prst="rect">
            <a:avLst/>
          </a:prstGeom>
          <a:noFill/>
          <a:ln/>
        </p:spPr>
        <p:txBody>
          <a:bodyPr wrap="square" lIns="0" tIns="0" rIns="0" bIns="0" rtlCol="0" anchor="ctr"/>
          <a:lstStyle/>
          <a:p>
            <a:pPr marL="0" indent="0" algn="ctr">
              <a:buNone/>
            </a:pPr>
            <a:r>
              <a:rPr lang="en-US" sz="1450" b="1">
                <a:solidFill>
                  <a:srgbClr val="111111"/>
                </a:solidFill>
                <a:latin typeface="Arial" pitchFamily="34" charset="0"/>
                <a:ea typeface="Arial" pitchFamily="34" charset="-122"/>
                <a:cs typeface="Arial" pitchFamily="34" charset="-120"/>
              </a:rPr>
              <a:t>Materializer</a:t>
            </a:r>
            <a:endParaRPr lang="en-US" sz="1450"/>
          </a:p>
        </p:txBody>
      </p:sp>
      <p:sp>
        <p:nvSpPr>
          <p:cNvPr id="15" name="Text 13"/>
          <p:cNvSpPr/>
          <p:nvPr/>
        </p:nvSpPr>
        <p:spPr>
          <a:xfrm>
            <a:off x="7763256" y="2350008"/>
            <a:ext cx="1737360" cy="502920"/>
          </a:xfrm>
          <a:prstGeom prst="rect">
            <a:avLst/>
          </a:prstGeom>
          <a:noFill/>
          <a:ln/>
        </p:spPr>
        <p:txBody>
          <a:bodyPr wrap="square" lIns="0" tIns="0" rIns="0" bIns="0" rtlCol="0" anchor="ctr"/>
          <a:lstStyle/>
          <a:p>
            <a:pPr marL="0" indent="0" algn="ctr">
              <a:buNone/>
            </a:pPr>
            <a:r>
              <a:rPr lang="en-US" sz="1120">
                <a:solidFill>
                  <a:srgbClr val="222222"/>
                </a:solidFill>
                <a:latin typeface="Arial" pitchFamily="34" charset="0"/>
                <a:ea typeface="Arial" pitchFamily="34" charset="-122"/>
                <a:cs typeface="Arial" pitchFamily="34" charset="-120"/>
              </a:rPr>
              <a:t>Workers fetch actual visual tensors on demand</a:t>
            </a:r>
            <a:endParaRPr lang="en-US" sz="1120"/>
          </a:p>
        </p:txBody>
      </p:sp>
      <p:sp>
        <p:nvSpPr>
          <p:cNvPr id="16" name="Text 14"/>
          <p:cNvSpPr/>
          <p:nvPr/>
        </p:nvSpPr>
        <p:spPr>
          <a:xfrm>
            <a:off x="749808" y="3767328"/>
            <a:ext cx="503834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Key mechanisms</a:t>
            </a:r>
            <a:endParaRPr lang="en-US" sz="1550"/>
          </a:p>
        </p:txBody>
      </p:sp>
      <p:sp>
        <p:nvSpPr>
          <p:cNvPr id="17" name="Text 15"/>
          <p:cNvSpPr/>
          <p:nvPr/>
        </p:nvSpPr>
        <p:spPr>
          <a:xfrm>
            <a:off x="749808" y="4059936"/>
            <a:ext cx="5038344" cy="120700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 keep only metadata on the controller</a:t>
            </a:r>
            <a:endParaRPr lang="en-US" sz="1230"/>
          </a:p>
          <a:p>
            <a:pPr marL="0" indent="0">
              <a:buNone/>
            </a:pPr>
            <a:r>
              <a:rPr lang="en-US" sz="1230">
                <a:solidFill>
                  <a:srgbClr val="222222"/>
                </a:solidFill>
                <a:latin typeface="Arial" pitchFamily="34" charset="0"/>
                <a:ea typeface="Arial" pitchFamily="34" charset="-122"/>
                <a:cs typeface="Arial" pitchFamily="34" charset="-120"/>
              </a:rPr>
              <a:t>• overlap preprocessing / transfer with GPU work</a:t>
            </a:r>
            <a:endParaRPr lang="en-US" sz="1230"/>
          </a:p>
          <a:p>
            <a:pPr marL="0" indent="0">
              <a:buNone/>
            </a:pPr>
            <a:r>
              <a:rPr lang="en-US" sz="1230">
                <a:solidFill>
                  <a:srgbClr val="222222"/>
                </a:solidFill>
                <a:latin typeface="Arial" pitchFamily="34" charset="0"/>
                <a:ea typeface="Arial" pitchFamily="34" charset="-122"/>
                <a:cs typeface="Arial" pitchFamily="34" charset="-120"/>
              </a:rPr>
              <a:t>• fetch only the slices needed after sharding is decided</a:t>
            </a:r>
            <a:endParaRPr lang="en-US" sz="1230"/>
          </a:p>
        </p:txBody>
      </p:sp>
      <p:sp>
        <p:nvSpPr>
          <p:cNvPr id="18" name="Text 16"/>
          <p:cNvSpPr/>
          <p:nvPr/>
        </p:nvSpPr>
        <p:spPr>
          <a:xfrm>
            <a:off x="6144768" y="3950208"/>
            <a:ext cx="2331720" cy="164592"/>
          </a:xfrm>
          <a:prstGeom prst="rect">
            <a:avLst/>
          </a:prstGeom>
          <a:noFill/>
          <a:ln/>
        </p:spPr>
        <p:txBody>
          <a:bodyPr wrap="square" lIns="0" tIns="0" rIns="0" bIns="0" rtlCol="0" anchor="ctr"/>
          <a:lstStyle/>
          <a:p>
            <a:pPr marL="0" indent="0" algn="ctr">
              <a:buNone/>
            </a:pPr>
            <a:r>
              <a:rPr lang="en-US" sz="1120" b="1">
                <a:solidFill>
                  <a:srgbClr val="6B6B6B"/>
                </a:solidFill>
                <a:latin typeface="Arial" pitchFamily="34" charset="0"/>
                <a:ea typeface="Arial" pitchFamily="34" charset="-122"/>
                <a:cs typeface="Arial" pitchFamily="34" charset="-120"/>
              </a:rPr>
              <a:t>ShadowLoader</a:t>
            </a:r>
            <a:endParaRPr lang="en-US" sz="1120"/>
          </a:p>
        </p:txBody>
      </p:sp>
      <p:sp>
        <p:nvSpPr>
          <p:cNvPr id="19" name="Text 17"/>
          <p:cNvSpPr/>
          <p:nvPr/>
        </p:nvSpPr>
        <p:spPr>
          <a:xfrm>
            <a:off x="6144768" y="4279392"/>
            <a:ext cx="2331720" cy="502920"/>
          </a:xfrm>
          <a:prstGeom prst="rect">
            <a:avLst/>
          </a:prstGeom>
          <a:noFill/>
          <a:ln/>
        </p:spPr>
        <p:txBody>
          <a:bodyPr wrap="square" lIns="0" tIns="0" rIns="0" bIns="0" rtlCol="0" anchor="ctr"/>
          <a:lstStyle/>
          <a:p>
            <a:pPr marL="0" indent="0" algn="ctr">
              <a:buNone/>
            </a:pPr>
            <a:r>
              <a:rPr lang="en-US" sz="2800" b="1">
                <a:solidFill>
                  <a:srgbClr val="111111"/>
                </a:solidFill>
                <a:latin typeface="Times New Roman" pitchFamily="34" charset="0"/>
                <a:ea typeface="Times New Roman" pitchFamily="34" charset="-122"/>
                <a:cs typeface="Times New Roman" pitchFamily="34" charset="-120"/>
              </a:rPr>
              <a:t>84.09×</a:t>
            </a:r>
            <a:endParaRPr lang="en-US" sz="2800"/>
          </a:p>
        </p:txBody>
      </p:sp>
      <p:sp>
        <p:nvSpPr>
          <p:cNvPr id="20" name="Text 18"/>
          <p:cNvSpPr/>
          <p:nvPr/>
        </p:nvSpPr>
        <p:spPr>
          <a:xfrm>
            <a:off x="8732520" y="3950208"/>
            <a:ext cx="2331720" cy="164592"/>
          </a:xfrm>
          <a:prstGeom prst="rect">
            <a:avLst/>
          </a:prstGeom>
          <a:noFill/>
          <a:ln/>
        </p:spPr>
        <p:txBody>
          <a:bodyPr wrap="square" lIns="0" tIns="0" rIns="0" bIns="0" rtlCol="0" anchor="ctr"/>
          <a:lstStyle/>
          <a:p>
            <a:pPr marL="0" indent="0" algn="ctr">
              <a:buNone/>
            </a:pPr>
            <a:r>
              <a:rPr lang="en-US" sz="1120" b="1">
                <a:solidFill>
                  <a:srgbClr val="6B6B6B"/>
                </a:solidFill>
                <a:latin typeface="Arial" pitchFamily="34" charset="0"/>
                <a:ea typeface="Arial" pitchFamily="34" charset="-122"/>
                <a:cs typeface="Arial" pitchFamily="34" charset="-120"/>
              </a:rPr>
              <a:t>ShadowLoader + FlexUlysses</a:t>
            </a:r>
            <a:endParaRPr lang="en-US" sz="1120"/>
          </a:p>
        </p:txBody>
      </p:sp>
      <p:sp>
        <p:nvSpPr>
          <p:cNvPr id="21" name="Text 19"/>
          <p:cNvSpPr/>
          <p:nvPr/>
        </p:nvSpPr>
        <p:spPr>
          <a:xfrm>
            <a:off x="8732520" y="4279392"/>
            <a:ext cx="2331720" cy="502920"/>
          </a:xfrm>
          <a:prstGeom prst="rect">
            <a:avLst/>
          </a:prstGeom>
          <a:noFill/>
          <a:ln/>
        </p:spPr>
        <p:txBody>
          <a:bodyPr wrap="square" lIns="0" tIns="0" rIns="0" bIns="0" rtlCol="0" anchor="ctr"/>
          <a:lstStyle/>
          <a:p>
            <a:pPr marL="0" indent="0" algn="ctr">
              <a:buNone/>
            </a:pPr>
            <a:r>
              <a:rPr lang="en-US" sz="2800" b="1">
                <a:solidFill>
                  <a:srgbClr val="111111"/>
                </a:solidFill>
                <a:latin typeface="Times New Roman" pitchFamily="34" charset="0"/>
                <a:ea typeface="Times New Roman" pitchFamily="34" charset="-122"/>
                <a:cs typeface="Times New Roman" pitchFamily="34" charset="-120"/>
              </a:rPr>
              <a:t>117.42×</a:t>
            </a:r>
            <a:endParaRPr lang="en-US" sz="2800"/>
          </a:p>
        </p:txBody>
      </p:sp>
      <p:sp>
        <p:nvSpPr>
          <p:cNvPr id="22" name="Text 20"/>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5</a:t>
            </a:r>
            <a:endParaRPr lang="en-US" sz="85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FlexUlysses Motivation</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pic>
        <p:nvPicPr>
          <p:cNvPr id="4" name="Image 0" descr="/Users/wangzerui/Documents/papers_agent/.cache/flexrl_talk_build/assets/imbalance.png"/>
          <p:cNvPicPr>
            <a:picLocks noChangeAspect="1"/>
          </p:cNvPicPr>
          <p:nvPr/>
        </p:nvPicPr>
        <p:blipFill>
          <a:blip r:embed="rId3"/>
          <a:stretch>
            <a:fillRect/>
          </a:stretch>
        </p:blipFill>
        <p:spPr>
          <a:xfrm>
            <a:off x="824690" y="1143000"/>
            <a:ext cx="10539571" cy="4434840"/>
          </a:xfrm>
          <a:prstGeom prst="rect">
            <a:avLst/>
          </a:prstGeom>
        </p:spPr>
      </p:pic>
      <p:sp>
        <p:nvSpPr>
          <p:cNvPr id="5" name="Text 2"/>
          <p:cNvSpPr/>
          <p:nvPr/>
        </p:nvSpPr>
        <p:spPr>
          <a:xfrm>
            <a:off x="704088" y="5760720"/>
            <a:ext cx="3529584" cy="219456"/>
          </a:xfrm>
          <a:prstGeom prst="rect">
            <a:avLst/>
          </a:prstGeom>
          <a:noFill/>
          <a:ln/>
        </p:spPr>
        <p:txBody>
          <a:bodyPr wrap="square" lIns="0" tIns="0" rIns="0" bIns="0" rtlCol="0" anchor="ctr"/>
          <a:lstStyle/>
          <a:p>
            <a:pPr marL="0" indent="0">
              <a:buNone/>
            </a:pPr>
            <a:r>
              <a:rPr lang="en-US" sz="1480" b="1">
                <a:solidFill>
                  <a:srgbClr val="111111"/>
                </a:solidFill>
                <a:latin typeface="Times New Roman" pitchFamily="34" charset="0"/>
                <a:ea typeface="Times New Roman" pitchFamily="34" charset="-122"/>
                <a:cs typeface="Times New Roman" pitchFamily="34" charset="-120"/>
              </a:rPr>
              <a:t>Observation 1</a:t>
            </a:r>
            <a:endParaRPr lang="en-US" sz="1480"/>
          </a:p>
        </p:txBody>
      </p:sp>
      <p:sp>
        <p:nvSpPr>
          <p:cNvPr id="6" name="Text 3"/>
          <p:cNvSpPr/>
          <p:nvPr/>
        </p:nvSpPr>
        <p:spPr>
          <a:xfrm>
            <a:off x="704088" y="6053328"/>
            <a:ext cx="3529584" cy="365760"/>
          </a:xfrm>
          <a:prstGeom prst="rect">
            <a:avLst/>
          </a:prstGeom>
          <a:noFill/>
          <a:ln/>
        </p:spPr>
        <p:txBody>
          <a:bodyPr wrap="square" lIns="0" tIns="0" rIns="0" bIns="0" rtlCol="0" anchor="t"/>
          <a:lstStyle/>
          <a:p>
            <a:pPr marL="0" indent="0">
              <a:buNone/>
            </a:pPr>
            <a:r>
              <a:rPr lang="en-US" sz="1120">
                <a:solidFill>
                  <a:srgbClr val="222222"/>
                </a:solidFill>
                <a:latin typeface="Arial" pitchFamily="34" charset="0"/>
                <a:ea typeface="Arial" pitchFamily="34" charset="-122"/>
                <a:cs typeface="Arial" pitchFamily="34" charset="-120"/>
              </a:rPr>
              <a:t>Even when memory does not force SP, one long sample can dominate the entire RL step.</a:t>
            </a:r>
            <a:endParaRPr lang="en-US" sz="1120"/>
          </a:p>
        </p:txBody>
      </p:sp>
      <p:sp>
        <p:nvSpPr>
          <p:cNvPr id="7" name="Text 4"/>
          <p:cNvSpPr/>
          <p:nvPr/>
        </p:nvSpPr>
        <p:spPr>
          <a:xfrm>
            <a:off x="4334256" y="5760720"/>
            <a:ext cx="3529584" cy="219456"/>
          </a:xfrm>
          <a:prstGeom prst="rect">
            <a:avLst/>
          </a:prstGeom>
          <a:noFill/>
          <a:ln/>
        </p:spPr>
        <p:txBody>
          <a:bodyPr wrap="square" lIns="0" tIns="0" rIns="0" bIns="0" rtlCol="0" anchor="ctr"/>
          <a:lstStyle/>
          <a:p>
            <a:pPr marL="0" indent="0">
              <a:buNone/>
            </a:pPr>
            <a:r>
              <a:rPr lang="en-US" sz="1480" b="1">
                <a:solidFill>
                  <a:srgbClr val="111111"/>
                </a:solidFill>
                <a:latin typeface="Times New Roman" pitchFamily="34" charset="0"/>
                <a:ea typeface="Times New Roman" pitchFamily="34" charset="-122"/>
                <a:cs typeface="Times New Roman" pitchFamily="34" charset="-120"/>
              </a:rPr>
              <a:t>Observation 2</a:t>
            </a:r>
            <a:endParaRPr lang="en-US" sz="1480"/>
          </a:p>
        </p:txBody>
      </p:sp>
      <p:sp>
        <p:nvSpPr>
          <p:cNvPr id="8" name="Text 5"/>
          <p:cNvSpPr/>
          <p:nvPr/>
        </p:nvSpPr>
        <p:spPr>
          <a:xfrm>
            <a:off x="4334256" y="6053328"/>
            <a:ext cx="3529584" cy="365760"/>
          </a:xfrm>
          <a:prstGeom prst="rect">
            <a:avLst/>
          </a:prstGeom>
          <a:noFill/>
          <a:ln/>
        </p:spPr>
        <p:txBody>
          <a:bodyPr wrap="square" lIns="0" tIns="0" rIns="0" bIns="0" rtlCol="0" anchor="t"/>
          <a:lstStyle/>
          <a:p>
            <a:pPr marL="0" indent="0">
              <a:buNone/>
            </a:pPr>
            <a:r>
              <a:rPr lang="en-US" sz="1120">
                <a:solidFill>
                  <a:srgbClr val="222222"/>
                </a:solidFill>
                <a:latin typeface="Arial" pitchFamily="34" charset="0"/>
                <a:ea typeface="Arial" pitchFamily="34" charset="-122"/>
                <a:cs typeface="Arial" pitchFamily="34" charset="-120"/>
              </a:rPr>
              <a:t>For longer contexts, fixed buckets may still OOM or leave severe attention imbalance.</a:t>
            </a:r>
            <a:endParaRPr lang="en-US" sz="1120"/>
          </a:p>
        </p:txBody>
      </p:sp>
      <p:sp>
        <p:nvSpPr>
          <p:cNvPr id="9" name="Text 6"/>
          <p:cNvSpPr/>
          <p:nvPr/>
        </p:nvSpPr>
        <p:spPr>
          <a:xfrm>
            <a:off x="7964424" y="5760720"/>
            <a:ext cx="3529584" cy="219456"/>
          </a:xfrm>
          <a:prstGeom prst="rect">
            <a:avLst/>
          </a:prstGeom>
          <a:noFill/>
          <a:ln/>
        </p:spPr>
        <p:txBody>
          <a:bodyPr wrap="square" lIns="0" tIns="0" rIns="0" bIns="0" rtlCol="0" anchor="ctr"/>
          <a:lstStyle/>
          <a:p>
            <a:pPr marL="0" indent="0">
              <a:buNone/>
            </a:pPr>
            <a:r>
              <a:rPr lang="en-US" sz="1480" b="1">
                <a:solidFill>
                  <a:srgbClr val="111111"/>
                </a:solidFill>
                <a:latin typeface="Times New Roman" pitchFamily="34" charset="0"/>
                <a:ea typeface="Times New Roman" pitchFamily="34" charset="-122"/>
                <a:cs typeface="Times New Roman" pitchFamily="34" charset="-120"/>
              </a:rPr>
              <a:t>Key insight</a:t>
            </a:r>
            <a:endParaRPr lang="en-US" sz="1480"/>
          </a:p>
        </p:txBody>
      </p:sp>
      <p:sp>
        <p:nvSpPr>
          <p:cNvPr id="10" name="Text 7"/>
          <p:cNvSpPr/>
          <p:nvPr/>
        </p:nvSpPr>
        <p:spPr>
          <a:xfrm>
            <a:off x="7964424" y="6053328"/>
            <a:ext cx="3529584" cy="365760"/>
          </a:xfrm>
          <a:prstGeom prst="rect">
            <a:avLst/>
          </a:prstGeom>
          <a:noFill/>
          <a:ln/>
        </p:spPr>
        <p:txBody>
          <a:bodyPr wrap="square" lIns="0" tIns="0" rIns="0" bIns="0" rtlCol="0" anchor="t"/>
          <a:lstStyle/>
          <a:p>
            <a:pPr marL="0" indent="0">
              <a:buNone/>
            </a:pPr>
            <a:r>
              <a:rPr lang="en-US" sz="1120">
                <a:solidFill>
                  <a:srgbClr val="222222"/>
                </a:solidFill>
                <a:latin typeface="Arial" pitchFamily="34" charset="0"/>
                <a:ea typeface="Arial" pitchFamily="34" charset="-122"/>
                <a:cs typeface="Arial" pitchFamily="34" charset="-120"/>
              </a:rPr>
              <a:t>Use Ulysses chunks as scheduling units, and shard sequences only as much as needed.</a:t>
            </a:r>
            <a:endParaRPr lang="en-US" sz="1120"/>
          </a:p>
        </p:txBody>
      </p:sp>
      <p:sp>
        <p:nvSpPr>
          <p:cNvPr id="11" name="Text 8"/>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6</a:t>
            </a:r>
            <a:endParaRPr lang="en-US" sz="85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FlexUlysses Design</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676656" y="1316736"/>
            <a:ext cx="357530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1. Adaptive sharding degree</a:t>
            </a:r>
            <a:endParaRPr lang="en-US" sz="1550"/>
          </a:p>
        </p:txBody>
      </p:sp>
      <p:sp>
        <p:nvSpPr>
          <p:cNvPr id="5" name="Text 3"/>
          <p:cNvSpPr/>
          <p:nvPr/>
        </p:nvSpPr>
        <p:spPr>
          <a:xfrm>
            <a:off x="676656" y="1609344"/>
            <a:ext cx="3575304" cy="408736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For each sequence i, choose p_i ∈ {1, 2, 4, …, p_max} based on its length and the current batch composition.</a:t>
            </a:r>
            <a:endParaRPr lang="en-US" sz="1230"/>
          </a:p>
          <a:p>
            <a:pPr marL="0" indent="0">
              <a:buNone/>
            </a:pPr>
            <a:endParaRPr lang="en-US" sz="1230"/>
          </a:p>
          <a:p>
            <a:pPr marL="0" indent="0">
              <a:buNone/>
            </a:pPr>
            <a:r>
              <a:rPr lang="en-US" sz="1230">
                <a:solidFill>
                  <a:srgbClr val="222222"/>
                </a:solidFill>
                <a:latin typeface="Arial" pitchFamily="34" charset="0"/>
                <a:ea typeface="Arial" pitchFamily="34" charset="-122"/>
                <a:cs typeface="Arial" pitchFamily="34" charset="-120"/>
              </a:rPr>
              <a:t>Most sequences stay unsharded or lightly sharded, which preserves compute efficiency and avoids paying communication on every sample.</a:t>
            </a:r>
            <a:endParaRPr lang="en-US" sz="1230"/>
          </a:p>
        </p:txBody>
      </p:sp>
      <p:sp>
        <p:nvSpPr>
          <p:cNvPr id="6" name="Text 4"/>
          <p:cNvSpPr/>
          <p:nvPr/>
        </p:nvSpPr>
        <p:spPr>
          <a:xfrm>
            <a:off x="4425696" y="1316736"/>
            <a:ext cx="357530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2. Hierarchical device groups</a:t>
            </a:r>
            <a:endParaRPr lang="en-US" sz="1550"/>
          </a:p>
        </p:txBody>
      </p:sp>
      <p:sp>
        <p:nvSpPr>
          <p:cNvPr id="7" name="Text 5"/>
          <p:cNvSpPr/>
          <p:nvPr/>
        </p:nvSpPr>
        <p:spPr>
          <a:xfrm>
            <a:off x="4425696" y="1609344"/>
            <a:ext cx="3575304" cy="408736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Candidate groups are nested (for example, on 8 GPUs: [0-7], [0-3]/[4-7], [0,1]/[2,3]/…).</a:t>
            </a:r>
            <a:endParaRPr lang="en-US" sz="1230"/>
          </a:p>
          <a:p>
            <a:pPr marL="0" indent="0">
              <a:buNone/>
            </a:pPr>
            <a:endParaRPr lang="en-US" sz="1230"/>
          </a:p>
          <a:p>
            <a:pPr marL="0" indent="0">
              <a:buNone/>
            </a:pPr>
            <a:r>
              <a:rPr lang="en-US" sz="1230">
                <a:solidFill>
                  <a:srgbClr val="222222"/>
                </a:solidFill>
                <a:latin typeface="Arial" pitchFamily="34" charset="0"/>
                <a:ea typeface="Arial" pitchFamily="34" charset="-122"/>
                <a:cs typeface="Arial" pitchFamily="34" charset="-120"/>
              </a:rPr>
              <a:t>This laminar structure makes placement simpler: any two groups are either disjoint or one contains the other, which is the basis for deadlock-free scheduling.</a:t>
            </a:r>
            <a:endParaRPr lang="en-US" sz="1230"/>
          </a:p>
        </p:txBody>
      </p:sp>
      <p:sp>
        <p:nvSpPr>
          <p:cNvPr id="8" name="Text 6"/>
          <p:cNvSpPr/>
          <p:nvPr/>
        </p:nvSpPr>
        <p:spPr>
          <a:xfrm>
            <a:off x="8174736" y="1316736"/>
            <a:ext cx="334670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3. Highest-Sharding-First + overlap</a:t>
            </a:r>
            <a:endParaRPr lang="en-US" sz="1550"/>
          </a:p>
        </p:txBody>
      </p:sp>
      <p:sp>
        <p:nvSpPr>
          <p:cNvPr id="9" name="Text 7"/>
          <p:cNvSpPr/>
          <p:nvPr/>
        </p:nvSpPr>
        <p:spPr>
          <a:xfrm>
            <a:off x="8174736" y="1609344"/>
            <a:ext cx="3346704" cy="408736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All ranks execute larger collectives before smaller ones, ensuring a consistent order across nested groups.</a:t>
            </a:r>
            <a:endParaRPr lang="en-US" sz="1230"/>
          </a:p>
          <a:p>
            <a:pPr marL="0" indent="0">
              <a:buNone/>
            </a:pPr>
            <a:endParaRPr lang="en-US" sz="1230"/>
          </a:p>
          <a:p>
            <a:pPr marL="0" indent="0">
              <a:buNone/>
            </a:pPr>
            <a:r>
              <a:rPr lang="en-US" sz="1230">
                <a:solidFill>
                  <a:srgbClr val="222222"/>
                </a:solidFill>
                <a:latin typeface="Arial" pitchFamily="34" charset="0"/>
                <a:ea typeface="Arial" pitchFamily="34" charset="-122"/>
                <a:cs typeface="Arial" pitchFamily="34" charset="-120"/>
              </a:rPr>
              <a:t>Within this schedule, FlexRL packs short sequences into sequence groups and overlaps all2all communication with attention computation to reduce GPU bubbles.</a:t>
            </a:r>
            <a:endParaRPr lang="en-US" sz="1230"/>
          </a:p>
        </p:txBody>
      </p:sp>
      <p:sp>
        <p:nvSpPr>
          <p:cNvPr id="10" name="Text 8"/>
          <p:cNvSpPr/>
          <p:nvPr/>
        </p:nvSpPr>
        <p:spPr>
          <a:xfrm>
            <a:off x="2907792" y="5852160"/>
            <a:ext cx="6400800" cy="219456"/>
          </a:xfrm>
          <a:prstGeom prst="rect">
            <a:avLst/>
          </a:prstGeom>
          <a:noFill/>
          <a:ln/>
        </p:spPr>
        <p:txBody>
          <a:bodyPr wrap="square" lIns="0" tIns="0" rIns="0" bIns="0" rtlCol="0" anchor="ctr"/>
          <a:lstStyle/>
          <a:p>
            <a:pPr marL="0" indent="0" algn="ctr">
              <a:buNone/>
            </a:pPr>
            <a:r>
              <a:rPr lang="en-US" sz="1230" i="1">
                <a:solidFill>
                  <a:srgbClr val="6B6B6B"/>
                </a:solidFill>
                <a:latin typeface="Arial" pitchFamily="34" charset="0"/>
                <a:ea typeface="Arial" pitchFamily="34" charset="-122"/>
                <a:cs typeface="Arial" pitchFamily="34" charset="-120"/>
              </a:rPr>
              <a:t>Vision tower balancing is handled separately by evenly distributing images and video frames across GPUs.</a:t>
            </a:r>
            <a:endParaRPr lang="en-US" sz="1230"/>
          </a:p>
        </p:txBody>
      </p:sp>
      <p:sp>
        <p:nvSpPr>
          <p:cNvPr id="11" name="Text 9"/>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7</a:t>
            </a:r>
            <a:endParaRPr lang="en-US" sz="85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Evaluation Setup</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676656" y="1316736"/>
            <a:ext cx="352958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Hardware</a:t>
            </a:r>
            <a:endParaRPr lang="en-US" sz="1550"/>
          </a:p>
        </p:txBody>
      </p:sp>
      <p:sp>
        <p:nvSpPr>
          <p:cNvPr id="5" name="Text 3"/>
          <p:cNvSpPr/>
          <p:nvPr/>
        </p:nvSpPr>
        <p:spPr>
          <a:xfrm>
            <a:off x="676656" y="1609344"/>
            <a:ext cx="3529584" cy="417880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 two 128-GPU clusters</a:t>
            </a:r>
            <a:endParaRPr lang="en-US" sz="1230"/>
          </a:p>
          <a:p>
            <a:pPr marL="0" indent="0">
              <a:buNone/>
            </a:pPr>
            <a:r>
              <a:rPr lang="en-US" sz="1230">
                <a:solidFill>
                  <a:srgbClr val="222222"/>
                </a:solidFill>
                <a:latin typeface="Arial" pitchFamily="34" charset="0"/>
                <a:ea typeface="Arial" pitchFamily="34" charset="-122"/>
                <a:cs typeface="Arial" pitchFamily="34" charset="-120"/>
              </a:rPr>
              <a:t>• H800 and H200</a:t>
            </a:r>
            <a:endParaRPr lang="en-US" sz="1230"/>
          </a:p>
          <a:p>
            <a:pPr marL="0" indent="0">
              <a:buNone/>
            </a:pPr>
            <a:r>
              <a:rPr lang="en-US" sz="1230">
                <a:solidFill>
                  <a:srgbClr val="222222"/>
                </a:solidFill>
                <a:latin typeface="Arial" pitchFamily="34" charset="0"/>
                <a:ea typeface="Arial" pitchFamily="34" charset="-122"/>
                <a:cs typeface="Arial" pitchFamily="34" charset="-120"/>
              </a:rPr>
              <a:t>• NVLink / NVSwitch intra-node</a:t>
            </a:r>
            <a:endParaRPr lang="en-US" sz="1230"/>
          </a:p>
          <a:p>
            <a:pPr marL="0" indent="0">
              <a:buNone/>
            </a:pPr>
            <a:r>
              <a:rPr lang="en-US" sz="1230">
                <a:solidFill>
                  <a:srgbClr val="222222"/>
                </a:solidFill>
                <a:latin typeface="Arial" pitchFamily="34" charset="0"/>
                <a:ea typeface="Arial" pitchFamily="34" charset="-122"/>
                <a:cs typeface="Arial" pitchFamily="34" charset="-120"/>
              </a:rPr>
              <a:t>• RoCEv2 RDMA inter-node</a:t>
            </a:r>
            <a:endParaRPr lang="en-US" sz="1230"/>
          </a:p>
        </p:txBody>
      </p:sp>
      <p:sp>
        <p:nvSpPr>
          <p:cNvPr id="6" name="Text 4"/>
          <p:cNvSpPr/>
          <p:nvPr/>
        </p:nvSpPr>
        <p:spPr>
          <a:xfrm>
            <a:off x="4352544" y="1316736"/>
            <a:ext cx="352958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Models &amp; training</a:t>
            </a:r>
            <a:endParaRPr lang="en-US" sz="1550"/>
          </a:p>
        </p:txBody>
      </p:sp>
      <p:sp>
        <p:nvSpPr>
          <p:cNvPr id="7" name="Text 5"/>
          <p:cNvSpPr/>
          <p:nvPr/>
        </p:nvSpPr>
        <p:spPr>
          <a:xfrm>
            <a:off x="4352544" y="1609344"/>
            <a:ext cx="3529584" cy="417880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 MiMo-VL-7B-RL and Qwen2.5-VL-32B</a:t>
            </a:r>
            <a:endParaRPr lang="en-US" sz="1230"/>
          </a:p>
          <a:p>
            <a:pPr marL="0" indent="0">
              <a:buNone/>
            </a:pPr>
            <a:r>
              <a:rPr lang="en-US" sz="1230">
                <a:solidFill>
                  <a:srgbClr val="222222"/>
                </a:solidFill>
                <a:latin typeface="Arial" pitchFamily="34" charset="0"/>
                <a:ea typeface="Arial" pitchFamily="34" charset="-122"/>
                <a:cs typeface="Arial" pitchFamily="34" charset="-120"/>
              </a:rPr>
              <a:t>• GRPO</a:t>
            </a:r>
            <a:endParaRPr lang="en-US" sz="1230"/>
          </a:p>
          <a:p>
            <a:pPr marL="0" indent="0">
              <a:buNone/>
            </a:pPr>
            <a:r>
              <a:rPr lang="en-US" sz="1230">
                <a:solidFill>
                  <a:srgbClr val="222222"/>
                </a:solidFill>
                <a:latin typeface="Arial" pitchFamily="34" charset="0"/>
                <a:ea typeface="Arial" pitchFamily="34" charset="-122"/>
                <a:cs typeface="Arial" pitchFamily="34" charset="-120"/>
              </a:rPr>
              <a:t>• response length = 1024</a:t>
            </a:r>
            <a:endParaRPr lang="en-US" sz="1230"/>
          </a:p>
          <a:p>
            <a:pPr marL="0" indent="0">
              <a:buNone/>
            </a:pPr>
            <a:r>
              <a:rPr lang="en-US" sz="1230">
                <a:solidFill>
                  <a:srgbClr val="222222"/>
                </a:solidFill>
                <a:latin typeface="Arial" pitchFamily="34" charset="0"/>
                <a:ea typeface="Arial" pitchFamily="34" charset="-122"/>
                <a:cs typeface="Arial" pitchFamily="34" charset="-120"/>
              </a:rPr>
              <a:t>• p_max = 8</a:t>
            </a:r>
            <a:endParaRPr lang="en-US" sz="1230"/>
          </a:p>
        </p:txBody>
      </p:sp>
      <p:sp>
        <p:nvSpPr>
          <p:cNvPr id="8" name="Text 6"/>
          <p:cNvSpPr/>
          <p:nvPr/>
        </p:nvSpPr>
        <p:spPr>
          <a:xfrm>
            <a:off x="8028432" y="1316736"/>
            <a:ext cx="3529584" cy="219456"/>
          </a:xfrm>
          <a:prstGeom prst="rect">
            <a:avLst/>
          </a:prstGeom>
          <a:noFill/>
          <a:ln/>
        </p:spPr>
        <p:txBody>
          <a:bodyPr wrap="square" lIns="0" tIns="0" rIns="0" bIns="0" rtlCol="0" anchor="ctr"/>
          <a:lstStyle/>
          <a:p>
            <a:pPr marL="0" indent="0">
              <a:buNone/>
            </a:pPr>
            <a:r>
              <a:rPr lang="en-US" sz="1550" b="1">
                <a:solidFill>
                  <a:srgbClr val="111111"/>
                </a:solidFill>
                <a:latin typeface="Times New Roman" pitchFamily="34" charset="0"/>
                <a:ea typeface="Times New Roman" pitchFamily="34" charset="-122"/>
                <a:cs typeface="Times New Roman" pitchFamily="34" charset="-120"/>
              </a:rPr>
              <a:t>Datasets &amp; baselines</a:t>
            </a:r>
            <a:endParaRPr lang="en-US" sz="1550"/>
          </a:p>
        </p:txBody>
      </p:sp>
      <p:sp>
        <p:nvSpPr>
          <p:cNvPr id="9" name="Text 7"/>
          <p:cNvSpPr/>
          <p:nvPr/>
        </p:nvSpPr>
        <p:spPr>
          <a:xfrm>
            <a:off x="8028432" y="1609344"/>
            <a:ext cx="3529584" cy="4178808"/>
          </a:xfrm>
          <a:prstGeom prst="rect">
            <a:avLst/>
          </a:prstGeom>
          <a:noFill/>
          <a:ln/>
        </p:spPr>
        <p:txBody>
          <a:bodyPr wrap="square" lIns="0" tIns="0" rIns="0" bIns="0" rtlCol="0" anchor="t"/>
          <a:lstStyle/>
          <a:p>
            <a:pPr marL="0" indent="0">
              <a:buNone/>
            </a:pPr>
            <a:r>
              <a:rPr lang="en-US" sz="1230">
                <a:solidFill>
                  <a:srgbClr val="222222"/>
                </a:solidFill>
                <a:latin typeface="Arial" pitchFamily="34" charset="0"/>
                <a:ea typeface="Arial" pitchFamily="34" charset="-122"/>
                <a:cs typeface="Arial" pitchFamily="34" charset="-120"/>
              </a:rPr>
              <a:t>• Geo3K, NExTQA, LongVILA-Reason</a:t>
            </a:r>
            <a:endParaRPr lang="en-US" sz="1230"/>
          </a:p>
          <a:p>
            <a:pPr marL="0" indent="0">
              <a:buNone/>
            </a:pPr>
            <a:r>
              <a:rPr lang="en-US" sz="1230">
                <a:solidFill>
                  <a:srgbClr val="222222"/>
                </a:solidFill>
                <a:latin typeface="Arial" pitchFamily="34" charset="0"/>
                <a:ea typeface="Arial" pitchFamily="34" charset="-122"/>
                <a:cs typeface="Arial" pitchFamily="34" charset="-120"/>
              </a:rPr>
              <a:t>• image-heavy / video-heavy / only-video</a:t>
            </a:r>
            <a:endParaRPr lang="en-US" sz="1230"/>
          </a:p>
          <a:p>
            <a:pPr marL="0" indent="0">
              <a:buNone/>
            </a:pPr>
            <a:r>
              <a:rPr lang="en-US" sz="1230">
                <a:solidFill>
                  <a:srgbClr val="222222"/>
                </a:solidFill>
                <a:latin typeface="Arial" pitchFamily="34" charset="0"/>
                <a:ea typeface="Arial" pitchFamily="34" charset="-122"/>
                <a:cs typeface="Arial" pitchFamily="34" charset="-120"/>
              </a:rPr>
              <a:t>• baselines: veRL+Bucketing and fixed-degree Ulysses-SP</a:t>
            </a:r>
            <a:endParaRPr lang="en-US" sz="1230"/>
          </a:p>
        </p:txBody>
      </p:sp>
      <p:sp>
        <p:nvSpPr>
          <p:cNvPr id="10" name="Text 8"/>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8</a:t>
            </a:r>
            <a:endParaRPr lang="en-US" sz="85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Main Results</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14" name="Text 12"/>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9</a:t>
            </a:r>
            <a:endParaRPr lang="en-US" sz="850"/>
          </a:p>
        </p:txBody>
      </p:sp>
      <p:pic>
        <p:nvPicPr>
          <p:cNvPr id="16" name="图片 15">
            <a:extLst>
              <a:ext uri="{FF2B5EF4-FFF2-40B4-BE49-F238E27FC236}">
                <a16:creationId xmlns:a16="http://schemas.microsoft.com/office/drawing/2014/main" id="{152805C0-F09B-05F4-00AC-C699023AC7CA}"/>
              </a:ext>
            </a:extLst>
          </p:cNvPr>
          <p:cNvPicPr>
            <a:picLocks noChangeAspect="1"/>
          </p:cNvPicPr>
          <p:nvPr/>
        </p:nvPicPr>
        <p:blipFill>
          <a:blip r:embed="rId3"/>
          <a:srcRect l="772"/>
          <a:stretch>
            <a:fillRect/>
          </a:stretch>
        </p:blipFill>
        <p:spPr>
          <a:xfrm>
            <a:off x="2269864" y="1174003"/>
            <a:ext cx="7712336" cy="4509993"/>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Comparison with Fixed-Degree Ulysses-SP</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pic>
        <p:nvPicPr>
          <p:cNvPr id="4" name="Image 0" descr="/Users/wangzerui/Documents/papers_agent/.cache/flexrl_talk_build/assets/comm_overhead_h200_detailed_v4.png"/>
          <p:cNvPicPr>
            <a:picLocks noChangeAspect="1"/>
          </p:cNvPicPr>
          <p:nvPr/>
        </p:nvPicPr>
        <p:blipFill>
          <a:blip r:embed="rId3"/>
          <a:stretch>
            <a:fillRect/>
          </a:stretch>
        </p:blipFill>
        <p:spPr>
          <a:xfrm>
            <a:off x="658368" y="1374973"/>
            <a:ext cx="10972800" cy="3824591"/>
          </a:xfrm>
          <a:prstGeom prst="rect">
            <a:avLst/>
          </a:prstGeom>
        </p:spPr>
      </p:pic>
      <p:sp>
        <p:nvSpPr>
          <p:cNvPr id="5" name="Text 2"/>
          <p:cNvSpPr/>
          <p:nvPr/>
        </p:nvSpPr>
        <p:spPr>
          <a:xfrm>
            <a:off x="804672" y="5577840"/>
            <a:ext cx="3483864" cy="219456"/>
          </a:xfrm>
          <a:prstGeom prst="rect">
            <a:avLst/>
          </a:prstGeom>
          <a:noFill/>
          <a:ln/>
        </p:spPr>
        <p:txBody>
          <a:bodyPr wrap="square" lIns="0" tIns="0" rIns="0" bIns="0" rtlCol="0" anchor="ctr"/>
          <a:lstStyle/>
          <a:p>
            <a:pPr marL="0" indent="0">
              <a:buNone/>
            </a:pPr>
            <a:r>
              <a:rPr lang="en-US" sz="1480" b="1">
                <a:solidFill>
                  <a:srgbClr val="111111"/>
                </a:solidFill>
                <a:latin typeface="Times New Roman" pitchFamily="34" charset="0"/>
                <a:ea typeface="Times New Roman" pitchFamily="34" charset="-122"/>
                <a:cs typeface="Times New Roman" pitchFamily="34" charset="-120"/>
              </a:rPr>
              <a:t>Takeaway 1</a:t>
            </a:r>
            <a:endParaRPr lang="en-US" sz="1480"/>
          </a:p>
        </p:txBody>
      </p:sp>
      <p:sp>
        <p:nvSpPr>
          <p:cNvPr id="6" name="Text 3"/>
          <p:cNvSpPr/>
          <p:nvPr/>
        </p:nvSpPr>
        <p:spPr>
          <a:xfrm>
            <a:off x="804672" y="5870448"/>
            <a:ext cx="3483864" cy="365760"/>
          </a:xfrm>
          <a:prstGeom prst="rect">
            <a:avLst/>
          </a:prstGeom>
          <a:noFill/>
          <a:ln/>
        </p:spPr>
        <p:txBody>
          <a:bodyPr wrap="square" lIns="0" tIns="0" rIns="0" bIns="0" rtlCol="0" anchor="t"/>
          <a:lstStyle/>
          <a:p>
            <a:pPr marL="0" indent="0">
              <a:buNone/>
            </a:pPr>
            <a:r>
              <a:rPr lang="en-US" sz="1120">
                <a:solidFill>
                  <a:srgbClr val="222222"/>
                </a:solidFill>
                <a:latin typeface="Arial" pitchFamily="34" charset="0"/>
                <a:ea typeface="Arial" pitchFamily="34" charset="-122"/>
                <a:cs typeface="Arial" pitchFamily="34" charset="-120"/>
              </a:rPr>
              <a:t>Higher fixed SP improves balance, but communication quickly dominates.</a:t>
            </a:r>
            <a:endParaRPr lang="en-US" sz="1120"/>
          </a:p>
        </p:txBody>
      </p:sp>
      <p:sp>
        <p:nvSpPr>
          <p:cNvPr id="7" name="Text 4"/>
          <p:cNvSpPr/>
          <p:nvPr/>
        </p:nvSpPr>
        <p:spPr>
          <a:xfrm>
            <a:off x="4425696" y="5577840"/>
            <a:ext cx="3483864" cy="219456"/>
          </a:xfrm>
          <a:prstGeom prst="rect">
            <a:avLst/>
          </a:prstGeom>
          <a:noFill/>
          <a:ln/>
        </p:spPr>
        <p:txBody>
          <a:bodyPr wrap="square" lIns="0" tIns="0" rIns="0" bIns="0" rtlCol="0" anchor="ctr"/>
          <a:lstStyle/>
          <a:p>
            <a:pPr marL="0" indent="0">
              <a:buNone/>
            </a:pPr>
            <a:r>
              <a:rPr lang="en-US" sz="1480" b="1">
                <a:solidFill>
                  <a:srgbClr val="111111"/>
                </a:solidFill>
                <a:latin typeface="Times New Roman" pitchFamily="34" charset="0"/>
                <a:ea typeface="Times New Roman" pitchFamily="34" charset="-122"/>
                <a:cs typeface="Times New Roman" pitchFamily="34" charset="-120"/>
              </a:rPr>
              <a:t>Takeaway 2</a:t>
            </a:r>
            <a:endParaRPr lang="en-US" sz="1480"/>
          </a:p>
        </p:txBody>
      </p:sp>
      <p:sp>
        <p:nvSpPr>
          <p:cNvPr id="8" name="Text 5"/>
          <p:cNvSpPr/>
          <p:nvPr/>
        </p:nvSpPr>
        <p:spPr>
          <a:xfrm>
            <a:off x="4425696" y="5870448"/>
            <a:ext cx="3483864" cy="365760"/>
          </a:xfrm>
          <a:prstGeom prst="rect">
            <a:avLst/>
          </a:prstGeom>
          <a:noFill/>
          <a:ln/>
        </p:spPr>
        <p:txBody>
          <a:bodyPr wrap="square" lIns="0" tIns="0" rIns="0" bIns="0" rtlCol="0" anchor="t"/>
          <a:lstStyle/>
          <a:p>
            <a:pPr marL="0" indent="0">
              <a:buNone/>
            </a:pPr>
            <a:r>
              <a:rPr lang="en-US" sz="1120">
                <a:solidFill>
                  <a:srgbClr val="222222"/>
                </a:solidFill>
                <a:latin typeface="Arial" pitchFamily="34" charset="0"/>
                <a:ea typeface="Arial" pitchFamily="34" charset="-122"/>
                <a:cs typeface="Arial" pitchFamily="34" charset="-120"/>
              </a:rPr>
              <a:t>FlexUlysses reaches balance ratio 1.0 without fixed communication on all sequences.</a:t>
            </a:r>
            <a:endParaRPr lang="en-US" sz="1120"/>
          </a:p>
        </p:txBody>
      </p:sp>
      <p:sp>
        <p:nvSpPr>
          <p:cNvPr id="9" name="Text 6"/>
          <p:cNvSpPr/>
          <p:nvPr/>
        </p:nvSpPr>
        <p:spPr>
          <a:xfrm>
            <a:off x="8046720" y="5577840"/>
            <a:ext cx="3483864" cy="219456"/>
          </a:xfrm>
          <a:prstGeom prst="rect">
            <a:avLst/>
          </a:prstGeom>
          <a:noFill/>
          <a:ln/>
        </p:spPr>
        <p:txBody>
          <a:bodyPr wrap="square" lIns="0" tIns="0" rIns="0" bIns="0" rtlCol="0" anchor="ctr"/>
          <a:lstStyle/>
          <a:p>
            <a:pPr marL="0" indent="0">
              <a:buNone/>
            </a:pPr>
            <a:r>
              <a:rPr lang="en-US" sz="1480" b="1">
                <a:solidFill>
                  <a:srgbClr val="111111"/>
                </a:solidFill>
                <a:latin typeface="Times New Roman" pitchFamily="34" charset="0"/>
                <a:ea typeface="Times New Roman" pitchFamily="34" charset="-122"/>
                <a:cs typeface="Times New Roman" pitchFamily="34" charset="-120"/>
              </a:rPr>
              <a:t>Takeaway 3</a:t>
            </a:r>
            <a:endParaRPr lang="en-US" sz="1480"/>
          </a:p>
        </p:txBody>
      </p:sp>
      <p:sp>
        <p:nvSpPr>
          <p:cNvPr id="10" name="Text 7"/>
          <p:cNvSpPr/>
          <p:nvPr/>
        </p:nvSpPr>
        <p:spPr>
          <a:xfrm>
            <a:off x="8046720" y="5870448"/>
            <a:ext cx="3483864" cy="365760"/>
          </a:xfrm>
          <a:prstGeom prst="rect">
            <a:avLst/>
          </a:prstGeom>
          <a:noFill/>
          <a:ln/>
        </p:spPr>
        <p:txBody>
          <a:bodyPr wrap="square" lIns="0" tIns="0" rIns="0" bIns="0" rtlCol="0" anchor="t"/>
          <a:lstStyle/>
          <a:p>
            <a:pPr marL="0" indent="0">
              <a:buNone/>
            </a:pPr>
            <a:r>
              <a:rPr lang="en-US" sz="1120">
                <a:solidFill>
                  <a:srgbClr val="222222"/>
                </a:solidFill>
                <a:latin typeface="Arial" pitchFamily="34" charset="0"/>
                <a:ea typeface="Arial" pitchFamily="34" charset="-122"/>
                <a:cs typeface="Arial" pitchFamily="34" charset="-120"/>
              </a:rPr>
              <a:t>Throughput is 1.50× higher than the veRL baseline in this comparison.</a:t>
            </a:r>
            <a:endParaRPr lang="en-US" sz="1120"/>
          </a:p>
        </p:txBody>
      </p:sp>
      <p:sp>
        <p:nvSpPr>
          <p:cNvPr id="11" name="Text 8"/>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10</a:t>
            </a:r>
            <a:endParaRPr lang="en-US" sz="85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Ablation Study</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694944" y="1344168"/>
            <a:ext cx="3849624" cy="219456"/>
          </a:xfrm>
          <a:prstGeom prst="rect">
            <a:avLst/>
          </a:prstGeom>
          <a:noFill/>
          <a:ln/>
        </p:spPr>
        <p:txBody>
          <a:bodyPr wrap="square" lIns="0" tIns="0" rIns="0" bIns="0" rtlCol="0" anchor="ctr"/>
          <a:lstStyle/>
          <a:p>
            <a:pPr marL="0" indent="0">
              <a:buNone/>
            </a:pPr>
            <a:r>
              <a:rPr lang="en-US" sz="1520" b="1">
                <a:solidFill>
                  <a:srgbClr val="111111"/>
                </a:solidFill>
                <a:latin typeface="Times New Roman" pitchFamily="34" charset="0"/>
                <a:ea typeface="Times New Roman" pitchFamily="34" charset="-122"/>
                <a:cs typeface="Times New Roman" pitchFamily="34" charset="-120"/>
              </a:rPr>
              <a:t>ShadowLoader alone</a:t>
            </a:r>
            <a:endParaRPr lang="en-US" sz="1520"/>
          </a:p>
        </p:txBody>
      </p:sp>
      <p:sp>
        <p:nvSpPr>
          <p:cNvPr id="5" name="Text 3"/>
          <p:cNvSpPr/>
          <p:nvPr/>
        </p:nvSpPr>
        <p:spPr>
          <a:xfrm>
            <a:off x="694944" y="1636776"/>
            <a:ext cx="3849624" cy="768096"/>
          </a:xfrm>
          <a:prstGeom prst="rect">
            <a:avLst/>
          </a:prstGeom>
          <a:noFill/>
          <a:ln/>
        </p:spPr>
        <p:txBody>
          <a:bodyPr wrap="square" lIns="0" tIns="0" rIns="0" bIns="0" rtlCol="0" anchor="t"/>
          <a:lstStyle/>
          <a:p>
            <a:pPr marL="0" indent="0">
              <a:buNone/>
            </a:pPr>
            <a:r>
              <a:rPr lang="en-US" sz="1400">
                <a:solidFill>
                  <a:srgbClr val="222222"/>
                </a:solidFill>
                <a:latin typeface="Arial" pitchFamily="34" charset="0"/>
                <a:ea typeface="Arial" pitchFamily="34" charset="-122"/>
                <a:cs typeface="Arial" pitchFamily="34" charset="-120"/>
              </a:rPr>
              <a:t>84.09× data loading</a:t>
            </a:r>
            <a:endParaRPr lang="en-US" sz="1400"/>
          </a:p>
          <a:p>
            <a:pPr marL="0" indent="0">
              <a:buNone/>
            </a:pPr>
            <a:r>
              <a:rPr lang="en-US" sz="1400">
                <a:solidFill>
                  <a:srgbClr val="222222"/>
                </a:solidFill>
                <a:latin typeface="Arial" pitchFamily="34" charset="0"/>
                <a:ea typeface="Arial" pitchFamily="34" charset="-122"/>
                <a:cs typeface="Arial" pitchFamily="34" charset="-120"/>
              </a:rPr>
              <a:t>4.68× end-to-end</a:t>
            </a:r>
            <a:endParaRPr lang="en-US" sz="1400"/>
          </a:p>
          <a:p>
            <a:pPr marL="0" indent="0">
              <a:buNone/>
            </a:pPr>
            <a:r>
              <a:rPr lang="en-US" sz="1400">
                <a:solidFill>
                  <a:srgbClr val="222222"/>
                </a:solidFill>
                <a:latin typeface="Arial" pitchFamily="34" charset="0"/>
                <a:ea typeface="Arial" pitchFamily="34" charset="-122"/>
                <a:cs typeface="Arial" pitchFamily="34" charset="-120"/>
              </a:rPr>
              <a:t>5.35× lower step time</a:t>
            </a:r>
            <a:endParaRPr lang="en-US" sz="1400"/>
          </a:p>
        </p:txBody>
      </p:sp>
      <p:sp>
        <p:nvSpPr>
          <p:cNvPr id="6" name="Text 4"/>
          <p:cNvSpPr/>
          <p:nvPr/>
        </p:nvSpPr>
        <p:spPr>
          <a:xfrm>
            <a:off x="694944" y="2670048"/>
            <a:ext cx="3849624" cy="219456"/>
          </a:xfrm>
          <a:prstGeom prst="rect">
            <a:avLst/>
          </a:prstGeom>
          <a:noFill/>
          <a:ln/>
        </p:spPr>
        <p:txBody>
          <a:bodyPr wrap="square" lIns="0" tIns="0" rIns="0" bIns="0" rtlCol="0" anchor="ctr"/>
          <a:lstStyle/>
          <a:p>
            <a:pPr marL="0" indent="0">
              <a:buNone/>
            </a:pPr>
            <a:r>
              <a:rPr lang="en-US" sz="1520" b="1">
                <a:solidFill>
                  <a:srgbClr val="111111"/>
                </a:solidFill>
                <a:latin typeface="Times New Roman" pitchFamily="34" charset="0"/>
                <a:ea typeface="Times New Roman" pitchFamily="34" charset="-122"/>
                <a:cs typeface="Times New Roman" pitchFamily="34" charset="-120"/>
              </a:rPr>
              <a:t>FlexUlysses alone</a:t>
            </a:r>
            <a:endParaRPr lang="en-US" sz="1520"/>
          </a:p>
        </p:txBody>
      </p:sp>
      <p:sp>
        <p:nvSpPr>
          <p:cNvPr id="7" name="Text 5"/>
          <p:cNvSpPr/>
          <p:nvPr/>
        </p:nvSpPr>
        <p:spPr>
          <a:xfrm>
            <a:off x="694944" y="2962656"/>
            <a:ext cx="3849624" cy="768096"/>
          </a:xfrm>
          <a:prstGeom prst="rect">
            <a:avLst/>
          </a:prstGeom>
          <a:noFill/>
          <a:ln/>
        </p:spPr>
        <p:txBody>
          <a:bodyPr wrap="square" lIns="0" tIns="0" rIns="0" bIns="0" rtlCol="0" anchor="t"/>
          <a:lstStyle/>
          <a:p>
            <a:pPr marL="0" indent="0">
              <a:buNone/>
            </a:pPr>
            <a:r>
              <a:rPr lang="en-US" sz="1400">
                <a:solidFill>
                  <a:srgbClr val="222222"/>
                </a:solidFill>
                <a:latin typeface="Arial" pitchFamily="34" charset="0"/>
                <a:ea typeface="Arial" pitchFamily="34" charset="-122"/>
                <a:cs typeface="Arial" pitchFamily="34" charset="-120"/>
              </a:rPr>
              <a:t>2.01× rollout</a:t>
            </a:r>
            <a:endParaRPr lang="en-US" sz="1400"/>
          </a:p>
          <a:p>
            <a:pPr marL="0" indent="0">
              <a:buNone/>
            </a:pPr>
            <a:r>
              <a:rPr lang="en-US" sz="1400">
                <a:solidFill>
                  <a:srgbClr val="222222"/>
                </a:solidFill>
                <a:latin typeface="Arial" pitchFamily="34" charset="0"/>
                <a:ea typeface="Arial" pitchFamily="34" charset="-122"/>
                <a:cs typeface="Arial" pitchFamily="34" charset="-120"/>
              </a:rPr>
              <a:t>1.28× training</a:t>
            </a:r>
            <a:endParaRPr lang="en-US" sz="1400"/>
          </a:p>
          <a:p>
            <a:pPr marL="0" indent="0">
              <a:buNone/>
            </a:pPr>
            <a:r>
              <a:rPr lang="en-US" sz="1400">
                <a:solidFill>
                  <a:srgbClr val="222222"/>
                </a:solidFill>
                <a:latin typeface="Arial" pitchFamily="34" charset="0"/>
                <a:ea typeface="Arial" pitchFamily="34" charset="-122"/>
                <a:cs typeface="Arial" pitchFamily="34" charset="-120"/>
              </a:rPr>
              <a:t>1.17× end-to-end when data loading still dominates</a:t>
            </a:r>
            <a:endParaRPr lang="en-US" sz="1400"/>
          </a:p>
        </p:txBody>
      </p:sp>
      <p:sp>
        <p:nvSpPr>
          <p:cNvPr id="8" name="Text 6"/>
          <p:cNvSpPr/>
          <p:nvPr/>
        </p:nvSpPr>
        <p:spPr>
          <a:xfrm>
            <a:off x="694944" y="3995928"/>
            <a:ext cx="3849624" cy="219456"/>
          </a:xfrm>
          <a:prstGeom prst="rect">
            <a:avLst/>
          </a:prstGeom>
          <a:noFill/>
          <a:ln/>
        </p:spPr>
        <p:txBody>
          <a:bodyPr wrap="square" lIns="0" tIns="0" rIns="0" bIns="0" rtlCol="0" anchor="ctr"/>
          <a:lstStyle/>
          <a:p>
            <a:pPr marL="0" indent="0">
              <a:buNone/>
            </a:pPr>
            <a:r>
              <a:rPr lang="en-US" sz="1520" b="1">
                <a:solidFill>
                  <a:srgbClr val="111111"/>
                </a:solidFill>
                <a:latin typeface="Times New Roman" pitchFamily="34" charset="0"/>
                <a:ea typeface="Times New Roman" pitchFamily="34" charset="-122"/>
                <a:cs typeface="Times New Roman" pitchFamily="34" charset="-120"/>
              </a:rPr>
              <a:t>Both together = FlexRL</a:t>
            </a:r>
            <a:endParaRPr lang="en-US" sz="1520"/>
          </a:p>
        </p:txBody>
      </p:sp>
      <p:sp>
        <p:nvSpPr>
          <p:cNvPr id="9" name="Text 7"/>
          <p:cNvSpPr/>
          <p:nvPr/>
        </p:nvSpPr>
        <p:spPr>
          <a:xfrm>
            <a:off x="694944" y="4288536"/>
            <a:ext cx="3849624" cy="822960"/>
          </a:xfrm>
          <a:prstGeom prst="rect">
            <a:avLst/>
          </a:prstGeom>
          <a:noFill/>
          <a:ln/>
        </p:spPr>
        <p:txBody>
          <a:bodyPr wrap="square" lIns="0" tIns="0" rIns="0" bIns="0" rtlCol="0" anchor="t"/>
          <a:lstStyle/>
          <a:p>
            <a:pPr marL="0" indent="0">
              <a:buNone/>
            </a:pPr>
            <a:r>
              <a:rPr lang="en-US" sz="1400">
                <a:solidFill>
                  <a:srgbClr val="222222"/>
                </a:solidFill>
                <a:latin typeface="Arial" pitchFamily="34" charset="0"/>
                <a:ea typeface="Arial" pitchFamily="34" charset="-122"/>
                <a:cs typeface="Arial" pitchFamily="34" charset="-120"/>
              </a:rPr>
              <a:t>117.42× data loading</a:t>
            </a:r>
            <a:endParaRPr lang="en-US" sz="1400"/>
          </a:p>
          <a:p>
            <a:pPr marL="0" indent="0">
              <a:buNone/>
            </a:pPr>
            <a:r>
              <a:rPr lang="en-US" sz="1400">
                <a:solidFill>
                  <a:srgbClr val="222222"/>
                </a:solidFill>
                <a:latin typeface="Arial" pitchFamily="34" charset="0"/>
                <a:ea typeface="Arial" pitchFamily="34" charset="-122"/>
                <a:cs typeface="Arial" pitchFamily="34" charset="-120"/>
              </a:rPr>
              <a:t>7.67× end-to-end</a:t>
            </a:r>
            <a:endParaRPr lang="en-US" sz="1400"/>
          </a:p>
          <a:p>
            <a:pPr marL="0" indent="0">
              <a:buNone/>
            </a:pPr>
            <a:r>
              <a:rPr lang="en-US" sz="1400">
                <a:solidFill>
                  <a:srgbClr val="222222"/>
                </a:solidFill>
                <a:latin typeface="Arial" pitchFamily="34" charset="0"/>
                <a:ea typeface="Arial" pitchFamily="34" charset="-122"/>
                <a:cs typeface="Arial" pitchFamily="34" charset="-120"/>
              </a:rPr>
              <a:t>7.68× lower overall step time</a:t>
            </a:r>
            <a:endParaRPr lang="en-US" sz="1400"/>
          </a:p>
        </p:txBody>
      </p:sp>
      <p:pic>
        <p:nvPicPr>
          <p:cNvPr id="10" name="Image 0" descr="/Users/wangzerui/Documents/papers_agent/.cache/flexrl_talk_build/assets/flexrl_ablation.png"/>
          <p:cNvPicPr>
            <a:picLocks noChangeAspect="1"/>
          </p:cNvPicPr>
          <p:nvPr/>
        </p:nvPicPr>
        <p:blipFill>
          <a:blip r:embed="rId3"/>
          <a:stretch>
            <a:fillRect/>
          </a:stretch>
        </p:blipFill>
        <p:spPr>
          <a:xfrm>
            <a:off x="4990604" y="1371600"/>
            <a:ext cx="6331688" cy="4389120"/>
          </a:xfrm>
          <a:prstGeom prst="rect">
            <a:avLst/>
          </a:prstGeom>
        </p:spPr>
      </p:pic>
      <p:sp>
        <p:nvSpPr>
          <p:cNvPr id="11" name="Text 8"/>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11</a:t>
            </a:r>
            <a:endParaRPr lang="en-US" sz="85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49808" y="438912"/>
            <a:ext cx="9509760" cy="384048"/>
          </a:xfrm>
          <a:prstGeom prst="rect">
            <a:avLst/>
          </a:prstGeom>
          <a:noFill/>
          <a:ln/>
        </p:spPr>
        <p:txBody>
          <a:bodyPr wrap="square" lIns="0" tIns="0" rIns="0" bIns="0" rtlCol="0" anchor="ctr"/>
          <a:lstStyle/>
          <a:p>
            <a:pPr marL="0" indent="0">
              <a:buNone/>
            </a:pPr>
            <a:r>
              <a:rPr lang="en-US" sz="2650" b="1">
                <a:solidFill>
                  <a:srgbClr val="111111"/>
                </a:solidFill>
                <a:latin typeface="Times New Roman" pitchFamily="34" charset="0"/>
                <a:ea typeface="Times New Roman" pitchFamily="34" charset="-122"/>
                <a:cs typeface="Times New Roman" pitchFamily="34" charset="-120"/>
              </a:rPr>
              <a:t>Takeaways</a:t>
            </a:r>
            <a:endParaRPr lang="en-US" sz="2650"/>
          </a:p>
        </p:txBody>
      </p:sp>
      <p:sp>
        <p:nvSpPr>
          <p:cNvPr id="3" name="Shape 1"/>
          <p:cNvSpPr/>
          <p:nvPr/>
        </p:nvSpPr>
        <p:spPr>
          <a:xfrm>
            <a:off x="749808" y="969264"/>
            <a:ext cx="10652760" cy="14630"/>
          </a:xfrm>
          <a:prstGeom prst="rect">
            <a:avLst/>
          </a:prstGeom>
          <a:solidFill>
            <a:srgbClr val="111111"/>
          </a:solidFill>
          <a:ln w="12700">
            <a:solidFill>
              <a:srgbClr val="111111">
                <a:alpha val="0"/>
              </a:srgbClr>
            </a:solidFill>
            <a:prstDash val="solid"/>
          </a:ln>
        </p:spPr>
        <p:txBody>
          <a:bodyPr/>
          <a:lstStyle/>
          <a:p>
            <a:endParaRPr lang="zh-CN" altLang="en-US"/>
          </a:p>
        </p:txBody>
      </p:sp>
      <p:sp>
        <p:nvSpPr>
          <p:cNvPr id="4" name="Text 2"/>
          <p:cNvSpPr/>
          <p:nvPr/>
        </p:nvSpPr>
        <p:spPr>
          <a:xfrm>
            <a:off x="731520" y="1389888"/>
            <a:ext cx="10936224" cy="219456"/>
          </a:xfrm>
          <a:prstGeom prst="rect">
            <a:avLst/>
          </a:prstGeom>
          <a:noFill/>
          <a:ln/>
        </p:spPr>
        <p:txBody>
          <a:bodyPr wrap="square" lIns="0" tIns="0" rIns="0" bIns="0" rtlCol="0" anchor="ctr"/>
          <a:lstStyle/>
          <a:p>
            <a:pPr marL="0" indent="0">
              <a:buNone/>
            </a:pPr>
            <a:r>
              <a:rPr lang="en-US" sz="1520" b="1">
                <a:solidFill>
                  <a:srgbClr val="111111"/>
                </a:solidFill>
                <a:latin typeface="Times New Roman" pitchFamily="34" charset="0"/>
                <a:ea typeface="Times New Roman" pitchFamily="34" charset="-122"/>
                <a:cs typeface="Times New Roman" pitchFamily="34" charset="-120"/>
              </a:rPr>
              <a:t>1. Diagnose the whole pipeline</a:t>
            </a:r>
            <a:endParaRPr lang="en-US" sz="1520"/>
          </a:p>
        </p:txBody>
      </p:sp>
      <p:sp>
        <p:nvSpPr>
          <p:cNvPr id="5" name="Text 3"/>
          <p:cNvSpPr/>
          <p:nvPr/>
        </p:nvSpPr>
        <p:spPr>
          <a:xfrm>
            <a:off x="731520" y="1682496"/>
            <a:ext cx="10936224" cy="566928"/>
          </a:xfrm>
          <a:prstGeom prst="rect">
            <a:avLst/>
          </a:prstGeom>
          <a:noFill/>
          <a:ln/>
        </p:spPr>
        <p:txBody>
          <a:bodyPr wrap="square" lIns="0" tIns="0" rIns="0" bIns="0" rtlCol="0" anchor="t"/>
          <a:lstStyle/>
          <a:p>
            <a:pPr marL="0" indent="0">
              <a:buNone/>
            </a:pPr>
            <a:r>
              <a:rPr lang="en-US" sz="1400">
                <a:solidFill>
                  <a:srgbClr val="222222"/>
                </a:solidFill>
                <a:latin typeface="Arial" pitchFamily="34" charset="0"/>
                <a:ea typeface="Arial" pitchFamily="34" charset="-122"/>
                <a:cs typeface="Arial" pitchFamily="34" charset="-120"/>
              </a:rPr>
              <a:t>VLM RL is bottlenecked by both multimodal data handling and execution imbalance.</a:t>
            </a:r>
            <a:endParaRPr lang="en-US" sz="1400"/>
          </a:p>
        </p:txBody>
      </p:sp>
      <p:sp>
        <p:nvSpPr>
          <p:cNvPr id="6" name="Text 4"/>
          <p:cNvSpPr/>
          <p:nvPr/>
        </p:nvSpPr>
        <p:spPr>
          <a:xfrm>
            <a:off x="731520" y="2670048"/>
            <a:ext cx="10936224" cy="219456"/>
          </a:xfrm>
          <a:prstGeom prst="rect">
            <a:avLst/>
          </a:prstGeom>
          <a:noFill/>
          <a:ln/>
        </p:spPr>
        <p:txBody>
          <a:bodyPr wrap="square" lIns="0" tIns="0" rIns="0" bIns="0" rtlCol="0" anchor="ctr"/>
          <a:lstStyle/>
          <a:p>
            <a:pPr marL="0" indent="0">
              <a:buNone/>
            </a:pPr>
            <a:r>
              <a:rPr lang="en-US" sz="1520" b="1">
                <a:solidFill>
                  <a:srgbClr val="111111"/>
                </a:solidFill>
                <a:latin typeface="Times New Roman" pitchFamily="34" charset="0"/>
                <a:ea typeface="Times New Roman" pitchFamily="34" charset="-122"/>
                <a:cs typeface="Times New Roman" pitchFamily="34" charset="-120"/>
              </a:rPr>
              <a:t>2. Co-design loading and execution</a:t>
            </a:r>
            <a:endParaRPr lang="en-US" sz="1520"/>
          </a:p>
        </p:txBody>
      </p:sp>
      <p:sp>
        <p:nvSpPr>
          <p:cNvPr id="7" name="Text 5"/>
          <p:cNvSpPr/>
          <p:nvPr/>
        </p:nvSpPr>
        <p:spPr>
          <a:xfrm>
            <a:off x="731520" y="2962656"/>
            <a:ext cx="10936224" cy="566928"/>
          </a:xfrm>
          <a:prstGeom prst="rect">
            <a:avLst/>
          </a:prstGeom>
          <a:noFill/>
          <a:ln/>
        </p:spPr>
        <p:txBody>
          <a:bodyPr wrap="square" lIns="0" tIns="0" rIns="0" bIns="0" rtlCol="0" anchor="t"/>
          <a:lstStyle/>
          <a:p>
            <a:pPr marL="0" indent="0">
              <a:buNone/>
            </a:pPr>
            <a:r>
              <a:rPr lang="en-US" sz="1400">
                <a:solidFill>
                  <a:srgbClr val="222222"/>
                </a:solidFill>
                <a:latin typeface="Arial" pitchFamily="34" charset="0"/>
                <a:ea typeface="Arial" pitchFamily="34" charset="-122"/>
                <a:cs typeface="Arial" pitchFamily="34" charset="-120"/>
              </a:rPr>
              <a:t>ShadowLoader and FlexUlysses are coupled through metadata, slice-aware loading, and hierarchical placement.</a:t>
            </a:r>
            <a:endParaRPr lang="en-US" sz="1400"/>
          </a:p>
        </p:txBody>
      </p:sp>
      <p:sp>
        <p:nvSpPr>
          <p:cNvPr id="8" name="Text 6"/>
          <p:cNvSpPr/>
          <p:nvPr/>
        </p:nvSpPr>
        <p:spPr>
          <a:xfrm>
            <a:off x="731520" y="3950208"/>
            <a:ext cx="10936224" cy="219456"/>
          </a:xfrm>
          <a:prstGeom prst="rect">
            <a:avLst/>
          </a:prstGeom>
          <a:noFill/>
          <a:ln/>
        </p:spPr>
        <p:txBody>
          <a:bodyPr wrap="square" lIns="0" tIns="0" rIns="0" bIns="0" rtlCol="0" anchor="ctr"/>
          <a:lstStyle/>
          <a:p>
            <a:pPr marL="0" indent="0">
              <a:buNone/>
            </a:pPr>
            <a:r>
              <a:rPr lang="en-US" sz="1520" b="1">
                <a:solidFill>
                  <a:srgbClr val="111111"/>
                </a:solidFill>
                <a:latin typeface="Times New Roman" pitchFamily="34" charset="0"/>
                <a:ea typeface="Times New Roman" pitchFamily="34" charset="-122"/>
                <a:cs typeface="Times New Roman" pitchFamily="34" charset="-120"/>
              </a:rPr>
              <a:t>3. Real gains on real clusters</a:t>
            </a:r>
            <a:endParaRPr lang="en-US" sz="1520"/>
          </a:p>
        </p:txBody>
      </p:sp>
      <p:sp>
        <p:nvSpPr>
          <p:cNvPr id="9" name="Text 7"/>
          <p:cNvSpPr/>
          <p:nvPr/>
        </p:nvSpPr>
        <p:spPr>
          <a:xfrm>
            <a:off x="731520" y="4242816"/>
            <a:ext cx="10936224" cy="566928"/>
          </a:xfrm>
          <a:prstGeom prst="rect">
            <a:avLst/>
          </a:prstGeom>
          <a:noFill/>
          <a:ln/>
        </p:spPr>
        <p:txBody>
          <a:bodyPr wrap="square" lIns="0" tIns="0" rIns="0" bIns="0" rtlCol="0" anchor="t"/>
          <a:lstStyle/>
          <a:p>
            <a:pPr marL="0" indent="0">
              <a:buNone/>
            </a:pPr>
            <a:r>
              <a:rPr lang="en-US" sz="1400">
                <a:solidFill>
                  <a:srgbClr val="222222"/>
                </a:solidFill>
                <a:latin typeface="Arial" pitchFamily="34" charset="0"/>
                <a:ea typeface="Arial" pitchFamily="34" charset="-122"/>
                <a:cs typeface="Arial" pitchFamily="34" charset="-120"/>
              </a:rPr>
              <a:t>Across 7B/32B VLMs and two 128-GPU clusters, throughput improves by up to 8.47×.</a:t>
            </a:r>
            <a:endParaRPr lang="en-US" sz="1400"/>
          </a:p>
        </p:txBody>
      </p:sp>
      <p:sp>
        <p:nvSpPr>
          <p:cNvPr id="10" name="Text 8"/>
          <p:cNvSpPr/>
          <p:nvPr/>
        </p:nvSpPr>
        <p:spPr>
          <a:xfrm>
            <a:off x="1097280" y="5623560"/>
            <a:ext cx="9966960" cy="256032"/>
          </a:xfrm>
          <a:prstGeom prst="rect">
            <a:avLst/>
          </a:prstGeom>
          <a:noFill/>
          <a:ln/>
        </p:spPr>
        <p:txBody>
          <a:bodyPr wrap="square" lIns="0" tIns="0" rIns="0" bIns="0" rtlCol="0" anchor="ctr"/>
          <a:lstStyle/>
          <a:p>
            <a:pPr marL="0" indent="0" algn="ctr">
              <a:buNone/>
            </a:pPr>
            <a:r>
              <a:rPr lang="en-US" sz="1650" b="1">
                <a:solidFill>
                  <a:srgbClr val="111111"/>
                </a:solidFill>
                <a:latin typeface="Times New Roman" pitchFamily="34" charset="0"/>
                <a:ea typeface="Times New Roman" pitchFamily="34" charset="-122"/>
                <a:cs typeface="Times New Roman" pitchFamily="34" charset="-120"/>
              </a:rPr>
              <a:t>FlexRL makes large-scale VLM RL training practical by balancing both data and compute.</a:t>
            </a:r>
            <a:endParaRPr lang="en-US" sz="1650"/>
          </a:p>
        </p:txBody>
      </p:sp>
      <p:sp>
        <p:nvSpPr>
          <p:cNvPr id="11" name="Text 9"/>
          <p:cNvSpPr/>
          <p:nvPr/>
        </p:nvSpPr>
        <p:spPr>
          <a:xfrm>
            <a:off x="11475720" y="6519672"/>
            <a:ext cx="228600" cy="128016"/>
          </a:xfrm>
          <a:prstGeom prst="rect">
            <a:avLst/>
          </a:prstGeom>
          <a:noFill/>
          <a:ln/>
        </p:spPr>
        <p:txBody>
          <a:bodyPr wrap="square" lIns="0" tIns="0" rIns="0" bIns="0" rtlCol="0" anchor="ctr"/>
          <a:lstStyle/>
          <a:p>
            <a:pPr marL="0" indent="0" algn="r">
              <a:buNone/>
            </a:pPr>
            <a:r>
              <a:rPr lang="en-US" sz="850">
                <a:solidFill>
                  <a:srgbClr val="6B6B6B"/>
                </a:solidFill>
                <a:latin typeface="Arial" pitchFamily="34" charset="0"/>
                <a:ea typeface="Arial" pitchFamily="34" charset="-122"/>
                <a:cs typeface="Arial" pitchFamily="34" charset="-120"/>
              </a:rPr>
              <a:t>12</a:t>
            </a:r>
            <a:endParaRPr lang="en-US" sz="85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F27BFA-B5DB-44EC-CF3A-55B2D2D67CB5}"/>
              </a:ext>
            </a:extLst>
          </p:cNvPr>
          <p:cNvSpPr>
            <a:spLocks noGrp="1"/>
          </p:cNvSpPr>
          <p:nvPr>
            <p:ph type="title"/>
          </p:nvPr>
        </p:nvSpPr>
        <p:spPr>
          <a:xfrm>
            <a:off x="1039210" y="186066"/>
            <a:ext cx="10113579" cy="991093"/>
          </a:xfrm>
        </p:spPr>
        <p:txBody>
          <a:bodyPr anchor="t">
            <a:normAutofit fontScale="90000"/>
          </a:bodyPr>
          <a:lstStyle/>
          <a:p>
            <a:pPr algn="ctr"/>
            <a:r>
              <a:rPr kumimoji="1" lang="en-US" altLang="zh-CN" sz="3600" dirty="0" err="1"/>
              <a:t>Acelerating</a:t>
            </a:r>
            <a:r>
              <a:rPr kumimoji="1" lang="zh-CN" altLang="en-US" sz="3600" dirty="0"/>
              <a:t> </a:t>
            </a:r>
            <a:r>
              <a:rPr kumimoji="1" lang="en-US" altLang="zh-CN" sz="3600" dirty="0"/>
              <a:t>VLM</a:t>
            </a:r>
            <a:r>
              <a:rPr kumimoji="1" lang="zh-CN" altLang="en-US" sz="3600" dirty="0"/>
              <a:t> </a:t>
            </a:r>
            <a:r>
              <a:rPr kumimoji="1" lang="en-US" altLang="zh-CN" sz="3600" dirty="0"/>
              <a:t>Agentic</a:t>
            </a:r>
            <a:r>
              <a:rPr kumimoji="1" lang="zh-CN" altLang="en-US" sz="3600" dirty="0"/>
              <a:t> </a:t>
            </a:r>
            <a:r>
              <a:rPr kumimoji="1" lang="en-US" altLang="zh-CN" sz="3600" dirty="0"/>
              <a:t>RL</a:t>
            </a:r>
            <a:r>
              <a:rPr kumimoji="1" lang="zh-CN" altLang="en-US" sz="3600" dirty="0"/>
              <a:t> </a:t>
            </a:r>
            <a:r>
              <a:rPr kumimoji="1" lang="en-US" altLang="zh-CN" sz="3600" dirty="0"/>
              <a:t>Training</a:t>
            </a:r>
            <a:r>
              <a:rPr kumimoji="1" lang="zh-CN" altLang="en-US" sz="3600" dirty="0"/>
              <a:t> </a:t>
            </a:r>
            <a:r>
              <a:rPr kumimoji="1" lang="en-US" altLang="zh-CN" sz="3600" dirty="0"/>
              <a:t>via</a:t>
            </a:r>
            <a:r>
              <a:rPr kumimoji="1" lang="zh-CN" altLang="en-US" sz="3600" dirty="0"/>
              <a:t> </a:t>
            </a:r>
            <a:r>
              <a:rPr kumimoji="1" lang="en-US" altLang="zh-CN" sz="3600" dirty="0"/>
              <a:t>Efficient</a:t>
            </a:r>
            <a:r>
              <a:rPr kumimoji="1" lang="zh-CN" altLang="en-US" sz="3600" dirty="0"/>
              <a:t> </a:t>
            </a:r>
            <a:r>
              <a:rPr kumimoji="1" lang="en-US" altLang="zh-CN" sz="3600" u="sng" dirty="0"/>
              <a:t>Sandbox</a:t>
            </a:r>
            <a:r>
              <a:rPr kumimoji="1" lang="zh-CN" altLang="en-US" sz="3600" u="sng" dirty="0"/>
              <a:t> </a:t>
            </a:r>
            <a:r>
              <a:rPr kumimoji="1" lang="en-US" altLang="zh-CN" sz="3600" u="sng" dirty="0"/>
              <a:t>Fork</a:t>
            </a:r>
            <a:r>
              <a:rPr kumimoji="1" lang="zh-CN" altLang="en-US" sz="3600" dirty="0"/>
              <a:t> </a:t>
            </a:r>
            <a:r>
              <a:rPr kumimoji="1" lang="en-US" altLang="zh-CN" sz="3600" dirty="0"/>
              <a:t>and</a:t>
            </a:r>
            <a:r>
              <a:rPr kumimoji="1" lang="zh-CN" altLang="en-US" sz="3600" dirty="0"/>
              <a:t> </a:t>
            </a:r>
            <a:r>
              <a:rPr kumimoji="1" lang="en-US" altLang="zh-CN" sz="3600" u="sng" dirty="0"/>
              <a:t>Speculative</a:t>
            </a:r>
            <a:r>
              <a:rPr kumimoji="1" lang="zh-CN" altLang="en-US" sz="3600" u="sng" dirty="0"/>
              <a:t> </a:t>
            </a:r>
            <a:r>
              <a:rPr kumimoji="1" lang="en-US" altLang="zh-CN" sz="3600" u="sng" dirty="0"/>
              <a:t>Actions</a:t>
            </a:r>
            <a:endParaRPr kumimoji="1" lang="zh-CN" altLang="en-US" sz="3600" u="sng" dirty="0"/>
          </a:p>
        </p:txBody>
      </p:sp>
      <p:pic>
        <p:nvPicPr>
          <p:cNvPr id="1026" name="Picture 2" descr="osworld task_demonstration">
            <a:extLst>
              <a:ext uri="{FF2B5EF4-FFF2-40B4-BE49-F238E27FC236}">
                <a16:creationId xmlns:a16="http://schemas.microsoft.com/office/drawing/2014/main" id="{6C3321D3-6C6C-F399-B07D-BF953B2673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949" y="1758611"/>
            <a:ext cx="6092278" cy="3759806"/>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3F97A045-7D38-4419-9F03-09636BF9F261}"/>
              </a:ext>
            </a:extLst>
          </p:cNvPr>
          <p:cNvPicPr>
            <a:picLocks noChangeAspect="1"/>
          </p:cNvPicPr>
          <p:nvPr/>
        </p:nvPicPr>
        <p:blipFill>
          <a:blip r:embed="rId3"/>
          <a:stretch>
            <a:fillRect/>
          </a:stretch>
        </p:blipFill>
        <p:spPr>
          <a:xfrm>
            <a:off x="5314306" y="1846155"/>
            <a:ext cx="6877694" cy="3759806"/>
          </a:xfrm>
          <a:prstGeom prst="rect">
            <a:avLst/>
          </a:prstGeom>
        </p:spPr>
      </p:pic>
    </p:spTree>
    <p:extLst>
      <p:ext uri="{BB962C8B-B14F-4D97-AF65-F5344CB8AC3E}">
        <p14:creationId xmlns:p14="http://schemas.microsoft.com/office/powerpoint/2010/main" val="2416239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9F291-85A2-8669-F217-D7D81F0EFE8C}"/>
              </a:ext>
            </a:extLst>
          </p:cNvPr>
          <p:cNvSpPr>
            <a:spLocks noGrp="1"/>
          </p:cNvSpPr>
          <p:nvPr>
            <p:ph type="title"/>
          </p:nvPr>
        </p:nvSpPr>
        <p:spPr/>
        <p:txBody>
          <a:bodyPr/>
          <a:lstStyle/>
          <a:p>
            <a:r>
              <a:rPr kumimoji="1" lang="en-US" altLang="zh-CN" b="1"/>
              <a:t>VLM</a:t>
            </a:r>
            <a:r>
              <a:rPr kumimoji="1" lang="zh-CN" altLang="en-US" b="1"/>
              <a:t> </a:t>
            </a:r>
            <a:r>
              <a:rPr kumimoji="1" lang="en-US" altLang="zh-CN" b="1"/>
              <a:t>Agentic</a:t>
            </a:r>
            <a:r>
              <a:rPr kumimoji="1" lang="zh-CN" altLang="en-US" b="1"/>
              <a:t> </a:t>
            </a:r>
            <a:r>
              <a:rPr kumimoji="1" lang="en-US" altLang="zh-CN" b="1"/>
              <a:t>RL</a:t>
            </a:r>
            <a:r>
              <a:rPr kumimoji="1" lang="zh-CN" altLang="en-US" b="1"/>
              <a:t> </a:t>
            </a:r>
            <a:r>
              <a:rPr kumimoji="1" lang="en-US" altLang="zh-CN" b="1"/>
              <a:t>Training</a:t>
            </a:r>
            <a:endParaRPr kumimoji="1" lang="zh-CN" altLang="en-US" b="1"/>
          </a:p>
        </p:txBody>
      </p:sp>
      <p:pic>
        <p:nvPicPr>
          <p:cNvPr id="4" name="内容占位符 3">
            <a:extLst>
              <a:ext uri="{FF2B5EF4-FFF2-40B4-BE49-F238E27FC236}">
                <a16:creationId xmlns:a16="http://schemas.microsoft.com/office/drawing/2014/main" id="{5E893480-A085-A8A8-6BCC-978E0CA18A5F}"/>
              </a:ext>
            </a:extLst>
          </p:cNvPr>
          <p:cNvPicPr>
            <a:picLocks noGrp="1" noChangeAspect="1"/>
          </p:cNvPicPr>
          <p:nvPr>
            <p:ph idx="1"/>
          </p:nvPr>
        </p:nvPicPr>
        <p:blipFill>
          <a:blip r:embed="rId3"/>
          <a:stretch>
            <a:fillRect/>
          </a:stretch>
        </p:blipFill>
        <p:spPr>
          <a:xfrm>
            <a:off x="826024" y="1534319"/>
            <a:ext cx="9817100" cy="4203700"/>
          </a:xfrm>
          <a:prstGeom prst="rect">
            <a:avLst/>
          </a:prstGeom>
        </p:spPr>
      </p:pic>
      <p:sp>
        <p:nvSpPr>
          <p:cNvPr id="6" name="矩形 5">
            <a:extLst>
              <a:ext uri="{FF2B5EF4-FFF2-40B4-BE49-F238E27FC236}">
                <a16:creationId xmlns:a16="http://schemas.microsoft.com/office/drawing/2014/main" id="{A2F7F38B-A2BC-AAA8-B2E6-EC11E54DA211}"/>
              </a:ext>
            </a:extLst>
          </p:cNvPr>
          <p:cNvSpPr/>
          <p:nvPr/>
        </p:nvSpPr>
        <p:spPr>
          <a:xfrm>
            <a:off x="2057400" y="1534319"/>
            <a:ext cx="3276600" cy="4358481"/>
          </a:xfrm>
          <a:custGeom>
            <a:avLst/>
            <a:gdLst>
              <a:gd name="csX0" fmla="*/ 0 w 3276600"/>
              <a:gd name="csY0" fmla="*/ 0 h 4358481"/>
              <a:gd name="csX1" fmla="*/ 513334 w 3276600"/>
              <a:gd name="csY1" fmla="*/ 0 h 4358481"/>
              <a:gd name="csX2" fmla="*/ 961136 w 3276600"/>
              <a:gd name="csY2" fmla="*/ 0 h 4358481"/>
              <a:gd name="csX3" fmla="*/ 1572768 w 3276600"/>
              <a:gd name="csY3" fmla="*/ 0 h 4358481"/>
              <a:gd name="csX4" fmla="*/ 2086102 w 3276600"/>
              <a:gd name="csY4" fmla="*/ 0 h 4358481"/>
              <a:gd name="csX5" fmla="*/ 2599436 w 3276600"/>
              <a:gd name="csY5" fmla="*/ 0 h 4358481"/>
              <a:gd name="csX6" fmla="*/ 3276600 w 3276600"/>
              <a:gd name="csY6" fmla="*/ 0 h 4358481"/>
              <a:gd name="csX7" fmla="*/ 3276600 w 3276600"/>
              <a:gd name="csY7" fmla="*/ 457641 h 4358481"/>
              <a:gd name="csX8" fmla="*/ 3276600 w 3276600"/>
              <a:gd name="csY8" fmla="*/ 1002451 h 4358481"/>
              <a:gd name="csX9" fmla="*/ 3276600 w 3276600"/>
              <a:gd name="csY9" fmla="*/ 1460091 h 4358481"/>
              <a:gd name="csX10" fmla="*/ 3276600 w 3276600"/>
              <a:gd name="csY10" fmla="*/ 1917732 h 4358481"/>
              <a:gd name="csX11" fmla="*/ 3276600 w 3276600"/>
              <a:gd name="csY11" fmla="*/ 2462542 h 4358481"/>
              <a:gd name="csX12" fmla="*/ 3276600 w 3276600"/>
              <a:gd name="csY12" fmla="*/ 3050937 h 4358481"/>
              <a:gd name="csX13" fmla="*/ 3276600 w 3276600"/>
              <a:gd name="csY13" fmla="*/ 3464992 h 4358481"/>
              <a:gd name="csX14" fmla="*/ 3276600 w 3276600"/>
              <a:gd name="csY14" fmla="*/ 4358481 h 4358481"/>
              <a:gd name="csX15" fmla="*/ 2730500 w 3276600"/>
              <a:gd name="csY15" fmla="*/ 4358481 h 4358481"/>
              <a:gd name="csX16" fmla="*/ 2184400 w 3276600"/>
              <a:gd name="csY16" fmla="*/ 4358481 h 4358481"/>
              <a:gd name="csX17" fmla="*/ 1572768 w 3276600"/>
              <a:gd name="csY17" fmla="*/ 4358481 h 4358481"/>
              <a:gd name="csX18" fmla="*/ 1026668 w 3276600"/>
              <a:gd name="csY18" fmla="*/ 4358481 h 4358481"/>
              <a:gd name="csX19" fmla="*/ 578866 w 3276600"/>
              <a:gd name="csY19" fmla="*/ 4358481 h 4358481"/>
              <a:gd name="csX20" fmla="*/ 0 w 3276600"/>
              <a:gd name="csY20" fmla="*/ 4358481 h 4358481"/>
              <a:gd name="csX21" fmla="*/ 0 w 3276600"/>
              <a:gd name="csY21" fmla="*/ 3726501 h 4358481"/>
              <a:gd name="csX22" fmla="*/ 0 w 3276600"/>
              <a:gd name="csY22" fmla="*/ 3094522 h 4358481"/>
              <a:gd name="csX23" fmla="*/ 0 w 3276600"/>
              <a:gd name="csY23" fmla="*/ 2549711 h 4358481"/>
              <a:gd name="csX24" fmla="*/ 0 w 3276600"/>
              <a:gd name="csY24" fmla="*/ 2048486 h 4358481"/>
              <a:gd name="csX25" fmla="*/ 0 w 3276600"/>
              <a:gd name="csY25" fmla="*/ 1634430 h 4358481"/>
              <a:gd name="csX26" fmla="*/ 0 w 3276600"/>
              <a:gd name="csY26" fmla="*/ 1220375 h 4358481"/>
              <a:gd name="csX27" fmla="*/ 0 w 3276600"/>
              <a:gd name="csY27" fmla="*/ 631980 h 4358481"/>
              <a:gd name="csX28" fmla="*/ 0 w 3276600"/>
              <a:gd name="csY28" fmla="*/ 0 h 43584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3276600" h="4358481" extrusionOk="0">
                <a:moveTo>
                  <a:pt x="0" y="0"/>
                </a:moveTo>
                <a:cubicBezTo>
                  <a:pt x="133589" y="-25534"/>
                  <a:pt x="358069" y="21244"/>
                  <a:pt x="513334" y="0"/>
                </a:cubicBezTo>
                <a:cubicBezTo>
                  <a:pt x="668599" y="-21244"/>
                  <a:pt x="777816" y="9190"/>
                  <a:pt x="961136" y="0"/>
                </a:cubicBezTo>
                <a:cubicBezTo>
                  <a:pt x="1144456" y="-9190"/>
                  <a:pt x="1303767" y="35842"/>
                  <a:pt x="1572768" y="0"/>
                </a:cubicBezTo>
                <a:cubicBezTo>
                  <a:pt x="1841769" y="-35842"/>
                  <a:pt x="1913250" y="32999"/>
                  <a:pt x="2086102" y="0"/>
                </a:cubicBezTo>
                <a:cubicBezTo>
                  <a:pt x="2258954" y="-32999"/>
                  <a:pt x="2384331" y="58351"/>
                  <a:pt x="2599436" y="0"/>
                </a:cubicBezTo>
                <a:cubicBezTo>
                  <a:pt x="2814541" y="-58351"/>
                  <a:pt x="3039297" y="12700"/>
                  <a:pt x="3276600" y="0"/>
                </a:cubicBezTo>
                <a:cubicBezTo>
                  <a:pt x="3309177" y="163942"/>
                  <a:pt x="3273106" y="323443"/>
                  <a:pt x="3276600" y="457641"/>
                </a:cubicBezTo>
                <a:cubicBezTo>
                  <a:pt x="3280094" y="591839"/>
                  <a:pt x="3251073" y="770069"/>
                  <a:pt x="3276600" y="1002451"/>
                </a:cubicBezTo>
                <a:cubicBezTo>
                  <a:pt x="3302127" y="1234833"/>
                  <a:pt x="3230719" y="1262064"/>
                  <a:pt x="3276600" y="1460091"/>
                </a:cubicBezTo>
                <a:cubicBezTo>
                  <a:pt x="3322481" y="1658118"/>
                  <a:pt x="3263312" y="1807524"/>
                  <a:pt x="3276600" y="1917732"/>
                </a:cubicBezTo>
                <a:cubicBezTo>
                  <a:pt x="3289888" y="2027940"/>
                  <a:pt x="3222367" y="2317799"/>
                  <a:pt x="3276600" y="2462542"/>
                </a:cubicBezTo>
                <a:cubicBezTo>
                  <a:pt x="3330833" y="2607285"/>
                  <a:pt x="3246126" y="2808195"/>
                  <a:pt x="3276600" y="3050937"/>
                </a:cubicBezTo>
                <a:cubicBezTo>
                  <a:pt x="3307074" y="3293679"/>
                  <a:pt x="3259827" y="3291770"/>
                  <a:pt x="3276600" y="3464992"/>
                </a:cubicBezTo>
                <a:cubicBezTo>
                  <a:pt x="3293373" y="3638214"/>
                  <a:pt x="3264696" y="4082704"/>
                  <a:pt x="3276600" y="4358481"/>
                </a:cubicBezTo>
                <a:cubicBezTo>
                  <a:pt x="3017337" y="4365110"/>
                  <a:pt x="3000331" y="4345642"/>
                  <a:pt x="2730500" y="4358481"/>
                </a:cubicBezTo>
                <a:cubicBezTo>
                  <a:pt x="2460669" y="4371320"/>
                  <a:pt x="2331524" y="4329162"/>
                  <a:pt x="2184400" y="4358481"/>
                </a:cubicBezTo>
                <a:cubicBezTo>
                  <a:pt x="2037276" y="4387800"/>
                  <a:pt x="1754275" y="4312060"/>
                  <a:pt x="1572768" y="4358481"/>
                </a:cubicBezTo>
                <a:cubicBezTo>
                  <a:pt x="1391261" y="4404902"/>
                  <a:pt x="1157994" y="4340499"/>
                  <a:pt x="1026668" y="4358481"/>
                </a:cubicBezTo>
                <a:cubicBezTo>
                  <a:pt x="895342" y="4376463"/>
                  <a:pt x="672102" y="4306533"/>
                  <a:pt x="578866" y="4358481"/>
                </a:cubicBezTo>
                <a:cubicBezTo>
                  <a:pt x="485630" y="4410429"/>
                  <a:pt x="282933" y="4296743"/>
                  <a:pt x="0" y="4358481"/>
                </a:cubicBezTo>
                <a:cubicBezTo>
                  <a:pt x="-33302" y="4137024"/>
                  <a:pt x="27286" y="4029804"/>
                  <a:pt x="0" y="3726501"/>
                </a:cubicBezTo>
                <a:cubicBezTo>
                  <a:pt x="-27286" y="3423198"/>
                  <a:pt x="57584" y="3258455"/>
                  <a:pt x="0" y="3094522"/>
                </a:cubicBezTo>
                <a:cubicBezTo>
                  <a:pt x="-57584" y="2930589"/>
                  <a:pt x="55250" y="2750846"/>
                  <a:pt x="0" y="2549711"/>
                </a:cubicBezTo>
                <a:cubicBezTo>
                  <a:pt x="-55250" y="2348576"/>
                  <a:pt x="2691" y="2243035"/>
                  <a:pt x="0" y="2048486"/>
                </a:cubicBezTo>
                <a:cubicBezTo>
                  <a:pt x="-2691" y="1853938"/>
                  <a:pt x="38541" y="1789972"/>
                  <a:pt x="0" y="1634430"/>
                </a:cubicBezTo>
                <a:cubicBezTo>
                  <a:pt x="-38541" y="1478888"/>
                  <a:pt x="15000" y="1409679"/>
                  <a:pt x="0" y="1220375"/>
                </a:cubicBezTo>
                <a:cubicBezTo>
                  <a:pt x="-15000" y="1031072"/>
                  <a:pt x="8489" y="878168"/>
                  <a:pt x="0" y="631980"/>
                </a:cubicBezTo>
                <a:cubicBezTo>
                  <a:pt x="-8489" y="385792"/>
                  <a:pt x="23947" y="273596"/>
                  <a:pt x="0" y="0"/>
                </a:cubicBezTo>
                <a:close/>
              </a:path>
            </a:pathLst>
          </a:custGeom>
          <a:noFill/>
          <a:ln w="44450">
            <a:solidFill>
              <a:srgbClr val="C00000">
                <a:alpha val="99000"/>
              </a:srgbClr>
            </a:solidFill>
            <a:prstDash val="sysDash"/>
            <a:round/>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8338109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 name="图片 50">
            <a:extLst>
              <a:ext uri="{FF2B5EF4-FFF2-40B4-BE49-F238E27FC236}">
                <a16:creationId xmlns:a16="http://schemas.microsoft.com/office/drawing/2014/main" id="{DFD805A0-70BB-4CCD-EECA-7F25D4401182}"/>
              </a:ext>
            </a:extLst>
          </p:cNvPr>
          <p:cNvPicPr>
            <a:picLocks noChangeAspect="1"/>
          </p:cNvPicPr>
          <p:nvPr/>
        </p:nvPicPr>
        <p:blipFill>
          <a:blip r:embed="rId3"/>
          <a:srcRect t="601" b="1"/>
          <a:stretch>
            <a:fillRect/>
          </a:stretch>
        </p:blipFill>
        <p:spPr>
          <a:xfrm>
            <a:off x="-84688" y="4589025"/>
            <a:ext cx="12150958" cy="2402126"/>
          </a:xfrm>
          <a:prstGeom prst="rect">
            <a:avLst/>
          </a:prstGeom>
        </p:spPr>
      </p:pic>
      <p:sp>
        <p:nvSpPr>
          <p:cNvPr id="52" name="标题 1">
            <a:extLst>
              <a:ext uri="{FF2B5EF4-FFF2-40B4-BE49-F238E27FC236}">
                <a16:creationId xmlns:a16="http://schemas.microsoft.com/office/drawing/2014/main" id="{FC413E33-92F6-4451-FEEC-33C425BB6302}"/>
              </a:ext>
            </a:extLst>
          </p:cNvPr>
          <p:cNvSpPr>
            <a:spLocks noGrp="1"/>
          </p:cNvSpPr>
          <p:nvPr>
            <p:ph type="title"/>
          </p:nvPr>
        </p:nvSpPr>
        <p:spPr>
          <a:xfrm>
            <a:off x="221974" y="136525"/>
            <a:ext cx="10515600" cy="887205"/>
          </a:xfrm>
        </p:spPr>
        <p:txBody>
          <a:bodyPr/>
          <a:lstStyle/>
          <a:p>
            <a:r>
              <a:rPr kumimoji="1" lang="en-US" altLang="zh-CN" b="1"/>
              <a:t>VLM</a:t>
            </a:r>
            <a:r>
              <a:rPr kumimoji="1" lang="zh-CN" altLang="en-US" b="1"/>
              <a:t> </a:t>
            </a:r>
            <a:r>
              <a:rPr kumimoji="1" lang="en-US" altLang="zh-CN" b="1"/>
              <a:t>Agentic</a:t>
            </a:r>
            <a:r>
              <a:rPr kumimoji="1" lang="zh-CN" altLang="en-US" b="1"/>
              <a:t> </a:t>
            </a:r>
            <a:r>
              <a:rPr kumimoji="1" lang="en-US" altLang="zh-CN" b="1"/>
              <a:t>Rollout/Inference</a:t>
            </a:r>
            <a:endParaRPr kumimoji="1" lang="zh-CN" altLang="en-US" b="1"/>
          </a:p>
        </p:txBody>
      </p:sp>
      <p:sp>
        <p:nvSpPr>
          <p:cNvPr id="100" name="TextBox 100"/>
          <p:cNvSpPr txBox="1"/>
          <p:nvPr/>
        </p:nvSpPr>
        <p:spPr>
          <a:xfrm>
            <a:off x="436679" y="1593884"/>
            <a:ext cx="11277600" cy="2402127"/>
          </a:xfrm>
          <a:prstGeom prst="rect">
            <a:avLst/>
          </a:prstGeom>
          <a:noFill/>
        </p:spPr>
        <p:txBody>
          <a:bodyPr wrap="square" rtlCol="0"/>
          <a:lstStyle/>
          <a:p>
            <a:pPr marL="342900" indent="-342900" algn="l">
              <a:spcBef>
                <a:spcPts val="1200"/>
              </a:spcBef>
              <a:buFont typeface="+mj-lt"/>
              <a:buAutoNum type="arabicPeriod"/>
            </a:pPr>
            <a:r>
              <a:rPr lang="zh-CN" altLang="en-US" sz="1600" b="1">
                <a:latin typeface="Microsoft YaHei"/>
                <a:ea typeface="Microsoft YaHei"/>
              </a:rPr>
              <a:t>接收指令 </a:t>
            </a:r>
            <a:r>
              <a:rPr lang="zh-CN" altLang="en-US" sz="1600">
                <a:latin typeface="Microsoft YaHei"/>
                <a:ea typeface="Microsoft YaHei"/>
              </a:rPr>
              <a:t>（打开</a:t>
            </a:r>
            <a:r>
              <a:rPr lang="en-US" altLang="zh-CN" sz="1600">
                <a:latin typeface="Microsoft YaHei"/>
                <a:ea typeface="Microsoft YaHei"/>
              </a:rPr>
              <a:t>Excel</a:t>
            </a:r>
            <a:r>
              <a:rPr lang="zh-CN" altLang="en-US" sz="1600">
                <a:latin typeface="Microsoft YaHei"/>
                <a:ea typeface="Microsoft YaHei"/>
              </a:rPr>
              <a:t>，创建一个表格）</a:t>
            </a:r>
            <a:endParaRPr lang="en-US" altLang="zh-CN" sz="1600">
              <a:latin typeface="Microsoft YaHei"/>
              <a:ea typeface="Microsoft YaHei"/>
            </a:endParaRPr>
          </a:p>
          <a:p>
            <a:pPr marL="342900" indent="-342900" algn="l">
              <a:spcBef>
                <a:spcPts val="1200"/>
              </a:spcBef>
              <a:buFont typeface="+mj-lt"/>
              <a:buAutoNum type="arabicPeriod"/>
            </a:pPr>
            <a:r>
              <a:rPr lang="zh-CN" altLang="en-US" sz="1600" b="1">
                <a:latin typeface="Microsoft YaHei"/>
                <a:ea typeface="Microsoft YaHei"/>
              </a:rPr>
              <a:t>模型思考</a:t>
            </a:r>
            <a:endParaRPr lang="en-US" altLang="zh-CN" sz="1600" b="1">
              <a:latin typeface="Microsoft YaHei"/>
              <a:ea typeface="Microsoft YaHei"/>
            </a:endParaRPr>
          </a:p>
          <a:p>
            <a:pPr marL="342900" indent="-342900" algn="l">
              <a:spcBef>
                <a:spcPts val="1200"/>
              </a:spcBef>
              <a:buFont typeface="+mj-lt"/>
              <a:buAutoNum type="arabicPeriod"/>
            </a:pPr>
            <a:r>
              <a:rPr lang="zh-CN" altLang="en-US" sz="1600" b="1">
                <a:latin typeface="Microsoft YaHei"/>
                <a:ea typeface="Microsoft YaHei"/>
              </a:rPr>
              <a:t>生成动作 </a:t>
            </a:r>
            <a:r>
              <a:rPr lang="zh-CN" altLang="en-US" sz="1600">
                <a:latin typeface="Microsoft YaHei"/>
                <a:ea typeface="Microsoft YaHei"/>
              </a:rPr>
              <a:t>（</a:t>
            </a:r>
            <a:r>
              <a:rPr lang="en-US" altLang="zh-CN" sz="1600">
                <a:latin typeface="Microsoft YaHei"/>
                <a:ea typeface="Microsoft YaHei"/>
              </a:rPr>
              <a:t>e.g.</a:t>
            </a:r>
            <a:r>
              <a:rPr lang="zh-CN" altLang="en-US" sz="1600">
                <a:latin typeface="Microsoft YaHei"/>
                <a:ea typeface="Microsoft YaHei"/>
              </a:rPr>
              <a:t> 移动鼠标，点击 </a:t>
            </a:r>
            <a:r>
              <a:rPr lang="en-US" altLang="zh-CN" sz="1600">
                <a:latin typeface="Microsoft YaHei"/>
                <a:ea typeface="Microsoft YaHei"/>
              </a:rPr>
              <a:t>Excel</a:t>
            </a:r>
            <a:r>
              <a:rPr lang="zh-CN" altLang="en-US" sz="1600">
                <a:latin typeface="Microsoft YaHei"/>
                <a:ea typeface="Microsoft YaHei"/>
              </a:rPr>
              <a:t>），本质是</a:t>
            </a:r>
            <a:r>
              <a:rPr lang="en-US" altLang="zh-CN" sz="1600">
                <a:latin typeface="Microsoft YaHei"/>
                <a:ea typeface="Microsoft YaHei"/>
              </a:rPr>
              <a:t>MCP</a:t>
            </a:r>
            <a:r>
              <a:rPr lang="zh-CN" altLang="en-US" sz="1600">
                <a:latin typeface="Microsoft YaHei"/>
                <a:ea typeface="Microsoft YaHei"/>
              </a:rPr>
              <a:t>调用</a:t>
            </a:r>
            <a:endParaRPr lang="en-US" altLang="zh-CN" sz="1600">
              <a:latin typeface="Microsoft YaHei"/>
              <a:ea typeface="Microsoft YaHei"/>
            </a:endParaRPr>
          </a:p>
          <a:p>
            <a:pPr marL="342900" indent="-342900">
              <a:spcBef>
                <a:spcPts val="1200"/>
              </a:spcBef>
              <a:buFont typeface="+mj-lt"/>
              <a:buAutoNum type="arabicPeriod"/>
            </a:pPr>
            <a:r>
              <a:rPr lang="zh-CN" altLang="en-US" sz="1600" b="1">
                <a:latin typeface="Microsoft YaHei"/>
                <a:ea typeface="Microsoft YaHei"/>
              </a:rPr>
              <a:t>执行动作</a:t>
            </a:r>
            <a:r>
              <a:rPr lang="zh-CN" altLang="en-US" sz="1600">
                <a:latin typeface="Microsoft YaHei"/>
                <a:ea typeface="Microsoft YaHei"/>
              </a:rPr>
              <a:t>：在虚拟机环境中实际执行动作，作用于真实 OS/App 界面</a:t>
            </a:r>
            <a:endParaRPr lang="en-US" altLang="zh-CN" sz="1600">
              <a:latin typeface="Microsoft YaHei"/>
              <a:ea typeface="Microsoft YaHei"/>
            </a:endParaRPr>
          </a:p>
          <a:p>
            <a:pPr marL="342900" indent="-342900">
              <a:spcBef>
                <a:spcPts val="1200"/>
              </a:spcBef>
              <a:buFont typeface="+mj-lt"/>
              <a:buAutoNum type="arabicPeriod"/>
            </a:pPr>
            <a:r>
              <a:rPr lang="zh-CN" altLang="en-US" sz="1600" b="1">
                <a:latin typeface="Microsoft YaHei"/>
                <a:ea typeface="Microsoft YaHei"/>
              </a:rPr>
              <a:t>返回截图</a:t>
            </a:r>
            <a:endParaRPr lang="en-US" altLang="zh-CN" sz="1600" b="1">
              <a:latin typeface="Microsoft YaHei"/>
              <a:ea typeface="Microsoft YaHei"/>
            </a:endParaRPr>
          </a:p>
          <a:p>
            <a:pPr marL="342900" indent="-342900" algn="l">
              <a:spcBef>
                <a:spcPts val="1200"/>
              </a:spcBef>
              <a:buFont typeface="+mj-lt"/>
              <a:buAutoNum type="arabicPeriod"/>
            </a:pPr>
            <a:r>
              <a:rPr lang="en-US" altLang="zh-CN" sz="1600" b="1">
                <a:latin typeface="Microsoft YaHei"/>
                <a:ea typeface="Microsoft YaHei"/>
              </a:rPr>
              <a:t>Verify</a:t>
            </a:r>
            <a:r>
              <a:rPr lang="en-US" altLang="zh-CN" sz="1600">
                <a:latin typeface="Microsoft YaHei"/>
                <a:ea typeface="Microsoft YaHei"/>
              </a:rPr>
              <a:t>:</a:t>
            </a:r>
            <a:r>
              <a:rPr lang="zh-CN" altLang="en-US" sz="1600">
                <a:latin typeface="Microsoft YaHei"/>
                <a:ea typeface="Microsoft YaHei"/>
              </a:rPr>
              <a:t> 后通过 Execution-based Evaluation 判断最终状态是否达成目标，如果没有完成则重复 </a:t>
            </a:r>
            <a:r>
              <a:rPr lang="en-US" altLang="zh-CN" sz="1600">
                <a:latin typeface="Microsoft YaHei"/>
                <a:ea typeface="Microsoft YaHei"/>
              </a:rPr>
              <a:t>2~5</a:t>
            </a:r>
            <a:endParaRPr lang="zh-CN" altLang="en-US" sz="1600">
              <a:latin typeface="Microsoft YaHei"/>
              <a:ea typeface="Microsoft YaHei"/>
            </a:endParaRPr>
          </a:p>
        </p:txBody>
      </p:sp>
    </p:spTree>
    <p:extLst>
      <p:ext uri="{BB962C8B-B14F-4D97-AF65-F5344CB8AC3E}">
        <p14:creationId xmlns:p14="http://schemas.microsoft.com/office/powerpoint/2010/main" val="9828376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56BF26-4BDB-0AEF-F57D-5D90184C947A}"/>
              </a:ext>
            </a:extLst>
          </p:cNvPr>
          <p:cNvSpPr>
            <a:spLocks noGrp="1"/>
          </p:cNvSpPr>
          <p:nvPr>
            <p:ph type="title"/>
          </p:nvPr>
        </p:nvSpPr>
        <p:spPr/>
        <p:txBody>
          <a:bodyPr/>
          <a:lstStyle/>
          <a:p>
            <a:r>
              <a:rPr kumimoji="1" lang="en-US" altLang="zh-CN" b="1" err="1"/>
              <a:t>OSWorld</a:t>
            </a:r>
            <a:r>
              <a:rPr kumimoji="1" lang="zh-CN" altLang="en-US" b="1"/>
              <a:t> </a:t>
            </a:r>
            <a:r>
              <a:rPr kumimoji="1" lang="en-US" altLang="zh-CN" b="1"/>
              <a:t>Workload</a:t>
            </a:r>
            <a:endParaRPr kumimoji="1" lang="zh-CN" altLang="en-US" b="1"/>
          </a:p>
        </p:txBody>
      </p:sp>
      <p:pic>
        <p:nvPicPr>
          <p:cNvPr id="4" name="图片 3">
            <a:extLst>
              <a:ext uri="{FF2B5EF4-FFF2-40B4-BE49-F238E27FC236}">
                <a16:creationId xmlns:a16="http://schemas.microsoft.com/office/drawing/2014/main" id="{F4155BC8-A4B5-DEE1-E478-000FDC2492AC}"/>
              </a:ext>
            </a:extLst>
          </p:cNvPr>
          <p:cNvPicPr>
            <a:picLocks noChangeAspect="1"/>
          </p:cNvPicPr>
          <p:nvPr/>
        </p:nvPicPr>
        <p:blipFill>
          <a:blip r:embed="rId2"/>
          <a:stretch>
            <a:fillRect/>
          </a:stretch>
        </p:blipFill>
        <p:spPr>
          <a:xfrm>
            <a:off x="869795" y="1359499"/>
            <a:ext cx="9679259" cy="4982115"/>
          </a:xfrm>
          <a:prstGeom prst="rect">
            <a:avLst/>
          </a:prstGeom>
        </p:spPr>
      </p:pic>
    </p:spTree>
    <p:extLst>
      <p:ext uri="{BB962C8B-B14F-4D97-AF65-F5344CB8AC3E}">
        <p14:creationId xmlns:p14="http://schemas.microsoft.com/office/powerpoint/2010/main" val="36897158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87F3D-FA20-6FBC-93C9-AF46054FF22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7E93C3C-ABE3-3DAE-8434-6BCC34F4206F}"/>
              </a:ext>
            </a:extLst>
          </p:cNvPr>
          <p:cNvSpPr>
            <a:spLocks noGrp="1"/>
          </p:cNvSpPr>
          <p:nvPr>
            <p:ph type="title"/>
          </p:nvPr>
        </p:nvSpPr>
        <p:spPr/>
        <p:txBody>
          <a:bodyPr/>
          <a:lstStyle/>
          <a:p>
            <a:r>
              <a:rPr kumimoji="1" lang="en-US" altLang="zh-CN" b="1"/>
              <a:t>Problems</a:t>
            </a:r>
            <a:endParaRPr kumimoji="1" lang="zh-CN" altLang="en-US" b="1"/>
          </a:p>
        </p:txBody>
      </p:sp>
      <p:sp>
        <p:nvSpPr>
          <p:cNvPr id="3" name="文本框 2">
            <a:extLst>
              <a:ext uri="{FF2B5EF4-FFF2-40B4-BE49-F238E27FC236}">
                <a16:creationId xmlns:a16="http://schemas.microsoft.com/office/drawing/2014/main" id="{73A0D281-FEE9-17E2-AC8B-CDB09235FC27}"/>
              </a:ext>
            </a:extLst>
          </p:cNvPr>
          <p:cNvSpPr txBox="1"/>
          <p:nvPr/>
        </p:nvSpPr>
        <p:spPr>
          <a:xfrm>
            <a:off x="221974" y="2086720"/>
            <a:ext cx="8967746" cy="1661993"/>
          </a:xfrm>
          <a:prstGeom prst="rect">
            <a:avLst/>
          </a:prstGeom>
          <a:noFill/>
        </p:spPr>
        <p:txBody>
          <a:bodyPr wrap="square" rtlCol="0">
            <a:spAutoFit/>
          </a:bodyPr>
          <a:lstStyle/>
          <a:p>
            <a:pPr marL="285750" indent="-285750">
              <a:spcBef>
                <a:spcPts val="1200"/>
              </a:spcBef>
              <a:buFont typeface="Arial" panose="020B0604020202020204" pitchFamily="34" charset="0"/>
              <a:buChar char="•"/>
            </a:pPr>
            <a:r>
              <a:rPr kumimoji="1" lang="en-US" altLang="zh-CN" b="1">
                <a:solidFill>
                  <a:srgbClr val="C00000"/>
                </a:solidFill>
                <a:latin typeface="Microsoft YaHei" panose="020B0503020204020204" pitchFamily="34" charset="-122"/>
                <a:ea typeface="Microsoft YaHei" panose="020B0503020204020204" pitchFamily="34" charset="-122"/>
              </a:rPr>
              <a:t>RL</a:t>
            </a:r>
            <a:r>
              <a:rPr kumimoji="1" lang="zh-CN" altLang="en-US" b="1">
                <a:solidFill>
                  <a:srgbClr val="C00000"/>
                </a:solidFill>
                <a:latin typeface="Microsoft YaHei" panose="020B0503020204020204" pitchFamily="34" charset="-122"/>
                <a:ea typeface="Microsoft YaHei" panose="020B0503020204020204" pitchFamily="34" charset="-122"/>
              </a:rPr>
              <a:t> </a:t>
            </a:r>
            <a:r>
              <a:rPr kumimoji="1" lang="en-US" altLang="zh-CN" b="1">
                <a:solidFill>
                  <a:srgbClr val="C00000"/>
                </a:solidFill>
                <a:latin typeface="Microsoft YaHei" panose="020B0503020204020204" pitchFamily="34" charset="-122"/>
                <a:ea typeface="Microsoft YaHei" panose="020B0503020204020204" pitchFamily="34" charset="-122"/>
              </a:rPr>
              <a:t>Rollout</a:t>
            </a:r>
            <a:r>
              <a:rPr kumimoji="1" lang="zh-CN" altLang="en-US" b="1">
                <a:solidFill>
                  <a:srgbClr val="C00000"/>
                </a:solidFill>
                <a:latin typeface="Microsoft YaHei" panose="020B0503020204020204" pitchFamily="34" charset="-122"/>
                <a:ea typeface="Microsoft YaHei" panose="020B0503020204020204" pitchFamily="34" charset="-122"/>
              </a:rPr>
              <a:t> 时 </a:t>
            </a:r>
            <a:r>
              <a:rPr kumimoji="1" lang="en-US" altLang="zh-CN" b="1">
                <a:solidFill>
                  <a:srgbClr val="C00000"/>
                </a:solidFill>
                <a:latin typeface="Microsoft YaHei" panose="020B0503020204020204" pitchFamily="34" charset="-122"/>
                <a:ea typeface="Microsoft YaHei" panose="020B0503020204020204" pitchFamily="34" charset="-122"/>
              </a:rPr>
              <a:t>Sample</a:t>
            </a:r>
            <a:r>
              <a:rPr kumimoji="1" lang="zh-CN" altLang="en-US" b="1">
                <a:solidFill>
                  <a:srgbClr val="C00000"/>
                </a:solidFill>
                <a:latin typeface="Microsoft YaHei" panose="020B0503020204020204" pitchFamily="34" charset="-122"/>
                <a:ea typeface="Microsoft YaHei" panose="020B0503020204020204" pitchFamily="34" charset="-122"/>
              </a:rPr>
              <a:t> 长尾分布明显</a:t>
            </a:r>
            <a:endParaRPr kumimoji="1" lang="en-US" altLang="zh-CN" b="1">
              <a:solidFill>
                <a:srgbClr val="C00000"/>
              </a:solidFill>
              <a:latin typeface="Microsoft YaHei" panose="020B0503020204020204" pitchFamily="34" charset="-122"/>
              <a:ea typeface="Microsoft YaHei" panose="020B0503020204020204" pitchFamily="34" charset="-122"/>
            </a:endParaRPr>
          </a:p>
          <a:p>
            <a:pPr marL="285750" indent="-285750">
              <a:spcBef>
                <a:spcPts val="1200"/>
              </a:spcBef>
              <a:buFont typeface="Arial" panose="020B0604020202020204" pitchFamily="34" charset="0"/>
              <a:buChar char="•"/>
            </a:pPr>
            <a:r>
              <a:rPr kumimoji="1" lang="en-US" altLang="zh-CN" b="1" err="1">
                <a:solidFill>
                  <a:srgbClr val="C00000"/>
                </a:solidFill>
                <a:latin typeface="Microsoft YaHei" panose="020B0503020204020204" pitchFamily="34" charset="-122"/>
                <a:ea typeface="Microsoft YaHei" panose="020B0503020204020204" pitchFamily="34" charset="-122"/>
              </a:rPr>
              <a:t>Env.step</a:t>
            </a:r>
            <a:r>
              <a:rPr kumimoji="1" lang="zh-CN" altLang="en-US" b="1">
                <a:solidFill>
                  <a:srgbClr val="C00000"/>
                </a:solidFill>
                <a:latin typeface="Microsoft YaHei" panose="020B0503020204020204" pitchFamily="34" charset="-122"/>
                <a:ea typeface="Microsoft YaHei" panose="020B0503020204020204" pitchFamily="34" charset="-122"/>
              </a:rPr>
              <a:t> 时间过长，并且在</a:t>
            </a:r>
            <a:r>
              <a:rPr kumimoji="1" lang="en-US" altLang="zh-CN" b="1">
                <a:solidFill>
                  <a:srgbClr val="C00000"/>
                </a:solidFill>
                <a:latin typeface="Microsoft YaHei" panose="020B0503020204020204" pitchFamily="34" charset="-122"/>
                <a:ea typeface="Microsoft YaHei" panose="020B0503020204020204" pitchFamily="34" charset="-122"/>
              </a:rPr>
              <a:t>critical</a:t>
            </a:r>
            <a:r>
              <a:rPr kumimoji="1" lang="zh-CN" altLang="en-US" b="1">
                <a:solidFill>
                  <a:srgbClr val="C00000"/>
                </a:solidFill>
                <a:latin typeface="Microsoft YaHei" panose="020B0503020204020204" pitchFamily="34" charset="-122"/>
                <a:ea typeface="Microsoft YaHei" panose="020B0503020204020204" pitchFamily="34" charset="-122"/>
              </a:rPr>
              <a:t> </a:t>
            </a:r>
            <a:r>
              <a:rPr kumimoji="1" lang="en-US" altLang="zh-CN" b="1">
                <a:solidFill>
                  <a:srgbClr val="C00000"/>
                </a:solidFill>
                <a:latin typeface="Microsoft YaHei" panose="020B0503020204020204" pitchFamily="34" charset="-122"/>
                <a:ea typeface="Microsoft YaHei" panose="020B0503020204020204" pitchFamily="34" charset="-122"/>
              </a:rPr>
              <a:t>path</a:t>
            </a:r>
            <a:r>
              <a:rPr kumimoji="1" lang="zh-CN" altLang="en-US" b="1">
                <a:solidFill>
                  <a:srgbClr val="C00000"/>
                </a:solidFill>
                <a:latin typeface="Microsoft YaHei" panose="020B0503020204020204" pitchFamily="34" charset="-122"/>
                <a:ea typeface="Microsoft YaHei" panose="020B0503020204020204" pitchFamily="34" charset="-122"/>
              </a:rPr>
              <a:t>上</a:t>
            </a:r>
            <a:endParaRPr kumimoji="1" lang="en-US" altLang="zh-CN" b="1">
              <a:solidFill>
                <a:srgbClr val="C00000"/>
              </a:solidFill>
              <a:latin typeface="Microsoft YaHei" panose="020B0503020204020204" pitchFamily="34" charset="-122"/>
              <a:ea typeface="Microsoft YaHei" panose="020B0503020204020204" pitchFamily="34" charset="-122"/>
            </a:endParaRPr>
          </a:p>
          <a:p>
            <a:pPr marL="285750" indent="-285750">
              <a:spcBef>
                <a:spcPts val="1200"/>
              </a:spcBef>
              <a:buFont typeface="Arial" panose="020B0604020202020204" pitchFamily="34" charset="0"/>
              <a:buChar char="•"/>
            </a:pPr>
            <a:r>
              <a:rPr kumimoji="1" lang="en-US" altLang="zh-CN">
                <a:latin typeface="Microsoft YaHei" panose="020B0503020204020204" pitchFamily="34" charset="-122"/>
                <a:ea typeface="Microsoft YaHei" panose="020B0503020204020204" pitchFamily="34" charset="-122"/>
              </a:rPr>
              <a:t>Env</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reset</a:t>
            </a:r>
            <a:r>
              <a:rPr kumimoji="1" lang="zh-CN" altLang="en-US">
                <a:latin typeface="Microsoft YaHei" panose="020B0503020204020204" pitchFamily="34" charset="-122"/>
                <a:ea typeface="Microsoft YaHei" panose="020B0503020204020204" pitchFamily="34" charset="-122"/>
              </a:rPr>
              <a:t> 时间过长</a:t>
            </a:r>
            <a:endParaRPr kumimoji="1" lang="en-US" altLang="zh-CN">
              <a:latin typeface="Microsoft YaHei" panose="020B0503020204020204" pitchFamily="34" charset="-122"/>
              <a:ea typeface="Microsoft YaHei" panose="020B0503020204020204" pitchFamily="34" charset="-122"/>
            </a:endParaRPr>
          </a:p>
          <a:p>
            <a:pPr marL="285750" indent="-285750">
              <a:spcBef>
                <a:spcPts val="1200"/>
              </a:spcBef>
              <a:buFont typeface="Arial" panose="020B0604020202020204" pitchFamily="34" charset="0"/>
              <a:buChar char="•"/>
            </a:pPr>
            <a:r>
              <a:rPr kumimoji="1" lang="zh-CN" altLang="en-US">
                <a:latin typeface="Microsoft YaHei" panose="020B0503020204020204" pitchFamily="34" charset="-122"/>
                <a:ea typeface="Microsoft YaHei" panose="020B0503020204020204" pitchFamily="34" charset="-122"/>
              </a:rPr>
              <a:t>负载不均。序列长度差别多大，导致训练负载不均， 这个和前一篇</a:t>
            </a:r>
            <a:r>
              <a:rPr kumimoji="1" lang="en-US" altLang="zh-CN">
                <a:latin typeface="Microsoft YaHei" panose="020B0503020204020204" pitchFamily="34" charset="-122"/>
                <a:ea typeface="Microsoft YaHei" panose="020B0503020204020204" pitchFamily="34" charset="-122"/>
              </a:rPr>
              <a:t>ICLR</a:t>
            </a:r>
            <a:r>
              <a:rPr kumimoji="1" lang="zh-CN" altLang="en-US">
                <a:latin typeface="Microsoft YaHei" panose="020B0503020204020204" pitchFamily="34" charset="-122"/>
                <a:ea typeface="Microsoft YaHei" panose="020B0503020204020204" pitchFamily="34" charset="-122"/>
              </a:rPr>
              <a:t>比较像</a:t>
            </a:r>
            <a:endParaRPr kumimoji="1" lang="en-US" altLang="zh-CN">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0840321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AA89A-1D97-C900-0739-0AB376C4A15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BCA3350-7C6E-8CF1-8BED-3C4BEACF9F17}"/>
              </a:ext>
            </a:extLst>
          </p:cNvPr>
          <p:cNvSpPr>
            <a:spLocks noGrp="1"/>
          </p:cNvSpPr>
          <p:nvPr>
            <p:ph type="title"/>
          </p:nvPr>
        </p:nvSpPr>
        <p:spPr/>
        <p:txBody>
          <a:bodyPr/>
          <a:lstStyle/>
          <a:p>
            <a:r>
              <a:rPr kumimoji="1" lang="en-US" altLang="zh-CN" b="1"/>
              <a:t>Long</a:t>
            </a:r>
            <a:r>
              <a:rPr kumimoji="1" lang="zh-CN" altLang="en-US" b="1"/>
              <a:t> </a:t>
            </a:r>
            <a:r>
              <a:rPr kumimoji="1" lang="en-US" altLang="zh-CN" b="1"/>
              <a:t>Tail </a:t>
            </a:r>
            <a:r>
              <a:rPr kumimoji="1" lang="zh-CN" altLang="en-US" b="1"/>
              <a:t> </a:t>
            </a:r>
            <a:r>
              <a:rPr kumimoji="1" lang="en-US" altLang="zh-CN" b="1"/>
              <a:t>of</a:t>
            </a:r>
            <a:r>
              <a:rPr kumimoji="1" lang="zh-CN" altLang="en-US" b="1"/>
              <a:t> </a:t>
            </a:r>
            <a:r>
              <a:rPr kumimoji="1" lang="en-US" altLang="zh-CN" b="1"/>
              <a:t>VLM</a:t>
            </a:r>
            <a:r>
              <a:rPr kumimoji="1" lang="zh-CN" altLang="en-US" b="1"/>
              <a:t> </a:t>
            </a:r>
            <a:r>
              <a:rPr kumimoji="1" lang="en-US" altLang="zh-CN" b="1"/>
              <a:t>Agentic</a:t>
            </a:r>
            <a:r>
              <a:rPr kumimoji="1" lang="zh-CN" altLang="en-US" b="1"/>
              <a:t> </a:t>
            </a:r>
            <a:r>
              <a:rPr kumimoji="1" lang="en-US" altLang="zh-CN" b="1"/>
              <a:t>RL</a:t>
            </a:r>
            <a:r>
              <a:rPr kumimoji="1" lang="zh-CN" altLang="en-US" b="1"/>
              <a:t> </a:t>
            </a:r>
            <a:r>
              <a:rPr kumimoji="1" lang="en-US" altLang="zh-CN" b="1"/>
              <a:t>Rollout</a:t>
            </a:r>
            <a:endParaRPr kumimoji="1" lang="zh-CN" altLang="en-US" b="1"/>
          </a:p>
        </p:txBody>
      </p:sp>
      <p:pic>
        <p:nvPicPr>
          <p:cNvPr id="18" name="图片 17">
            <a:extLst>
              <a:ext uri="{FF2B5EF4-FFF2-40B4-BE49-F238E27FC236}">
                <a16:creationId xmlns:a16="http://schemas.microsoft.com/office/drawing/2014/main" id="{ABBFBC0A-A816-90AC-697C-5D53032ECA69}"/>
              </a:ext>
            </a:extLst>
          </p:cNvPr>
          <p:cNvPicPr>
            <a:picLocks noChangeAspect="1"/>
          </p:cNvPicPr>
          <p:nvPr/>
        </p:nvPicPr>
        <p:blipFill>
          <a:blip r:embed="rId3"/>
          <a:srcRect r="35686"/>
          <a:stretch>
            <a:fillRect/>
          </a:stretch>
        </p:blipFill>
        <p:spPr>
          <a:xfrm>
            <a:off x="6493151" y="1739851"/>
            <a:ext cx="2460660" cy="2968556"/>
          </a:xfrm>
          <a:prstGeom prst="rect">
            <a:avLst/>
          </a:prstGeom>
        </p:spPr>
      </p:pic>
      <p:pic>
        <p:nvPicPr>
          <p:cNvPr id="21" name="图片 20">
            <a:extLst>
              <a:ext uri="{FF2B5EF4-FFF2-40B4-BE49-F238E27FC236}">
                <a16:creationId xmlns:a16="http://schemas.microsoft.com/office/drawing/2014/main" id="{3F8BDCD4-C409-3294-7EBC-0433F4DCA96E}"/>
              </a:ext>
            </a:extLst>
          </p:cNvPr>
          <p:cNvPicPr>
            <a:picLocks noChangeAspect="1"/>
          </p:cNvPicPr>
          <p:nvPr/>
        </p:nvPicPr>
        <p:blipFill>
          <a:blip r:embed="rId4"/>
          <a:srcRect l="64815" t="37404" r="2056" b="-1"/>
          <a:stretch>
            <a:fillRect/>
          </a:stretch>
        </p:blipFill>
        <p:spPr>
          <a:xfrm>
            <a:off x="8566177" y="1748723"/>
            <a:ext cx="1657322" cy="2429577"/>
          </a:xfrm>
          <a:prstGeom prst="rect">
            <a:avLst/>
          </a:prstGeom>
        </p:spPr>
      </p:pic>
      <p:sp>
        <p:nvSpPr>
          <p:cNvPr id="22" name="文本框 21">
            <a:extLst>
              <a:ext uri="{FF2B5EF4-FFF2-40B4-BE49-F238E27FC236}">
                <a16:creationId xmlns:a16="http://schemas.microsoft.com/office/drawing/2014/main" id="{0901781F-9B20-BEC5-AE42-5F4FB051C907}"/>
              </a:ext>
            </a:extLst>
          </p:cNvPr>
          <p:cNvSpPr txBox="1"/>
          <p:nvPr/>
        </p:nvSpPr>
        <p:spPr>
          <a:xfrm>
            <a:off x="6493151" y="4735615"/>
            <a:ext cx="2885277" cy="646331"/>
          </a:xfrm>
          <a:prstGeom prst="rect">
            <a:avLst/>
          </a:prstGeom>
          <a:noFill/>
        </p:spPr>
        <p:txBody>
          <a:bodyPr wrap="none" rtlCol="0">
            <a:spAutoFit/>
          </a:bodyPr>
          <a:lstStyle/>
          <a:p>
            <a:pPr algn="ct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Act.</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Latency</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Breakdown</a:t>
            </a:r>
          </a:p>
          <a:p>
            <a:pPr algn="ctr"/>
            <a:r>
              <a:rPr kumimoji="1" lang="en-US" altLang="zh-CN">
                <a:latin typeface="Microsoft YaHei" panose="020B0503020204020204" pitchFamily="34" charset="-122"/>
                <a:ea typeface="Microsoft YaHei" panose="020B0503020204020204" pitchFamily="34" charset="-122"/>
              </a:rPr>
              <a:t>(Qwen3-VL8B)</a:t>
            </a:r>
            <a:endParaRPr kumimoji="1" lang="zh-CN" altLang="en-US">
              <a:latin typeface="Microsoft YaHei" panose="020B0503020204020204" pitchFamily="34" charset="-122"/>
              <a:ea typeface="Microsoft YaHei" panose="020B0503020204020204" pitchFamily="34" charset="-122"/>
            </a:endParaRPr>
          </a:p>
        </p:txBody>
      </p:sp>
      <p:pic>
        <p:nvPicPr>
          <p:cNvPr id="6" name="图片 5">
            <a:extLst>
              <a:ext uri="{FF2B5EF4-FFF2-40B4-BE49-F238E27FC236}">
                <a16:creationId xmlns:a16="http://schemas.microsoft.com/office/drawing/2014/main" id="{BF75788B-FDD0-9864-5D7E-F0533ABD60D5}"/>
              </a:ext>
            </a:extLst>
          </p:cNvPr>
          <p:cNvPicPr>
            <a:picLocks noChangeAspect="1"/>
          </p:cNvPicPr>
          <p:nvPr/>
        </p:nvPicPr>
        <p:blipFill>
          <a:blip r:embed="rId5"/>
          <a:stretch>
            <a:fillRect/>
          </a:stretch>
        </p:blipFill>
        <p:spPr>
          <a:xfrm>
            <a:off x="717274" y="2007344"/>
            <a:ext cx="5289826" cy="2818625"/>
          </a:xfrm>
          <a:prstGeom prst="rect">
            <a:avLst/>
          </a:prstGeom>
        </p:spPr>
      </p:pic>
      <p:sp>
        <p:nvSpPr>
          <p:cNvPr id="10" name="文本框 9">
            <a:extLst>
              <a:ext uri="{FF2B5EF4-FFF2-40B4-BE49-F238E27FC236}">
                <a16:creationId xmlns:a16="http://schemas.microsoft.com/office/drawing/2014/main" id="{ED35679A-2D93-367D-7934-418B40CD8C4F}"/>
              </a:ext>
            </a:extLst>
          </p:cNvPr>
          <p:cNvSpPr txBox="1"/>
          <p:nvPr/>
        </p:nvSpPr>
        <p:spPr>
          <a:xfrm>
            <a:off x="1714500" y="4825969"/>
            <a:ext cx="3556000" cy="369332"/>
          </a:xfrm>
          <a:prstGeom prst="rect">
            <a:avLst/>
          </a:prstGeom>
          <a:noFill/>
        </p:spPr>
        <p:txBody>
          <a:bodyPr wrap="square" rtlCol="0">
            <a:spAutoFit/>
          </a:bodyPr>
          <a:lstStyle/>
          <a:p>
            <a:r>
              <a:rPr kumimoji="1" lang="en-US" altLang="zh-CN">
                <a:latin typeface="Microsoft YaHei" panose="020B0503020204020204" pitchFamily="34" charset="-122"/>
                <a:ea typeface="Microsoft YaHei" panose="020B0503020204020204" pitchFamily="34" charset="-122"/>
              </a:rPr>
              <a:t>Think</a:t>
            </a:r>
            <a:r>
              <a:rPr kumimoji="1" lang="zh-CN" altLang="en-US">
                <a:latin typeface="Microsoft YaHei" panose="020B0503020204020204" pitchFamily="34" charset="-122"/>
                <a:ea typeface="Microsoft YaHei" panose="020B0503020204020204" pitchFamily="34" charset="-122"/>
              </a:rPr>
              <a:t> 模型存在明显的长尾分布</a:t>
            </a:r>
          </a:p>
        </p:txBody>
      </p:sp>
      <p:sp>
        <p:nvSpPr>
          <p:cNvPr id="11" name="文本框 10">
            <a:extLst>
              <a:ext uri="{FF2B5EF4-FFF2-40B4-BE49-F238E27FC236}">
                <a16:creationId xmlns:a16="http://schemas.microsoft.com/office/drawing/2014/main" id="{07AC494C-06FA-B379-D90E-32C6CCE97359}"/>
              </a:ext>
            </a:extLst>
          </p:cNvPr>
          <p:cNvSpPr txBox="1"/>
          <p:nvPr/>
        </p:nvSpPr>
        <p:spPr>
          <a:xfrm>
            <a:off x="1859643" y="5380672"/>
            <a:ext cx="3265714" cy="1477328"/>
          </a:xfrm>
          <a:prstGeom prst="rect">
            <a:avLst/>
          </a:prstGeom>
          <a:noFill/>
        </p:spPr>
        <p:txBody>
          <a:bodyPr wrap="square" rtlCol="0">
            <a:spAutoFit/>
          </a:bodyPr>
          <a:lstStyle/>
          <a:p>
            <a:pPr marL="285750" indent="-285750">
              <a:buFontTx/>
              <a:buChar char="-"/>
            </a:pPr>
            <a:r>
              <a:rPr kumimoji="1" lang="en-US" altLang="zh-CN">
                <a:latin typeface="Microsoft YaHei" panose="020B0503020204020204" pitchFamily="34" charset="-122"/>
                <a:ea typeface="Microsoft YaHei" panose="020B0503020204020204" pitchFamily="34" charset="-122"/>
              </a:rPr>
              <a:t>Frontier</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thinking</a:t>
            </a:r>
            <a:r>
              <a:rPr kumimoji="1" lang="zh-CN" altLang="en-US">
                <a:latin typeface="Microsoft YaHei" panose="020B0503020204020204" pitchFamily="34" charset="-122"/>
                <a:ea typeface="Microsoft YaHei" panose="020B0503020204020204" pitchFamily="34" charset="-122"/>
              </a:rPr>
              <a:t>模型长尾明显</a:t>
            </a:r>
            <a:endParaRPr kumimoji="1" lang="en-US" altLang="zh-CN">
              <a:latin typeface="Microsoft YaHei" panose="020B0503020204020204" pitchFamily="34" charset="-122"/>
              <a:ea typeface="Microsoft YaHei" panose="020B0503020204020204" pitchFamily="34" charset="-122"/>
            </a:endParaRPr>
          </a:p>
          <a:p>
            <a:pPr marL="742950" lvl="1" indent="-285750">
              <a:buFontTx/>
              <a:buChar char="-"/>
            </a:pPr>
            <a:r>
              <a:rPr kumimoji="1" lang="en-US" altLang="zh-CN">
                <a:latin typeface="Microsoft YaHei" panose="020B0503020204020204" pitchFamily="34" charset="-122"/>
                <a:ea typeface="Microsoft YaHei" panose="020B0503020204020204" pitchFamily="34" charset="-122"/>
              </a:rPr>
              <a:t>P90</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66</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steps</a:t>
            </a:r>
          </a:p>
          <a:p>
            <a:pPr marL="742950" lvl="1" indent="-285750">
              <a:buFontTx/>
              <a:buChar char="-"/>
            </a:pPr>
            <a:r>
              <a:rPr kumimoji="1" lang="en-US" altLang="zh-CN">
                <a:latin typeface="Microsoft YaHei" panose="020B0503020204020204" pitchFamily="34" charset="-122"/>
                <a:ea typeface="Microsoft YaHei" panose="020B0503020204020204" pitchFamily="34" charset="-122"/>
              </a:rPr>
              <a:t>P95</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90</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steps</a:t>
            </a:r>
          </a:p>
          <a:p>
            <a:pPr marL="742950" lvl="1" indent="-285750">
              <a:buFontTx/>
              <a:buChar char="-"/>
            </a:pPr>
            <a:r>
              <a:rPr kumimoji="1" lang="en-US" altLang="zh-CN">
                <a:latin typeface="Microsoft YaHei" panose="020B0503020204020204" pitchFamily="34" charset="-122"/>
                <a:ea typeface="Microsoft YaHei" panose="020B0503020204020204" pitchFamily="34" charset="-122"/>
              </a:rPr>
              <a:t>P50</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20</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steps</a:t>
            </a:r>
          </a:p>
        </p:txBody>
      </p:sp>
    </p:spTree>
    <p:extLst>
      <p:ext uri="{BB962C8B-B14F-4D97-AF65-F5344CB8AC3E}">
        <p14:creationId xmlns:p14="http://schemas.microsoft.com/office/powerpoint/2010/main" val="10594729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493E3F-2676-B87F-470F-B76DABF1723A}"/>
              </a:ext>
            </a:extLst>
          </p:cNvPr>
          <p:cNvSpPr>
            <a:spLocks noGrp="1"/>
          </p:cNvSpPr>
          <p:nvPr>
            <p:ph type="title"/>
          </p:nvPr>
        </p:nvSpPr>
        <p:spPr/>
        <p:txBody>
          <a:bodyPr/>
          <a:lstStyle/>
          <a:p>
            <a:r>
              <a:rPr kumimoji="1" lang="en-US" altLang="zh-CN" b="1"/>
              <a:t>Impact</a:t>
            </a:r>
            <a:r>
              <a:rPr kumimoji="1" lang="zh-CN" altLang="en-US" b="1"/>
              <a:t> </a:t>
            </a:r>
            <a:r>
              <a:rPr kumimoji="1" lang="en-US" altLang="zh-CN" b="1"/>
              <a:t>of</a:t>
            </a:r>
            <a:r>
              <a:rPr kumimoji="1" lang="zh-CN" altLang="en-US" b="1"/>
              <a:t> </a:t>
            </a:r>
            <a:r>
              <a:rPr kumimoji="1" lang="en-US" altLang="zh-CN" b="1"/>
              <a:t>Long</a:t>
            </a:r>
            <a:r>
              <a:rPr kumimoji="1" lang="zh-CN" altLang="en-US" b="1"/>
              <a:t> </a:t>
            </a:r>
            <a:r>
              <a:rPr kumimoji="1" lang="en-US" altLang="zh-CN" b="1"/>
              <a:t>Tail</a:t>
            </a:r>
            <a:endParaRPr kumimoji="1" lang="zh-CN" altLang="en-US" b="1"/>
          </a:p>
        </p:txBody>
      </p:sp>
      <p:grpSp>
        <p:nvGrpSpPr>
          <p:cNvPr id="6" name="组合 5">
            <a:extLst>
              <a:ext uri="{FF2B5EF4-FFF2-40B4-BE49-F238E27FC236}">
                <a16:creationId xmlns:a16="http://schemas.microsoft.com/office/drawing/2014/main" id="{DCFBB23C-A2F5-8F49-E315-B2D80ED60240}"/>
              </a:ext>
            </a:extLst>
          </p:cNvPr>
          <p:cNvGrpSpPr/>
          <p:nvPr/>
        </p:nvGrpSpPr>
        <p:grpSpPr>
          <a:xfrm>
            <a:off x="2388870" y="1343204"/>
            <a:ext cx="5588276" cy="4487862"/>
            <a:chOff x="221974" y="1316038"/>
            <a:chExt cx="5588276" cy="4487862"/>
          </a:xfrm>
        </p:grpSpPr>
        <p:pic>
          <p:nvPicPr>
            <p:cNvPr id="4" name="图片 3">
              <a:extLst>
                <a:ext uri="{FF2B5EF4-FFF2-40B4-BE49-F238E27FC236}">
                  <a16:creationId xmlns:a16="http://schemas.microsoft.com/office/drawing/2014/main" id="{CD52086D-B978-78E2-0EC4-16797618A6E1}"/>
                </a:ext>
              </a:extLst>
            </p:cNvPr>
            <p:cNvPicPr>
              <a:picLocks noChangeAspect="1"/>
            </p:cNvPicPr>
            <p:nvPr/>
          </p:nvPicPr>
          <p:blipFill>
            <a:blip r:embed="rId3"/>
            <a:srcRect r="2218" b="3012"/>
            <a:stretch>
              <a:fillRect/>
            </a:stretch>
          </p:blipFill>
          <p:spPr>
            <a:xfrm>
              <a:off x="221974" y="1316038"/>
              <a:ext cx="5588276" cy="4360366"/>
            </a:xfrm>
            <a:prstGeom prst="rect">
              <a:avLst/>
            </a:prstGeom>
          </p:spPr>
        </p:pic>
        <p:pic>
          <p:nvPicPr>
            <p:cNvPr id="5" name="图片 4">
              <a:extLst>
                <a:ext uri="{FF2B5EF4-FFF2-40B4-BE49-F238E27FC236}">
                  <a16:creationId xmlns:a16="http://schemas.microsoft.com/office/drawing/2014/main" id="{1D6C0E26-843F-B4F4-8474-D35BD218AB81}"/>
                </a:ext>
              </a:extLst>
            </p:cNvPr>
            <p:cNvPicPr>
              <a:picLocks noChangeAspect="1"/>
            </p:cNvPicPr>
            <p:nvPr/>
          </p:nvPicPr>
          <p:blipFill>
            <a:blip r:embed="rId4"/>
            <a:stretch>
              <a:fillRect/>
            </a:stretch>
          </p:blipFill>
          <p:spPr>
            <a:xfrm>
              <a:off x="2724150" y="3429000"/>
              <a:ext cx="3086100" cy="2374900"/>
            </a:xfrm>
            <a:prstGeom prst="rect">
              <a:avLst/>
            </a:prstGeom>
          </p:spPr>
        </p:pic>
      </p:grpSp>
      <p:sp>
        <p:nvSpPr>
          <p:cNvPr id="7" name="文本框 6">
            <a:extLst>
              <a:ext uri="{FF2B5EF4-FFF2-40B4-BE49-F238E27FC236}">
                <a16:creationId xmlns:a16="http://schemas.microsoft.com/office/drawing/2014/main" id="{81C50961-D185-DB51-2CF9-FC33A98C131F}"/>
              </a:ext>
            </a:extLst>
          </p:cNvPr>
          <p:cNvSpPr txBox="1"/>
          <p:nvPr/>
        </p:nvSpPr>
        <p:spPr>
          <a:xfrm>
            <a:off x="4805818" y="3523387"/>
            <a:ext cx="3593824" cy="1508105"/>
          </a:xfrm>
          <a:prstGeom prst="rect">
            <a:avLst/>
          </a:prstGeom>
          <a:noFill/>
        </p:spPr>
        <p:txBody>
          <a:bodyPr wrap="square" rtlCol="0">
            <a:spAutoFit/>
          </a:bodyPr>
          <a:lstStyle/>
          <a:p>
            <a:r>
              <a:rPr kumimoji="1" lang="en-US" altLang="zh-CN" sz="2000" b="1">
                <a:solidFill>
                  <a:srgbClr val="C00000"/>
                </a:solidFill>
                <a:latin typeface="Microsoft YaHei" panose="020B0503020204020204" pitchFamily="34" charset="-122"/>
                <a:ea typeface="Microsoft YaHei" panose="020B0503020204020204" pitchFamily="34" charset="-122"/>
              </a:rPr>
              <a:t>GPU</a:t>
            </a:r>
            <a:r>
              <a:rPr kumimoji="1" lang="zh-CN" altLang="en-US" sz="2000" b="1">
                <a:solidFill>
                  <a:srgbClr val="C00000"/>
                </a:solidFill>
                <a:latin typeface="Microsoft YaHei" panose="020B0503020204020204" pitchFamily="34" charset="-122"/>
                <a:ea typeface="Microsoft YaHei" panose="020B0503020204020204" pitchFamily="34" charset="-122"/>
              </a:rPr>
              <a:t> </a:t>
            </a:r>
            <a:r>
              <a:rPr kumimoji="1" lang="en-US" altLang="zh-CN" sz="2000" b="1">
                <a:solidFill>
                  <a:srgbClr val="C00000"/>
                </a:solidFill>
                <a:latin typeface="Microsoft YaHei" panose="020B0503020204020204" pitchFamily="34" charset="-122"/>
                <a:ea typeface="Microsoft YaHei" panose="020B0503020204020204" pitchFamily="34" charset="-122"/>
              </a:rPr>
              <a:t>IDLE</a:t>
            </a:r>
          </a:p>
          <a:p>
            <a:pPr marL="342900" indent="-342900">
              <a:buFontTx/>
              <a:buChar char="-"/>
            </a:pPr>
            <a:r>
              <a:rPr kumimoji="1" lang="zh-CN" altLang="en-US" sz="2000">
                <a:latin typeface="Microsoft YaHei" panose="020B0503020204020204" pitchFamily="34" charset="-122"/>
                <a:ea typeface="Microsoft YaHei" panose="020B0503020204020204" pitchFamily="34" charset="-122"/>
              </a:rPr>
              <a:t>部分卡空闲</a:t>
            </a:r>
            <a:endParaRPr kumimoji="1" lang="en-US" altLang="zh-CN" sz="2000">
              <a:latin typeface="Microsoft YaHei" panose="020B0503020204020204" pitchFamily="34" charset="-122"/>
              <a:ea typeface="Microsoft YaHei" panose="020B0503020204020204" pitchFamily="34" charset="-122"/>
            </a:endParaRPr>
          </a:p>
          <a:p>
            <a:pPr marL="342900" indent="-342900">
              <a:buFontTx/>
              <a:buChar char="-"/>
            </a:pPr>
            <a:r>
              <a:rPr kumimoji="1" lang="en-US" altLang="zh-CN" sz="2000">
                <a:latin typeface="Microsoft YaHei" panose="020B0503020204020204" pitchFamily="34" charset="-122"/>
                <a:ea typeface="Microsoft YaHei" panose="020B0503020204020204" pitchFamily="34" charset="-122"/>
              </a:rPr>
              <a:t>SM</a:t>
            </a:r>
            <a:r>
              <a:rPr kumimoji="1" lang="zh-CN" altLang="en-US" sz="2000">
                <a:latin typeface="Microsoft YaHei" panose="020B0503020204020204" pitchFamily="34" charset="-122"/>
                <a:ea typeface="Microsoft YaHei" panose="020B0503020204020204" pitchFamily="34" charset="-122"/>
              </a:rPr>
              <a:t> 利用率低</a:t>
            </a:r>
            <a:endParaRPr kumimoji="1" lang="en-US" altLang="zh-CN" sz="2000">
              <a:latin typeface="Microsoft YaHei" panose="020B0503020204020204" pitchFamily="34" charset="-122"/>
              <a:ea typeface="Microsoft YaHei" panose="020B0503020204020204" pitchFamily="34" charset="-122"/>
            </a:endParaRPr>
          </a:p>
          <a:p>
            <a:pPr marL="800100" lvl="1" indent="-342900">
              <a:buFontTx/>
              <a:buChar char="-"/>
            </a:pPr>
            <a:r>
              <a:rPr kumimoji="1" lang="zh-CN" altLang="en-US" sz="1600">
                <a:latin typeface="Microsoft YaHei" panose="020B0503020204020204" pitchFamily="34" charset="-122"/>
                <a:ea typeface="Microsoft YaHei" panose="020B0503020204020204" pitchFamily="34" charset="-122"/>
              </a:rPr>
              <a:t>长尾 </a:t>
            </a:r>
            <a:r>
              <a:rPr kumimoji="1" lang="en-US" altLang="zh-CN" sz="1600">
                <a:latin typeface="Microsoft YaHei" panose="020B0503020204020204" pitchFamily="34" charset="-122"/>
                <a:ea typeface="Microsoft YaHei" panose="020B0503020204020204" pitchFamily="34" charset="-122"/>
              </a:rPr>
              <a:t>decoding</a:t>
            </a:r>
          </a:p>
          <a:p>
            <a:pPr marL="800100" lvl="1" indent="-342900">
              <a:buFontTx/>
              <a:buChar char="-"/>
            </a:pPr>
            <a:r>
              <a:rPr kumimoji="1" lang="en-US" altLang="zh-CN" sz="1600">
                <a:latin typeface="Microsoft YaHei" panose="020B0503020204020204" pitchFamily="34" charset="-122"/>
                <a:ea typeface="Microsoft YaHei" panose="020B0503020204020204" pitchFamily="34" charset="-122"/>
              </a:rPr>
              <a:t>Tool</a:t>
            </a:r>
            <a:r>
              <a:rPr kumimoji="1" lang="zh-CN" altLang="en-US" sz="1600">
                <a:latin typeface="Microsoft YaHei" panose="020B0503020204020204" pitchFamily="34" charset="-122"/>
                <a:ea typeface="Microsoft YaHei" panose="020B0503020204020204" pitchFamily="34" charset="-122"/>
              </a:rPr>
              <a:t> </a:t>
            </a:r>
            <a:r>
              <a:rPr kumimoji="1" lang="en-US" altLang="zh-CN" sz="1600">
                <a:latin typeface="Microsoft YaHei" panose="020B0503020204020204" pitchFamily="34" charset="-122"/>
                <a:ea typeface="Microsoft YaHei" panose="020B0503020204020204" pitchFamily="34" charset="-122"/>
              </a:rPr>
              <a:t>latency</a:t>
            </a:r>
            <a:endParaRPr kumimoji="1" lang="zh-CN" altLang="en-US" sz="1600">
              <a:latin typeface="Microsoft YaHei" panose="020B0503020204020204" pitchFamily="34" charset="-122"/>
              <a:ea typeface="Microsoft YaHei" panose="020B0503020204020204" pitchFamily="34" charset="-122"/>
            </a:endParaRPr>
          </a:p>
        </p:txBody>
      </p:sp>
      <p:sp>
        <p:nvSpPr>
          <p:cNvPr id="8" name="椭圆 7">
            <a:extLst>
              <a:ext uri="{FF2B5EF4-FFF2-40B4-BE49-F238E27FC236}">
                <a16:creationId xmlns:a16="http://schemas.microsoft.com/office/drawing/2014/main" id="{1967E070-E840-F5CA-D169-A55DB7C1ACC5}"/>
              </a:ext>
            </a:extLst>
          </p:cNvPr>
          <p:cNvSpPr/>
          <p:nvPr/>
        </p:nvSpPr>
        <p:spPr>
          <a:xfrm rot="19958383">
            <a:off x="3432316" y="3147779"/>
            <a:ext cx="4919430" cy="2156110"/>
          </a:xfrm>
          <a:custGeom>
            <a:avLst/>
            <a:gdLst>
              <a:gd name="csX0" fmla="*/ 0 w 4919430"/>
              <a:gd name="csY0" fmla="*/ 1078055 h 2156110"/>
              <a:gd name="csX1" fmla="*/ 2459715 w 4919430"/>
              <a:gd name="csY1" fmla="*/ 0 h 2156110"/>
              <a:gd name="csX2" fmla="*/ 4919430 w 4919430"/>
              <a:gd name="csY2" fmla="*/ 1078055 h 2156110"/>
              <a:gd name="csX3" fmla="*/ 2459715 w 4919430"/>
              <a:gd name="csY3" fmla="*/ 2156110 h 2156110"/>
              <a:gd name="csX4" fmla="*/ 0 w 4919430"/>
              <a:gd name="csY4" fmla="*/ 1078055 h 2156110"/>
            </a:gdLst>
            <a:ahLst/>
            <a:cxnLst>
              <a:cxn ang="0">
                <a:pos x="csX0" y="csY0"/>
              </a:cxn>
              <a:cxn ang="0">
                <a:pos x="csX1" y="csY1"/>
              </a:cxn>
              <a:cxn ang="0">
                <a:pos x="csX2" y="csY2"/>
              </a:cxn>
              <a:cxn ang="0">
                <a:pos x="csX3" y="csY3"/>
              </a:cxn>
              <a:cxn ang="0">
                <a:pos x="csX4" y="csY4"/>
              </a:cxn>
            </a:cxnLst>
            <a:rect l="l" t="t" r="r" b="b"/>
            <a:pathLst>
              <a:path w="4919430" h="2156110" extrusionOk="0">
                <a:moveTo>
                  <a:pt x="0" y="1078055"/>
                </a:moveTo>
                <a:cubicBezTo>
                  <a:pt x="-126657" y="404537"/>
                  <a:pt x="947268" y="57793"/>
                  <a:pt x="2459715" y="0"/>
                </a:cubicBezTo>
                <a:cubicBezTo>
                  <a:pt x="3883288" y="13707"/>
                  <a:pt x="4758403" y="487782"/>
                  <a:pt x="4919430" y="1078055"/>
                </a:cubicBezTo>
                <a:cubicBezTo>
                  <a:pt x="4769928" y="1819445"/>
                  <a:pt x="3804059" y="2234152"/>
                  <a:pt x="2459715" y="2156110"/>
                </a:cubicBezTo>
                <a:cubicBezTo>
                  <a:pt x="991866" y="2096262"/>
                  <a:pt x="101506" y="1721948"/>
                  <a:pt x="0" y="1078055"/>
                </a:cubicBezTo>
                <a:close/>
              </a:path>
            </a:pathLst>
          </a:custGeom>
          <a:noFill/>
          <a:ln w="41275">
            <a:solidFill>
              <a:srgbClr val="C00000"/>
            </a:solidFill>
            <a:prstDash val="dash"/>
            <a:extLst>
              <a:ext uri="{C807C97D-BFC1-408E-A445-0C87EB9F89A2}">
                <ask:lineSketchStyleProps xmlns:ask="http://schemas.microsoft.com/office/drawing/2018/sketchyshapes" sd="1219033472">
                  <a:prstGeom prst="ellipse">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993397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62E7A4B-C025-6CB7-8E33-18518297A150}"/>
              </a:ext>
            </a:extLst>
          </p:cNvPr>
          <p:cNvPicPr>
            <a:picLocks noChangeAspect="1"/>
          </p:cNvPicPr>
          <p:nvPr/>
        </p:nvPicPr>
        <p:blipFill>
          <a:blip r:embed="rId2"/>
          <a:stretch>
            <a:fillRect/>
          </a:stretch>
        </p:blipFill>
        <p:spPr>
          <a:xfrm>
            <a:off x="1669349" y="3004311"/>
            <a:ext cx="8091301" cy="3175068"/>
          </a:xfrm>
          <a:prstGeom prst="rect">
            <a:avLst/>
          </a:prstGeom>
        </p:spPr>
      </p:pic>
      <p:sp>
        <p:nvSpPr>
          <p:cNvPr id="6" name="文本框 5">
            <a:extLst>
              <a:ext uri="{FF2B5EF4-FFF2-40B4-BE49-F238E27FC236}">
                <a16:creationId xmlns:a16="http://schemas.microsoft.com/office/drawing/2014/main" id="{16748182-72BB-BA38-3CB0-4301D48E66DC}"/>
              </a:ext>
            </a:extLst>
          </p:cNvPr>
          <p:cNvSpPr txBox="1"/>
          <p:nvPr/>
        </p:nvSpPr>
        <p:spPr>
          <a:xfrm>
            <a:off x="2167244" y="6179379"/>
            <a:ext cx="7095509" cy="369332"/>
          </a:xfrm>
          <a:prstGeom prst="rect">
            <a:avLst/>
          </a:prstGeom>
          <a:noFill/>
        </p:spPr>
        <p:txBody>
          <a:bodyPr wrap="square">
            <a:spAutoFit/>
          </a:bodyPr>
          <a:lstStyle/>
          <a:p>
            <a:pPr algn="ctr"/>
            <a:r>
              <a:rPr kumimoji="1" lang="en-US" altLang="zh-CN" b="1"/>
              <a:t>Average</a:t>
            </a:r>
            <a:r>
              <a:rPr kumimoji="1" lang="zh-CN" altLang="en-US" b="1"/>
              <a:t> </a:t>
            </a:r>
            <a:r>
              <a:rPr kumimoji="1" lang="en-US" altLang="zh-CN" b="1"/>
              <a:t>Action</a:t>
            </a:r>
            <a:r>
              <a:rPr kumimoji="1" lang="zh-CN" altLang="en-US" b="1"/>
              <a:t> </a:t>
            </a:r>
            <a:r>
              <a:rPr kumimoji="1" lang="en-US" altLang="zh-CN" b="1"/>
              <a:t>Step</a:t>
            </a:r>
            <a:r>
              <a:rPr kumimoji="1" lang="zh-CN" altLang="en-US" b="1"/>
              <a:t> </a:t>
            </a:r>
            <a:r>
              <a:rPr kumimoji="1" lang="en-US" altLang="zh-CN" b="1"/>
              <a:t>Latency</a:t>
            </a:r>
            <a:r>
              <a:rPr kumimoji="1" lang="zh-CN" altLang="en-US" b="1"/>
              <a:t> </a:t>
            </a:r>
            <a:r>
              <a:rPr kumimoji="1" lang="en-US" altLang="zh-CN" b="1"/>
              <a:t>of</a:t>
            </a:r>
            <a:r>
              <a:rPr kumimoji="1" lang="zh-CN" altLang="en-US" b="1"/>
              <a:t> </a:t>
            </a:r>
            <a:r>
              <a:rPr kumimoji="1" lang="en-US" altLang="zh-CN" b="1"/>
              <a:t>Different</a:t>
            </a:r>
            <a:r>
              <a:rPr kumimoji="1" lang="zh-CN" altLang="en-US" b="1"/>
              <a:t> </a:t>
            </a:r>
            <a:r>
              <a:rPr kumimoji="1" lang="en-US" altLang="zh-CN" b="1"/>
              <a:t>Tasks</a:t>
            </a:r>
            <a:r>
              <a:rPr kumimoji="1" lang="zh-CN" altLang="en-US" b="1"/>
              <a:t> </a:t>
            </a:r>
            <a:r>
              <a:rPr kumimoji="1" lang="en-US" altLang="zh-CN" b="1"/>
              <a:t>(</a:t>
            </a:r>
            <a:r>
              <a:rPr kumimoji="1" lang="en-US" altLang="zh-CN" b="1" err="1"/>
              <a:t>OSWorld</a:t>
            </a:r>
            <a:r>
              <a:rPr kumimoji="1" lang="en-US" altLang="zh-CN" b="1"/>
              <a:t>)</a:t>
            </a:r>
            <a:endParaRPr lang="zh-CN" altLang="en-US"/>
          </a:p>
        </p:txBody>
      </p:sp>
      <p:pic>
        <p:nvPicPr>
          <p:cNvPr id="3" name="图片 2">
            <a:extLst>
              <a:ext uri="{FF2B5EF4-FFF2-40B4-BE49-F238E27FC236}">
                <a16:creationId xmlns:a16="http://schemas.microsoft.com/office/drawing/2014/main" id="{E01A944D-4423-230A-C531-42400E085EE0}"/>
              </a:ext>
            </a:extLst>
          </p:cNvPr>
          <p:cNvPicPr>
            <a:picLocks noChangeAspect="1"/>
          </p:cNvPicPr>
          <p:nvPr/>
        </p:nvPicPr>
        <p:blipFill>
          <a:blip r:embed="rId3"/>
          <a:stretch>
            <a:fillRect/>
          </a:stretch>
        </p:blipFill>
        <p:spPr>
          <a:xfrm>
            <a:off x="1669347" y="348378"/>
            <a:ext cx="8091301" cy="3331285"/>
          </a:xfrm>
          <a:prstGeom prst="rect">
            <a:avLst/>
          </a:prstGeom>
        </p:spPr>
      </p:pic>
      <p:sp>
        <p:nvSpPr>
          <p:cNvPr id="5" name="文本框 4">
            <a:extLst>
              <a:ext uri="{FF2B5EF4-FFF2-40B4-BE49-F238E27FC236}">
                <a16:creationId xmlns:a16="http://schemas.microsoft.com/office/drawing/2014/main" id="{E4E5E891-949B-B9A7-AEA9-7162382EC718}"/>
              </a:ext>
            </a:extLst>
          </p:cNvPr>
          <p:cNvSpPr txBox="1"/>
          <p:nvPr/>
        </p:nvSpPr>
        <p:spPr>
          <a:xfrm>
            <a:off x="4020528" y="3429000"/>
            <a:ext cx="2918491" cy="369332"/>
          </a:xfrm>
          <a:prstGeom prst="rect">
            <a:avLst/>
          </a:prstGeom>
          <a:noFill/>
        </p:spPr>
        <p:txBody>
          <a:bodyPr wrap="none" rtlCol="0">
            <a:spAutoFit/>
          </a:bodyPr>
          <a:lstStyle/>
          <a:p>
            <a:r>
              <a:rPr kumimoji="1" lang="en-US" altLang="zh-CN">
                <a:latin typeface="Microsoft YaHei" panose="020B0503020204020204" pitchFamily="34" charset="-122"/>
                <a:ea typeface="Microsoft YaHei" panose="020B0503020204020204" pitchFamily="34" charset="-122"/>
              </a:rPr>
              <a:t>Avg.</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Action</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Step</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Latency</a:t>
            </a:r>
            <a:endParaRPr kumimoji="1" lang="zh-CN" altLang="en-US">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1883831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60C30-6325-78A5-79A3-7CC066DF3A01}"/>
              </a:ext>
            </a:extLst>
          </p:cNvPr>
          <p:cNvSpPr>
            <a:spLocks noGrp="1"/>
          </p:cNvSpPr>
          <p:nvPr>
            <p:ph type="title"/>
          </p:nvPr>
        </p:nvSpPr>
        <p:spPr/>
        <p:txBody>
          <a:bodyPr/>
          <a:lstStyle/>
          <a:p>
            <a:r>
              <a:rPr kumimoji="1" lang="en-US" altLang="zh-CN" b="1"/>
              <a:t>Core</a:t>
            </a:r>
            <a:r>
              <a:rPr kumimoji="1" lang="zh-CN" altLang="en-US" b="1"/>
              <a:t> </a:t>
            </a:r>
            <a:r>
              <a:rPr kumimoji="1" lang="en-US" altLang="zh-CN" b="1"/>
              <a:t>Idea:</a:t>
            </a:r>
            <a:r>
              <a:rPr kumimoji="1" lang="zh-CN" altLang="en-US" b="1"/>
              <a:t> </a:t>
            </a:r>
            <a:r>
              <a:rPr kumimoji="1" lang="en-US" altLang="zh-CN" b="1"/>
              <a:t>Leverage</a:t>
            </a:r>
            <a:r>
              <a:rPr kumimoji="1" lang="zh-CN" altLang="en-US" b="1"/>
              <a:t> </a:t>
            </a:r>
            <a:r>
              <a:rPr kumimoji="1" lang="en-US" altLang="zh-CN" b="1"/>
              <a:t>Speculative</a:t>
            </a:r>
            <a:r>
              <a:rPr kumimoji="1" lang="zh-CN" altLang="en-US" b="1"/>
              <a:t> </a:t>
            </a:r>
            <a:r>
              <a:rPr kumimoji="1" lang="en-US" altLang="zh-CN" b="1"/>
              <a:t>Actions</a:t>
            </a:r>
            <a:endParaRPr kumimoji="1" lang="zh-CN" altLang="en-US" b="1"/>
          </a:p>
        </p:txBody>
      </p:sp>
      <p:pic>
        <p:nvPicPr>
          <p:cNvPr id="8" name="图片 7">
            <a:extLst>
              <a:ext uri="{FF2B5EF4-FFF2-40B4-BE49-F238E27FC236}">
                <a16:creationId xmlns:a16="http://schemas.microsoft.com/office/drawing/2014/main" id="{3AC19A43-3B60-F989-9F4E-733D25C0179A}"/>
              </a:ext>
            </a:extLst>
          </p:cNvPr>
          <p:cNvPicPr>
            <a:picLocks noChangeAspect="1"/>
          </p:cNvPicPr>
          <p:nvPr/>
        </p:nvPicPr>
        <p:blipFill>
          <a:blip r:embed="rId3"/>
          <a:stretch>
            <a:fillRect/>
          </a:stretch>
        </p:blipFill>
        <p:spPr>
          <a:xfrm>
            <a:off x="233953" y="1023730"/>
            <a:ext cx="11736073" cy="4921578"/>
          </a:xfrm>
          <a:prstGeom prst="rect">
            <a:avLst/>
          </a:prstGeom>
        </p:spPr>
      </p:pic>
      <p:sp>
        <p:nvSpPr>
          <p:cNvPr id="9" name="文本框 8">
            <a:extLst>
              <a:ext uri="{FF2B5EF4-FFF2-40B4-BE49-F238E27FC236}">
                <a16:creationId xmlns:a16="http://schemas.microsoft.com/office/drawing/2014/main" id="{0B3A2C09-8A55-2A70-E38D-1C98215AE57D}"/>
              </a:ext>
            </a:extLst>
          </p:cNvPr>
          <p:cNvSpPr txBox="1"/>
          <p:nvPr/>
        </p:nvSpPr>
        <p:spPr>
          <a:xfrm>
            <a:off x="3465623" y="5947016"/>
            <a:ext cx="4028302" cy="369332"/>
          </a:xfrm>
          <a:prstGeom prst="rect">
            <a:avLst/>
          </a:prstGeom>
          <a:noFill/>
        </p:spPr>
        <p:txBody>
          <a:bodyPr wrap="square" rtlCol="0">
            <a:spAutoFit/>
          </a:bodyPr>
          <a:lstStyle/>
          <a:p>
            <a:pPr algn="ctr"/>
            <a:r>
              <a:rPr kumimoji="1" lang="en-US" altLang="zh-CN" b="1"/>
              <a:t>Single</a:t>
            </a:r>
            <a:r>
              <a:rPr kumimoji="1" lang="zh-CN" altLang="en-US" b="1"/>
              <a:t> </a:t>
            </a:r>
            <a:r>
              <a:rPr kumimoji="1" lang="en-US" altLang="zh-CN" b="1"/>
              <a:t>Step</a:t>
            </a:r>
            <a:r>
              <a:rPr kumimoji="1" lang="zh-CN" altLang="en-US" b="1"/>
              <a:t> </a:t>
            </a:r>
            <a:r>
              <a:rPr kumimoji="1" lang="en-US" altLang="zh-CN" b="1"/>
              <a:t>Speculation</a:t>
            </a:r>
            <a:r>
              <a:rPr kumimoji="1" lang="zh-CN" altLang="en-US" b="1"/>
              <a:t> </a:t>
            </a:r>
            <a:r>
              <a:rPr kumimoji="1" lang="en-US" altLang="zh-CN" b="1"/>
              <a:t>Overview</a:t>
            </a:r>
            <a:endParaRPr kumimoji="1" lang="zh-CN" altLang="en-US" b="1"/>
          </a:p>
        </p:txBody>
      </p:sp>
    </p:spTree>
    <p:extLst>
      <p:ext uri="{BB962C8B-B14F-4D97-AF65-F5344CB8AC3E}">
        <p14:creationId xmlns:p14="http://schemas.microsoft.com/office/powerpoint/2010/main" val="26294251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3C3FD-F9EB-76BC-0087-56676ACD9CA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66FA99A-CA7D-CB55-A185-B24EF34F2F97}"/>
              </a:ext>
            </a:extLst>
          </p:cNvPr>
          <p:cNvSpPr>
            <a:spLocks noGrp="1"/>
          </p:cNvSpPr>
          <p:nvPr>
            <p:ph type="title"/>
          </p:nvPr>
        </p:nvSpPr>
        <p:spPr/>
        <p:txBody>
          <a:bodyPr/>
          <a:lstStyle/>
          <a:p>
            <a:r>
              <a:rPr kumimoji="1" lang="en-US" altLang="zh-CN" b="1"/>
              <a:t>Theoretical</a:t>
            </a:r>
            <a:r>
              <a:rPr kumimoji="1" lang="zh-CN" altLang="en-US" b="1"/>
              <a:t>  </a:t>
            </a:r>
            <a:r>
              <a:rPr kumimoji="1" lang="en-US" altLang="zh-CN" b="1"/>
              <a:t>Benefit</a:t>
            </a:r>
            <a:endParaRPr kumimoji="1" lang="zh-CN" altLang="en-US" b="1"/>
          </a:p>
        </p:txBody>
      </p:sp>
      <p:sp>
        <p:nvSpPr>
          <p:cNvPr id="3" name="文本框 2">
            <a:extLst>
              <a:ext uri="{FF2B5EF4-FFF2-40B4-BE49-F238E27FC236}">
                <a16:creationId xmlns:a16="http://schemas.microsoft.com/office/drawing/2014/main" id="{28165FC4-45E8-F67B-5CFF-10C261D9A4F0}"/>
              </a:ext>
            </a:extLst>
          </p:cNvPr>
          <p:cNvSpPr txBox="1"/>
          <p:nvPr/>
        </p:nvSpPr>
        <p:spPr>
          <a:xfrm>
            <a:off x="775504" y="1261641"/>
            <a:ext cx="9062977" cy="1754326"/>
          </a:xfrm>
          <a:prstGeom prst="rect">
            <a:avLst/>
          </a:prstGeom>
          <a:noFill/>
        </p:spPr>
        <p:txBody>
          <a:bodyPr wrap="square" rtlCol="0">
            <a:spAutoFit/>
          </a:bodyPr>
          <a:lstStyle/>
          <a:p>
            <a:r>
              <a:rPr kumimoji="1" lang="en-US" altLang="zh-CN">
                <a:latin typeface="Microsoft YaHei" panose="020B0503020204020204" pitchFamily="34" charset="-122"/>
                <a:ea typeface="Microsoft YaHei" panose="020B0503020204020204" pitchFamily="34" charset="-122"/>
              </a:rPr>
              <a:t>Single</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Step</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Predict:</a:t>
            </a:r>
            <a:r>
              <a:rPr kumimoji="1" lang="zh-CN" altLang="en-US">
                <a:latin typeface="Microsoft YaHei" panose="020B0503020204020204" pitchFamily="34" charset="-122"/>
                <a:ea typeface="Microsoft YaHei" panose="020B0503020204020204" pitchFamily="34" charset="-122"/>
              </a:rPr>
              <a:t> </a:t>
            </a:r>
            <a:endParaRPr kumimoji="1" lang="en-US" altLang="zh-CN">
              <a:latin typeface="Microsoft YaHei" panose="020B0503020204020204" pitchFamily="34" charset="-122"/>
              <a:ea typeface="Microsoft YaHei" panose="020B0503020204020204" pitchFamily="34" charset="-122"/>
            </a:endParaRPr>
          </a:p>
          <a:p>
            <a:pPr marL="285750" indent="-285750">
              <a:buFontTx/>
              <a:buChar char="-"/>
            </a:pPr>
            <a:r>
              <a:rPr kumimoji="1" lang="en-US" altLang="zh-CN">
                <a:latin typeface="Microsoft YaHei" panose="020B0503020204020204" pitchFamily="34" charset="-122"/>
                <a:ea typeface="Microsoft YaHei" panose="020B0503020204020204" pitchFamily="34" charset="-122"/>
              </a:rPr>
              <a:t>Best</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case:</a:t>
            </a:r>
            <a:r>
              <a:rPr kumimoji="1" lang="zh-CN" altLang="en-US">
                <a:latin typeface="Microsoft YaHei" panose="020B0503020204020204" pitchFamily="34" charset="-122"/>
                <a:ea typeface="Microsoft YaHei" panose="020B0503020204020204" pitchFamily="34" charset="-122"/>
              </a:rPr>
              <a:t> </a:t>
            </a:r>
            <a:endParaRPr kumimoji="1" lang="en-US" altLang="zh-CN">
              <a:latin typeface="Microsoft YaHei" panose="020B0503020204020204" pitchFamily="34" charset="-122"/>
              <a:ea typeface="Microsoft YaHei" panose="020B0503020204020204" pitchFamily="34" charset="-122"/>
            </a:endParaRPr>
          </a:p>
          <a:p>
            <a:pPr marL="742950" lvl="1" indent="-285750">
              <a:buFontTx/>
              <a:buChar char="-"/>
            </a:pPr>
            <a:r>
              <a:rPr kumimoji="1" lang="en-US" altLang="zh-CN">
                <a:latin typeface="Microsoft YaHei" panose="020B0503020204020204" pitchFamily="34" charset="-122"/>
                <a:ea typeface="Microsoft YaHei" panose="020B0503020204020204" pitchFamily="34" charset="-122"/>
              </a:rPr>
              <a:t>ENV</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THINKING</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1:1</a:t>
            </a:r>
            <a:r>
              <a:rPr kumimoji="1" lang="zh-CN" altLang="en-US">
                <a:latin typeface="Microsoft YaHei" panose="020B0503020204020204" pitchFamily="34" charset="-122"/>
                <a:ea typeface="Microsoft YaHei" panose="020B0503020204020204" pitchFamily="34" charset="-122"/>
              </a:rPr>
              <a:t> 并且</a:t>
            </a:r>
            <a:r>
              <a:rPr kumimoji="1" lang="en-US" altLang="zh-CN">
                <a:latin typeface="Microsoft YaHei" panose="020B0503020204020204" pitchFamily="34" charset="-122"/>
                <a:ea typeface="Microsoft YaHei" panose="020B0503020204020204" pitchFamily="34" charset="-122"/>
              </a:rPr>
              <a:t>speculator</a:t>
            </a:r>
            <a:r>
              <a:rPr kumimoji="1" lang="zh-CN" altLang="en-US">
                <a:latin typeface="Microsoft YaHei" panose="020B0503020204020204" pitchFamily="34" charset="-122"/>
                <a:ea typeface="Microsoft YaHei" panose="020B0503020204020204" pitchFamily="34" charset="-122"/>
              </a:rPr>
              <a:t>准确率</a:t>
            </a:r>
            <a:r>
              <a:rPr kumimoji="1" lang="en-US" altLang="zh-CN">
                <a:latin typeface="Microsoft YaHei" panose="020B0503020204020204" pitchFamily="34" charset="-122"/>
                <a:ea typeface="Microsoft YaHei" panose="020B0503020204020204" pitchFamily="34" charset="-122"/>
              </a:rPr>
              <a:t>=1</a:t>
            </a:r>
            <a:r>
              <a:rPr kumimoji="1" lang="zh-CN" altLang="en-US">
                <a:latin typeface="Microsoft YaHei" panose="020B0503020204020204" pitchFamily="34" charset="-122"/>
                <a:ea typeface="Microsoft YaHei" panose="020B0503020204020204" pitchFamily="34" charset="-122"/>
              </a:rPr>
              <a:t> 时，加速 </a:t>
            </a:r>
            <a:r>
              <a:rPr kumimoji="1" lang="en-US" altLang="zh-CN">
                <a:latin typeface="Microsoft YaHei" panose="020B0503020204020204" pitchFamily="34" charset="-122"/>
                <a:ea typeface="Microsoft YaHei" panose="020B0503020204020204" pitchFamily="34" charset="-122"/>
              </a:rPr>
              <a:t>2x</a:t>
            </a:r>
          </a:p>
          <a:p>
            <a:endParaRPr kumimoji="1" lang="en-US" altLang="zh-CN">
              <a:latin typeface="Microsoft YaHei" panose="020B0503020204020204" pitchFamily="34" charset="-122"/>
              <a:ea typeface="Microsoft YaHei" panose="020B0503020204020204" pitchFamily="34" charset="-122"/>
            </a:endParaRPr>
          </a:p>
          <a:p>
            <a:r>
              <a:rPr kumimoji="1" lang="en-US" altLang="zh-CN">
                <a:latin typeface="Microsoft YaHei" panose="020B0503020204020204" pitchFamily="34" charset="-122"/>
                <a:ea typeface="Microsoft YaHei" panose="020B0503020204020204" pitchFamily="34" charset="-122"/>
              </a:rPr>
              <a:t>Multi</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Step</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Predict:</a:t>
            </a:r>
          </a:p>
          <a:p>
            <a:r>
              <a:rPr kumimoji="1" lang="en-US" altLang="zh-CN">
                <a:latin typeface="Microsoft YaHei" panose="020B0503020204020204" pitchFamily="34" charset="-122"/>
                <a:ea typeface="Microsoft YaHei" panose="020B0503020204020204" pitchFamily="34" charset="-122"/>
              </a:rPr>
              <a:t>-</a:t>
            </a:r>
            <a:r>
              <a:rPr kumimoji="1" lang="zh-CN" altLang="en-US">
                <a:latin typeface="Microsoft YaHei" panose="020B0503020204020204" pitchFamily="34" charset="-122"/>
                <a:ea typeface="Microsoft YaHei" panose="020B0503020204020204" pitchFamily="34" charset="-122"/>
              </a:rPr>
              <a:t> </a:t>
            </a:r>
            <a:r>
              <a:rPr kumimoji="1" lang="en-US" altLang="zh-CN">
                <a:latin typeface="Microsoft YaHei" panose="020B0503020204020204" pitchFamily="34" charset="-122"/>
                <a:ea typeface="Microsoft YaHei" panose="020B0503020204020204" pitchFamily="34" charset="-122"/>
              </a:rPr>
              <a:t>TODO</a:t>
            </a:r>
          </a:p>
        </p:txBody>
      </p:sp>
      <p:sp>
        <p:nvSpPr>
          <p:cNvPr id="4" name="文本框 3">
            <a:extLst>
              <a:ext uri="{FF2B5EF4-FFF2-40B4-BE49-F238E27FC236}">
                <a16:creationId xmlns:a16="http://schemas.microsoft.com/office/drawing/2014/main" id="{33025666-6259-13FF-87DE-CF05F0492587}"/>
              </a:ext>
            </a:extLst>
          </p:cNvPr>
          <p:cNvSpPr txBox="1"/>
          <p:nvPr/>
        </p:nvSpPr>
        <p:spPr>
          <a:xfrm>
            <a:off x="2303362" y="4016415"/>
            <a:ext cx="3792638" cy="369332"/>
          </a:xfrm>
          <a:prstGeom prst="rect">
            <a:avLst/>
          </a:prstGeom>
          <a:noFill/>
        </p:spPr>
        <p:txBody>
          <a:bodyPr wrap="square" rtlCol="0">
            <a:spAutoFit/>
          </a:bodyPr>
          <a:lstStyle/>
          <a:p>
            <a:r>
              <a:rPr kumimoji="1" lang="zh-CN" altLang="en-US">
                <a:latin typeface="Microsoft YaHei" panose="020B0503020204020204" pitchFamily="34" charset="-122"/>
                <a:ea typeface="Microsoft YaHei" panose="020B0503020204020204" pitchFamily="34" charset="-122"/>
              </a:rPr>
              <a:t>文章最终期望可能是 </a:t>
            </a:r>
            <a:r>
              <a:rPr kumimoji="1" lang="en-US" altLang="zh-CN">
                <a:latin typeface="Microsoft YaHei" panose="020B0503020204020204" pitchFamily="34" charset="-122"/>
                <a:ea typeface="Microsoft YaHei" panose="020B0503020204020204" pitchFamily="34" charset="-122"/>
              </a:rPr>
              <a:t>1.5x</a:t>
            </a:r>
            <a:r>
              <a:rPr kumimoji="1" lang="zh-CN" altLang="en-US">
                <a:latin typeface="Microsoft YaHei" panose="020B0503020204020204" pitchFamily="34" charset="-122"/>
                <a:ea typeface="Microsoft YaHei" panose="020B0503020204020204" pitchFamily="34" charset="-122"/>
              </a:rPr>
              <a:t>到</a:t>
            </a:r>
            <a:r>
              <a:rPr kumimoji="1" lang="en-US" altLang="zh-CN">
                <a:latin typeface="Microsoft YaHei" panose="020B0503020204020204" pitchFamily="34" charset="-122"/>
                <a:ea typeface="Microsoft YaHei" panose="020B0503020204020204" pitchFamily="34" charset="-122"/>
              </a:rPr>
              <a:t>2x</a:t>
            </a:r>
            <a:endParaRPr kumimoji="1" lang="zh-CN" altLang="en-US">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570121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DB307-31AE-2ADF-5FF9-BB3E479E5D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98A73CD-B03D-3AB5-CD41-D4D193A795AD}"/>
              </a:ext>
            </a:extLst>
          </p:cNvPr>
          <p:cNvSpPr>
            <a:spLocks noGrp="1"/>
          </p:cNvSpPr>
          <p:nvPr>
            <p:ph type="title"/>
          </p:nvPr>
        </p:nvSpPr>
        <p:spPr/>
        <p:txBody>
          <a:bodyPr>
            <a:normAutofit/>
          </a:bodyPr>
          <a:lstStyle/>
          <a:p>
            <a:r>
              <a:rPr kumimoji="1" lang="en-US" altLang="zh-CN" sz="2800" b="1"/>
              <a:t>Challenges</a:t>
            </a:r>
            <a:endParaRPr kumimoji="1" lang="zh-CN" altLang="en-US" sz="2800" b="1"/>
          </a:p>
        </p:txBody>
      </p:sp>
      <p:sp>
        <p:nvSpPr>
          <p:cNvPr id="3" name="内容占位符 2">
            <a:extLst>
              <a:ext uri="{FF2B5EF4-FFF2-40B4-BE49-F238E27FC236}">
                <a16:creationId xmlns:a16="http://schemas.microsoft.com/office/drawing/2014/main" id="{FB2E6628-8E16-1CC0-CF08-E409B9750666}"/>
              </a:ext>
            </a:extLst>
          </p:cNvPr>
          <p:cNvSpPr>
            <a:spLocks noGrp="1"/>
          </p:cNvSpPr>
          <p:nvPr>
            <p:ph idx="1"/>
          </p:nvPr>
        </p:nvSpPr>
        <p:spPr>
          <a:xfrm>
            <a:off x="221974" y="2109580"/>
            <a:ext cx="10515600" cy="4351338"/>
          </a:xfrm>
        </p:spPr>
        <p:txBody>
          <a:bodyPr/>
          <a:lstStyle/>
          <a:p>
            <a:r>
              <a:rPr kumimoji="1" lang="zh-CN" altLang="en-US" b="1" dirty="0"/>
              <a:t>不可回溯环境</a:t>
            </a:r>
            <a:r>
              <a:rPr kumimoji="1" lang="zh-CN" altLang="en-US" dirty="0"/>
              <a:t>，国际象棋这种是可以回溯的，但是</a:t>
            </a:r>
            <a:r>
              <a:rPr kumimoji="1" lang="en-US" altLang="zh-CN" dirty="0"/>
              <a:t>GUI</a:t>
            </a:r>
            <a:r>
              <a:rPr kumimoji="1" lang="zh-CN" altLang="en-US" dirty="0"/>
              <a:t>这种环境无法回溯</a:t>
            </a:r>
            <a:endParaRPr kumimoji="1" lang="en-US" altLang="zh-CN" dirty="0"/>
          </a:p>
          <a:p>
            <a:pPr lvl="1"/>
            <a:r>
              <a:rPr kumimoji="1" lang="en-US" altLang="zh-CN" b="1" dirty="0"/>
              <a:t>Solution:</a:t>
            </a:r>
            <a:r>
              <a:rPr kumimoji="1" lang="zh-CN" altLang="en-US" b="1" dirty="0"/>
              <a:t>  </a:t>
            </a:r>
            <a:r>
              <a:rPr kumimoji="1" lang="en-US" altLang="zh-CN" b="1" dirty="0"/>
              <a:t>Checkpoint</a:t>
            </a:r>
            <a:r>
              <a:rPr kumimoji="1" lang="zh-CN" altLang="en-US" b="1" dirty="0"/>
              <a:t> </a:t>
            </a:r>
            <a:r>
              <a:rPr kumimoji="1" lang="en-US" altLang="zh-CN" b="1" dirty="0"/>
              <a:t>Restore</a:t>
            </a:r>
            <a:r>
              <a:rPr kumimoji="1" lang="zh-CN" altLang="en-US" b="1" dirty="0"/>
              <a:t>，</a:t>
            </a:r>
            <a:r>
              <a:rPr kumimoji="1" lang="en-US" altLang="zh-CN" b="1" dirty="0"/>
              <a:t>Container</a:t>
            </a:r>
            <a:r>
              <a:rPr kumimoji="1" lang="zh-CN" altLang="en-US" b="1" dirty="0"/>
              <a:t> </a:t>
            </a:r>
            <a:r>
              <a:rPr kumimoji="1" lang="en-US" altLang="zh-CN" b="1" dirty="0"/>
              <a:t>Fork</a:t>
            </a:r>
          </a:p>
          <a:p>
            <a:pPr marL="0" indent="0">
              <a:buNone/>
            </a:pPr>
            <a:endParaRPr kumimoji="1" lang="en-US" altLang="zh-CN" dirty="0"/>
          </a:p>
          <a:p>
            <a:r>
              <a:rPr kumimoji="1" lang="en-US" altLang="zh-CN" b="1" dirty="0"/>
              <a:t>Challenges</a:t>
            </a:r>
            <a:r>
              <a:rPr kumimoji="1" lang="zh-CN" altLang="en-US" b="1" dirty="0"/>
              <a:t> </a:t>
            </a:r>
            <a:r>
              <a:rPr kumimoji="1" lang="en-US" altLang="zh-CN" b="1" dirty="0"/>
              <a:t>of</a:t>
            </a:r>
            <a:r>
              <a:rPr kumimoji="1" lang="zh-CN" altLang="en-US" b="1" dirty="0"/>
              <a:t> </a:t>
            </a:r>
            <a:r>
              <a:rPr kumimoji="1" lang="en-US" altLang="zh-CN" b="1" dirty="0"/>
              <a:t>Container</a:t>
            </a:r>
            <a:r>
              <a:rPr kumimoji="1" lang="zh-CN" altLang="en-US" b="1" dirty="0"/>
              <a:t> </a:t>
            </a:r>
            <a:r>
              <a:rPr kumimoji="1" lang="en-US" altLang="zh-CN" b="1" dirty="0"/>
              <a:t>Fork</a:t>
            </a:r>
          </a:p>
          <a:p>
            <a:pPr lvl="1"/>
            <a:r>
              <a:rPr kumimoji="1" lang="zh-CN" altLang="en-US" dirty="0"/>
              <a:t>重环境：</a:t>
            </a:r>
            <a:r>
              <a:rPr kumimoji="1" lang="en-US" altLang="zh-CN" dirty="0"/>
              <a:t>GUI</a:t>
            </a:r>
            <a:r>
              <a:rPr kumimoji="1" lang="zh-CN" altLang="en-US" dirty="0"/>
              <a:t> </a:t>
            </a:r>
            <a:r>
              <a:rPr kumimoji="1" lang="en-US" altLang="zh-CN" dirty="0"/>
              <a:t>RL</a:t>
            </a:r>
            <a:r>
              <a:rPr kumimoji="1" lang="zh-CN" altLang="en-US" dirty="0"/>
              <a:t> 的 </a:t>
            </a:r>
            <a:r>
              <a:rPr kumimoji="1" lang="en-US" altLang="zh-CN" dirty="0"/>
              <a:t>Fork</a:t>
            </a:r>
            <a:r>
              <a:rPr kumimoji="1" lang="zh-CN" altLang="en-US" dirty="0"/>
              <a:t> 操作相比于一般的</a:t>
            </a:r>
            <a:r>
              <a:rPr kumimoji="1" lang="en-US" altLang="zh-CN" dirty="0"/>
              <a:t>Serverless</a:t>
            </a:r>
            <a:r>
              <a:rPr kumimoji="1" lang="zh-CN" altLang="en-US" dirty="0"/>
              <a:t> </a:t>
            </a:r>
            <a:r>
              <a:rPr kumimoji="1" lang="en-US" altLang="zh-CN" dirty="0"/>
              <a:t>Function</a:t>
            </a:r>
            <a:r>
              <a:rPr kumimoji="1" lang="zh-CN" altLang="en-US" dirty="0"/>
              <a:t>更重</a:t>
            </a:r>
            <a:endParaRPr kumimoji="1" lang="en-US" altLang="zh-CN" dirty="0"/>
          </a:p>
          <a:p>
            <a:pPr lvl="2"/>
            <a:r>
              <a:rPr kumimoji="1" lang="zh-CN" altLang="en-US" sz="1600" dirty="0"/>
              <a:t>完整的</a:t>
            </a:r>
            <a:r>
              <a:rPr kumimoji="1" lang="en-US" altLang="zh-CN" sz="1600" dirty="0"/>
              <a:t>Ubuntu</a:t>
            </a:r>
            <a:r>
              <a:rPr kumimoji="1" lang="zh-CN" altLang="en-US" sz="1600" dirty="0"/>
              <a:t>桌面</a:t>
            </a:r>
            <a:endParaRPr kumimoji="1" lang="en-US" altLang="zh-CN" sz="1600" dirty="0"/>
          </a:p>
          <a:p>
            <a:pPr lvl="2"/>
            <a:r>
              <a:rPr kumimoji="1" lang="zh-CN" altLang="en-US" sz="1600" dirty="0"/>
              <a:t>更大的应用，比如 </a:t>
            </a:r>
            <a:r>
              <a:rPr kumimoji="1" lang="en-US" altLang="zh-CN" sz="1600" dirty="0"/>
              <a:t>LibreOffice</a:t>
            </a:r>
          </a:p>
          <a:p>
            <a:pPr lvl="1"/>
            <a:r>
              <a:rPr kumimoji="1" lang="en-US" altLang="zh-CN" dirty="0"/>
              <a:t>C/R</a:t>
            </a:r>
            <a:r>
              <a:rPr kumimoji="1" lang="zh-CN" altLang="en-US" dirty="0"/>
              <a:t> 比 </a:t>
            </a:r>
            <a:r>
              <a:rPr kumimoji="1" lang="en-US" altLang="zh-CN" dirty="0"/>
              <a:t>MOTISIS</a:t>
            </a:r>
            <a:r>
              <a:rPr kumimoji="1" lang="zh-CN" altLang="en-US" dirty="0"/>
              <a:t> </a:t>
            </a:r>
            <a:r>
              <a:rPr kumimoji="1" lang="en-US" altLang="zh-CN" dirty="0"/>
              <a:t>report</a:t>
            </a:r>
            <a:r>
              <a:rPr kumimoji="1" lang="zh-CN" altLang="en-US" dirty="0"/>
              <a:t>的时间明显更长  （</a:t>
            </a:r>
            <a:r>
              <a:rPr kumimoji="1" lang="en-US" altLang="zh-CN" dirty="0"/>
              <a:t>8~10s</a:t>
            </a:r>
            <a:r>
              <a:rPr kumimoji="1" lang="zh-CN" altLang="en-US" dirty="0"/>
              <a:t>）</a:t>
            </a:r>
            <a:endParaRPr kumimoji="1" lang="en-US" altLang="zh-CN" dirty="0"/>
          </a:p>
          <a:p>
            <a:pPr lvl="1"/>
            <a:r>
              <a:rPr kumimoji="1" lang="zh-CN" altLang="en-US" dirty="0"/>
              <a:t>需要在线做，因为状态随每个</a:t>
            </a:r>
            <a:r>
              <a:rPr kumimoji="1" lang="en-US" altLang="zh-CN" dirty="0"/>
              <a:t>step</a:t>
            </a:r>
            <a:r>
              <a:rPr kumimoji="1" lang="zh-CN" altLang="en-US" dirty="0"/>
              <a:t>变化</a:t>
            </a:r>
            <a:endParaRPr kumimoji="1" lang="en-US" altLang="zh-CN" dirty="0"/>
          </a:p>
        </p:txBody>
      </p:sp>
    </p:spTree>
    <p:extLst>
      <p:ext uri="{BB962C8B-B14F-4D97-AF65-F5344CB8AC3E}">
        <p14:creationId xmlns:p14="http://schemas.microsoft.com/office/powerpoint/2010/main" val="42581460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A74839-6219-115C-E3C4-A3C2B113BD8F}"/>
              </a:ext>
            </a:extLst>
          </p:cNvPr>
          <p:cNvSpPr>
            <a:spLocks noGrp="1"/>
          </p:cNvSpPr>
          <p:nvPr>
            <p:ph type="title"/>
          </p:nvPr>
        </p:nvSpPr>
        <p:spPr>
          <a:xfrm>
            <a:off x="221974" y="136525"/>
            <a:ext cx="10515600" cy="1143635"/>
          </a:xfrm>
        </p:spPr>
        <p:txBody>
          <a:bodyPr/>
          <a:lstStyle/>
          <a:p>
            <a:r>
              <a:rPr kumimoji="1" lang="en-US" altLang="zh-CN" b="1" err="1"/>
              <a:t>Contrain</a:t>
            </a:r>
            <a:r>
              <a:rPr kumimoji="1" lang="zh-CN" altLang="en-US" b="1"/>
              <a:t> </a:t>
            </a:r>
            <a:r>
              <a:rPr kumimoji="1" lang="en-US" altLang="zh-CN" b="1"/>
              <a:t>Fork</a:t>
            </a:r>
            <a:r>
              <a:rPr kumimoji="1" lang="zh-CN" altLang="en-US" b="1"/>
              <a:t> </a:t>
            </a:r>
            <a:r>
              <a:rPr kumimoji="1" lang="en-US" altLang="zh-CN" b="1"/>
              <a:t>Latency</a:t>
            </a:r>
            <a:r>
              <a:rPr kumimoji="1" lang="zh-CN" altLang="en-US" b="1"/>
              <a:t> </a:t>
            </a:r>
            <a:r>
              <a:rPr kumimoji="1" lang="en-US" altLang="zh-CN" b="1"/>
              <a:t>Breakdown</a:t>
            </a:r>
            <a:br>
              <a:rPr kumimoji="1" lang="en-US" altLang="zh-CN" b="1"/>
            </a:br>
            <a:r>
              <a:rPr kumimoji="1" lang="en-US" altLang="zh-CN" sz="1800"/>
              <a:t>(Vibe</a:t>
            </a:r>
            <a:r>
              <a:rPr kumimoji="1" lang="zh-CN" altLang="en-US" sz="1800"/>
              <a:t>版本</a:t>
            </a:r>
            <a:r>
              <a:rPr kumimoji="1" lang="en-US" altLang="zh-CN" sz="1800"/>
              <a:t>)</a:t>
            </a:r>
            <a:endParaRPr kumimoji="1" lang="zh-CN" altLang="en-US"/>
          </a:p>
        </p:txBody>
      </p:sp>
      <p:sp>
        <p:nvSpPr>
          <p:cNvPr id="5" name="文本框 4">
            <a:extLst>
              <a:ext uri="{FF2B5EF4-FFF2-40B4-BE49-F238E27FC236}">
                <a16:creationId xmlns:a16="http://schemas.microsoft.com/office/drawing/2014/main" id="{046B93DA-6EB7-BBAE-3584-9E0BA315D825}"/>
              </a:ext>
            </a:extLst>
          </p:cNvPr>
          <p:cNvSpPr txBox="1"/>
          <p:nvPr/>
        </p:nvSpPr>
        <p:spPr>
          <a:xfrm>
            <a:off x="6589059" y="5390538"/>
            <a:ext cx="6099586" cy="3139321"/>
          </a:xfrm>
          <a:prstGeom prst="rect">
            <a:avLst/>
          </a:prstGeom>
          <a:noFill/>
        </p:spPr>
        <p:txBody>
          <a:bodyPr wrap="square">
            <a:spAutoFit/>
          </a:bodyPr>
          <a:lstStyle/>
          <a:p>
            <a:r>
              <a:rPr kumimoji="1" lang="en" altLang="zh-CN" err="1"/>
              <a:t>ptrace</a:t>
            </a:r>
            <a:r>
              <a:rPr kumimoji="1" lang="en" altLang="zh-CN"/>
              <a:t>/app switching </a:t>
            </a:r>
            <a:r>
              <a:rPr kumimoji="1" lang="zh-CN" altLang="en-US"/>
              <a:t>指的是 </a:t>
            </a:r>
            <a:r>
              <a:rPr kumimoji="1" lang="en" altLang="zh-CN" err="1"/>
              <a:t>runsc</a:t>
            </a:r>
            <a:r>
              <a:rPr kumimoji="1" lang="en" altLang="zh-CN"/>
              <a:t> </a:t>
            </a:r>
            <a:r>
              <a:rPr kumimoji="1" lang="zh-CN" altLang="en-US"/>
              <a:t>在 </a:t>
            </a:r>
            <a:r>
              <a:rPr kumimoji="1" lang="en" altLang="zh-CN" err="1"/>
              <a:t>ptrace</a:t>
            </a:r>
            <a:r>
              <a:rPr kumimoji="1" lang="en" altLang="zh-CN"/>
              <a:t> </a:t>
            </a:r>
            <a:r>
              <a:rPr kumimoji="1" lang="zh-CN" altLang="en-US"/>
              <a:t>平台下，应用线程和 </a:t>
            </a:r>
            <a:r>
              <a:rPr kumimoji="1" lang="en" altLang="zh-CN" err="1"/>
              <a:t>gVisor</a:t>
            </a:r>
            <a:r>
              <a:rPr kumimoji="1" lang="en" altLang="zh-CN"/>
              <a:t>/sentry </a:t>
            </a:r>
            <a:r>
              <a:rPr kumimoji="1" lang="zh-CN" altLang="en-US"/>
              <a:t>之间反复切换执行控制权的开销。更具体地说，就是 </a:t>
            </a:r>
            <a:r>
              <a:rPr kumimoji="1" lang="en" altLang="zh-CN"/>
              <a:t>guest </a:t>
            </a:r>
            <a:r>
              <a:rPr kumimoji="1" lang="zh-CN" altLang="en-US"/>
              <a:t>应用一跑到需要内核介入、信号处理、</a:t>
            </a:r>
          </a:p>
          <a:p>
            <a:r>
              <a:rPr kumimoji="1" lang="zh-CN" altLang="en-US"/>
              <a:t>  </a:t>
            </a:r>
            <a:r>
              <a:rPr kumimoji="1" lang="en" altLang="zh-CN" err="1"/>
              <a:t>syscall</a:t>
            </a:r>
            <a:r>
              <a:rPr kumimoji="1" lang="en" altLang="zh-CN"/>
              <a:t> trap</a:t>
            </a:r>
            <a:r>
              <a:rPr kumimoji="1" lang="zh-CN" altLang="en"/>
              <a:t>、</a:t>
            </a:r>
            <a:r>
              <a:rPr kumimoji="1" lang="en" altLang="zh-CN"/>
              <a:t>fault </a:t>
            </a:r>
            <a:r>
              <a:rPr kumimoji="1" lang="zh-CN" altLang="en-US"/>
              <a:t>处理、线程停止</a:t>
            </a:r>
            <a:r>
              <a:rPr kumimoji="1" lang="en-US" altLang="zh-CN"/>
              <a:t>/</a:t>
            </a:r>
            <a:r>
              <a:rPr kumimoji="1" lang="zh-CN" altLang="en-US"/>
              <a:t>恢复这些点时，</a:t>
            </a:r>
            <a:r>
              <a:rPr kumimoji="1" lang="en" altLang="zh-CN"/>
              <a:t>CPU </a:t>
            </a:r>
            <a:r>
              <a:rPr kumimoji="1" lang="zh-CN" altLang="en-US"/>
              <a:t>会在“被 </a:t>
            </a:r>
            <a:r>
              <a:rPr kumimoji="1" lang="en" altLang="zh-CN"/>
              <a:t>sandbox </a:t>
            </a:r>
            <a:r>
              <a:rPr kumimoji="1" lang="zh-CN" altLang="en-US"/>
              <a:t>的应用线程”和“</a:t>
            </a:r>
            <a:r>
              <a:rPr kumimoji="1" lang="en" altLang="zh-CN" err="1"/>
              <a:t>gVisor</a:t>
            </a:r>
            <a:r>
              <a:rPr kumimoji="1" lang="en" altLang="zh-CN"/>
              <a:t> </a:t>
            </a:r>
            <a:r>
              <a:rPr kumimoji="1" lang="zh-CN" altLang="en-US"/>
              <a:t>的宿主侧控制逻辑”之间来回切；这些 </a:t>
            </a:r>
            <a:r>
              <a:rPr kumimoji="1" lang="en" altLang="zh-CN"/>
              <a:t>stop/continue</a:t>
            </a:r>
            <a:r>
              <a:rPr kumimoji="1" lang="zh-CN" altLang="en"/>
              <a:t>、</a:t>
            </a:r>
            <a:r>
              <a:rPr kumimoji="1" lang="zh-CN" altLang="en-US"/>
              <a:t>寄存器同步、上下文切换、等待事</a:t>
            </a:r>
          </a:p>
          <a:p>
            <a:r>
              <a:rPr kumimoji="1" lang="zh-CN" altLang="en-US"/>
              <a:t>  件的时间，</a:t>
            </a:r>
            <a:r>
              <a:rPr kumimoji="1" lang="en" altLang="zh-CN"/>
              <a:t>profile </a:t>
            </a:r>
            <a:r>
              <a:rPr kumimoji="1" lang="zh-CN" altLang="en-US"/>
              <a:t>里就常被归到这一类。它本质上不是你的应用逻辑本身在算东西，而是 </a:t>
            </a:r>
            <a:r>
              <a:rPr kumimoji="1" lang="en" altLang="zh-CN" err="1"/>
              <a:t>ptrace</a:t>
            </a:r>
            <a:r>
              <a:rPr kumimoji="1" lang="en" altLang="zh-CN"/>
              <a:t> </a:t>
            </a:r>
            <a:r>
              <a:rPr kumimoji="1" lang="zh-CN" altLang="en-US"/>
              <a:t>这种实现机制带来的调度与陷入</a:t>
            </a:r>
            <a:r>
              <a:rPr kumimoji="1" lang="en-US" altLang="zh-CN"/>
              <a:t>/</a:t>
            </a:r>
            <a:r>
              <a:rPr kumimoji="1" lang="zh-CN" altLang="en-US"/>
              <a:t>返回成本。</a:t>
            </a:r>
          </a:p>
        </p:txBody>
      </p:sp>
      <p:pic>
        <p:nvPicPr>
          <p:cNvPr id="3" name="图片 2">
            <a:extLst>
              <a:ext uri="{FF2B5EF4-FFF2-40B4-BE49-F238E27FC236}">
                <a16:creationId xmlns:a16="http://schemas.microsoft.com/office/drawing/2014/main" id="{FF1CCF62-EB34-C288-6060-04031D03C6C1}"/>
              </a:ext>
            </a:extLst>
          </p:cNvPr>
          <p:cNvPicPr>
            <a:picLocks noChangeAspect="1"/>
          </p:cNvPicPr>
          <p:nvPr/>
        </p:nvPicPr>
        <p:blipFill>
          <a:blip r:embed="rId3"/>
          <a:srcRect t="2044"/>
          <a:stretch>
            <a:fillRect/>
          </a:stretch>
        </p:blipFill>
        <p:spPr>
          <a:xfrm>
            <a:off x="872491" y="4691194"/>
            <a:ext cx="5231129" cy="2719269"/>
          </a:xfrm>
          <a:prstGeom prst="rect">
            <a:avLst/>
          </a:prstGeom>
        </p:spPr>
      </p:pic>
      <p:pic>
        <p:nvPicPr>
          <p:cNvPr id="6" name="图片 5">
            <a:extLst>
              <a:ext uri="{FF2B5EF4-FFF2-40B4-BE49-F238E27FC236}">
                <a16:creationId xmlns:a16="http://schemas.microsoft.com/office/drawing/2014/main" id="{43B2D631-7D03-E4DA-00A7-8D9BA670A046}"/>
              </a:ext>
            </a:extLst>
          </p:cNvPr>
          <p:cNvPicPr>
            <a:picLocks noChangeAspect="1"/>
          </p:cNvPicPr>
          <p:nvPr/>
        </p:nvPicPr>
        <p:blipFill>
          <a:blip r:embed="rId4"/>
          <a:stretch>
            <a:fillRect/>
          </a:stretch>
        </p:blipFill>
        <p:spPr>
          <a:xfrm>
            <a:off x="872491" y="1054528"/>
            <a:ext cx="9009635" cy="3636666"/>
          </a:xfrm>
          <a:prstGeom prst="rect">
            <a:avLst/>
          </a:prstGeom>
        </p:spPr>
      </p:pic>
    </p:spTree>
    <p:extLst>
      <p:ext uri="{BB962C8B-B14F-4D97-AF65-F5344CB8AC3E}">
        <p14:creationId xmlns:p14="http://schemas.microsoft.com/office/powerpoint/2010/main" val="1751918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4246D2-9E9A-333B-5F73-6BBFF72F242F}"/>
              </a:ext>
            </a:extLst>
          </p:cNvPr>
          <p:cNvSpPr>
            <a:spLocks noGrp="1"/>
          </p:cNvSpPr>
          <p:nvPr>
            <p:ph type="title"/>
          </p:nvPr>
        </p:nvSpPr>
        <p:spPr/>
        <p:txBody>
          <a:bodyPr/>
          <a:lstStyle/>
          <a:p>
            <a:r>
              <a:rPr kumimoji="1" lang="zh-CN" altLang="en-US" b="1"/>
              <a:t>经验数字</a:t>
            </a:r>
            <a:endParaRPr kumimoji="1" lang="zh-CN" altLang="en-US"/>
          </a:p>
        </p:txBody>
      </p:sp>
      <p:sp>
        <p:nvSpPr>
          <p:cNvPr id="3" name="内容占位符 2">
            <a:extLst>
              <a:ext uri="{FF2B5EF4-FFF2-40B4-BE49-F238E27FC236}">
                <a16:creationId xmlns:a16="http://schemas.microsoft.com/office/drawing/2014/main" id="{D47B14B6-889C-054B-6F05-04ED55E6F2BA}"/>
              </a:ext>
            </a:extLst>
          </p:cNvPr>
          <p:cNvSpPr>
            <a:spLocks noGrp="1"/>
          </p:cNvSpPr>
          <p:nvPr>
            <p:ph idx="1"/>
          </p:nvPr>
        </p:nvSpPr>
        <p:spPr/>
        <p:txBody>
          <a:bodyPr/>
          <a:lstStyle/>
          <a:p>
            <a:r>
              <a:rPr kumimoji="1" lang="zh-CN" altLang="en-US"/>
              <a:t>问了字节那边，一个 </a:t>
            </a:r>
            <a:r>
              <a:rPr kumimoji="1" lang="en-US" altLang="zh-CN" err="1"/>
              <a:t>env.step</a:t>
            </a:r>
            <a:r>
              <a:rPr kumimoji="1" lang="zh-CN" altLang="en-US"/>
              <a:t> 大概是</a:t>
            </a:r>
            <a:r>
              <a:rPr kumimoji="1" lang="en-US" altLang="zh-CN"/>
              <a:t>1s</a:t>
            </a:r>
            <a:r>
              <a:rPr kumimoji="1" lang="zh-CN" altLang="en-US"/>
              <a:t>左右</a:t>
            </a:r>
            <a:endParaRPr kumimoji="1" lang="en-US" altLang="zh-CN"/>
          </a:p>
          <a:p>
            <a:r>
              <a:rPr kumimoji="1" lang="en-US" altLang="zh-CN"/>
              <a:t>Fork</a:t>
            </a:r>
            <a:r>
              <a:rPr kumimoji="1" lang="zh-CN" altLang="en-US"/>
              <a:t> 到几百</a:t>
            </a:r>
            <a:r>
              <a:rPr kumimoji="1" lang="en-US" altLang="zh-CN" err="1"/>
              <a:t>ms</a:t>
            </a:r>
            <a:r>
              <a:rPr kumimoji="1" lang="zh-CN" altLang="en-US"/>
              <a:t>级别可能可以接受</a:t>
            </a:r>
          </a:p>
        </p:txBody>
      </p:sp>
    </p:spTree>
    <p:extLst>
      <p:ext uri="{BB962C8B-B14F-4D97-AF65-F5344CB8AC3E}">
        <p14:creationId xmlns:p14="http://schemas.microsoft.com/office/powerpoint/2010/main" val="29702750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7186</TotalTime>
  <Words>4687</Words>
  <Application>Microsoft Macintosh PowerPoint</Application>
  <PresentationFormat>宽屏</PresentationFormat>
  <Paragraphs>394</Paragraphs>
  <Slides>49</Slides>
  <Notes>31</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49</vt:i4>
      </vt:variant>
    </vt:vector>
  </HeadingPairs>
  <TitlesOfParts>
    <vt:vector size="56" baseType="lpstr">
      <vt:lpstr>等线</vt:lpstr>
      <vt:lpstr>等线 Light</vt:lpstr>
      <vt:lpstr>Microsoft YaHei</vt:lpstr>
      <vt:lpstr>Arial</vt:lpstr>
      <vt:lpstr>Times New Roman</vt:lpstr>
      <vt:lpstr>Wingdings</vt:lpstr>
      <vt:lpstr>Office 主题​​</vt:lpstr>
      <vt:lpstr>Work Introduction Slides</vt:lpstr>
      <vt:lpstr>SchedMate: Semantic-Aware Scheduling for GPU Clusters with LLMs</vt:lpstr>
      <vt:lpstr>Motivation: The Semantic Gap</vt:lpstr>
      <vt:lpstr>SchedMate: Semantic-Aware Scheduling</vt:lpstr>
      <vt:lpstr>SchedMate Framework</vt:lpstr>
      <vt:lpstr>Contributions &amp; Results</vt:lpstr>
      <vt:lpstr>Schedule Advisor</vt:lpstr>
      <vt:lpstr>Metric Tracker</vt:lpstr>
      <vt:lpstr>Failure Handler</vt:lpstr>
      <vt:lpstr>Case Studys</vt:lpstr>
      <vt:lpstr>Evaluation on a 128GPU Cluster</vt:lpstr>
      <vt:lpstr>Simulation-based Evaluation</vt:lpstr>
      <vt:lpstr>Simulation-based Evaluation</vt:lpstr>
      <vt:lpstr>OSDI 26 Reviews Overview</vt:lpstr>
      <vt:lpstr>Review #232A</vt:lpstr>
      <vt:lpstr>Review #232A</vt:lpstr>
      <vt:lpstr>Review #232A</vt:lpstr>
      <vt:lpstr>Review #232A</vt:lpstr>
      <vt:lpstr>Review #232A</vt:lpstr>
      <vt:lpstr>Review #232B</vt:lpstr>
      <vt:lpstr>Review #232B</vt:lpstr>
      <vt:lpstr>Review #232B</vt:lpstr>
      <vt:lpstr>Review #232B</vt:lpstr>
      <vt:lpstr>改进方向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Acelerating VLM Agentic RL Training via Efficient Sandbox Fork and Speculative Actions</vt:lpstr>
      <vt:lpstr>VLM Agentic RL Training</vt:lpstr>
      <vt:lpstr>VLM Agentic Rollout/Inference</vt:lpstr>
      <vt:lpstr>OSWorld Workload</vt:lpstr>
      <vt:lpstr>Problems</vt:lpstr>
      <vt:lpstr>Long Tail  of VLM Agentic RL Rollout</vt:lpstr>
      <vt:lpstr>Impact of Long Tail</vt:lpstr>
      <vt:lpstr>PowerPoint 演示文稿</vt:lpstr>
      <vt:lpstr>Core Idea: Leverage Speculative Actions</vt:lpstr>
      <vt:lpstr>Theoretical  Benefit</vt:lpstr>
      <vt:lpstr>Challenges</vt:lpstr>
      <vt:lpstr>Contrain Fork Latency Breakdown (Vibe版本)</vt:lpstr>
      <vt:lpstr>经验数字</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王泽睿（实习）</dc:creator>
  <cp:lastModifiedBy>王泽睿（实习）</cp:lastModifiedBy>
  <cp:revision>49</cp:revision>
  <dcterms:created xsi:type="dcterms:W3CDTF">2026-04-06T03:22:53Z</dcterms:created>
  <dcterms:modified xsi:type="dcterms:W3CDTF">2026-04-15T08:36:27Z</dcterms:modified>
</cp:coreProperties>
</file>