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9144000" cy="1280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BlitzScale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 and Live LLM Autoscaling via Compute Network Multicast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USENIX ATC 2025 (Submission)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组会报告  ·  2026年4月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背景与动机：LLM服务与弹性扩容的挑战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核心问题：缓慢的数据平面 &amp; stop-the-world 扩容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关键思路一：基于计算网络多播的快速数据平面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关键思路二：细粒度层级扩容实现 Live Scaling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系统设计：多播计划生成 &amp; ZigZag 调度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评估结果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总结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背景：模型即服务（MaaS）</a:t>
            </a:r>
            <a:endParaRPr lang="en-US" sz="2200" dirty="0"/>
          </a:p>
        </p:txBody>
      </p:sp>
      <p:pic>
        <p:nvPicPr>
          <p:cNvPr id="4" name="Image 0" descr="/sessions/adoring-nice-babbage/mnt/outputs/pptx_work/figs_png/setup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777240"/>
            <a:ext cx="5029200" cy="11652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MaaS 系统目标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2304288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最大化 Goodput（满足 SLO 的请求比例）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 GPU 资源占用（提高硬件利用率）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两者矛盾：请求负载不可预测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230428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请求到达率在秒级内突增 5× 以上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自回归特性导致 KVCache 内存不可预测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弹性扩容（Autoscaling）是关键机制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3840480"/>
            <a:ext cx="841248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886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实例（Instance）= 持有完整模型参数的一组 GPU | 弹性扩容速度直接决定 SLO 违约数量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核心问题：扩容瓶颈在哪里？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问题一：数据平面慢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SSD 带宽：每 GPU 仅 2–10 Gbps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Llama3-8B 加载需 12.8 秒（10 Gbps SSD）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缓存命中率低（40–75%）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MaaS 部署数百~数千模型，无法全部缓存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822960"/>
            <a:ext cx="0" cy="2011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777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问题二：Stop-the-World 扩容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078992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实例必须等全部参数加载完毕才能服务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Llama3-8B 推理时延：80–900 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用户期望 &lt;1 秒响应，扩容需 &lt;500 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ServerlessLLM 仍存在大量 SLO 违约</a:t>
            </a:r>
            <a:endParaRPr lang="en-US" sz="1200" dirty="0"/>
          </a:p>
        </p:txBody>
      </p:sp>
      <p:pic>
        <p:nvPicPr>
          <p:cNvPr id="9" name="Image 0" descr="/sessions/adoring-nice-babbage/mnt/outputs/pptx_work/figs_png/problem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766" y="2880360"/>
            <a:ext cx="7956468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3995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1: AzureConv trace 的请求率(a)、计算需求(b)、内存需求(c)随时间剧烈波动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1879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扩容速度 = 数据平面时延 + Stop 等待时间，两者共同决定 SLO 违约率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思路一：利用计算网络加速数据平面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观察：计算网络带宽大、利用率低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164592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3657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存储介质 / 链路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带宽（每GPU）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2–10 Gbps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当前主流扩容方式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PCIe (CPU→GPU)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 Gbps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Host 缓存命中时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RDMA (GPU-GPU)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100–400 Gbps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计算网络，低利用率（≤7.4%）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(GPU-GPU)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1,600–3,600 Gbps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节点内超高速互联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核心方案：网络多播（Multicast）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31546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若模型已部署在某实例上 → 直接从 GPU 参数多播，无需缓存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串行转发链（Serial Forwarding Chain）：扩容实例数无关于总传输时间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若无已部署实例 → O(1) Host 缓存（每模型只需缓存1份），覆盖全部模型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 缓存：如何做到无缓存缺失？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旧方案（ServerlessLLM）的缺陷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每台 Host 缓存热门模型（TTL 策略）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MaaS 托管成千上万模型，Host DRAM 不足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跨主机扩容时无法保证缓存命中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缓存命中率：40–75%，大量缺失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841248"/>
            <a:ext cx="0" cy="2286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804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BlitzScale 的 O(1) 全局参数池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11556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全局参数管理器（Global Parameter Manager）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每个模型仅需在集群中1台主机上缓存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所有主机 DRAM 聚合 &gt;&gt; 全部模型大小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缓存缺失率降至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841248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91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核心思路：将 per-host 缓存升级为全局分布式参数池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RDMA/NVLink 多播替代 SSD 读取，实现零缺失快速加载</a:t>
            </a:r>
            <a:endParaRPr lang="en-US" sz="1100" dirty="0"/>
          </a:p>
        </p:txBody>
      </p:sp>
      <p:pic>
        <p:nvPicPr>
          <p:cNvPr id="11" name="Image 0" descr="/sessions/adoring-nice-babbage/mnt/outputs/pptx_work/figs_png/motiv-slo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4724" y="4023360"/>
            <a:ext cx="4214553" cy="594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思路二：Live Scaling —— 参数未全部加载即可服务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传统方案（coarse-grained）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必须等全部层参数加载完成才能输出 → Stop-the-World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BlitzScale（fine-grained 层级扩容）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按层加载，已加载层即可参与计算 → 协同执行（Cooperative Execution）</a:t>
            </a:r>
            <a:endParaRPr lang="en-US" sz="1300" dirty="0"/>
          </a:p>
        </p:txBody>
      </p:sp>
      <p:pic>
        <p:nvPicPr>
          <p:cNvPr id="5" name="Image 0" descr="/sessions/adoring-nice-babbage/mnt/outputs/pptx_work/figs_png/zigzag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063" y="2057400"/>
            <a:ext cx="4813874" cy="2331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4074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Best-effort 调度导致 SLO 违约；(b) ZigZag 调度实现无 SLO 违约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系统架构：BlitzScale 总览</a:t>
            </a:r>
            <a:endParaRPr lang="en-US" sz="2200" dirty="0"/>
          </a:p>
        </p:txBody>
      </p:sp>
      <p:pic>
        <p:nvPicPr>
          <p:cNvPr id="4" name="Image 0" descr="/sessions/adoring-nice-babbage/mnt/outputs/pptx_work/figs_png/arch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5029200" cy="2073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804672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Load Monitor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监控负载，触发扩容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Scale Planner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生成多播计划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Parameter Manager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全局参数来源映射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Live Exe. Scheduler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动态调度请求到新实例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2971800"/>
            <a:ext cx="8412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063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工作流程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33832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负载监控器检测到突发负载 → ② 扩容计划生成器查询 ③ 全局参数管理器获取参数来源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生成多播计划通过 RDMA/NVLink 加载参数到新实例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④ Live 执行调度器在加载过程中即将请求调度到新实例的已加载层上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设计一：在线无干扰多播计划生成</a:t>
            </a:r>
            <a:endParaRPr lang="en-US" sz="2200" dirty="0"/>
          </a:p>
        </p:txBody>
      </p:sp>
      <p:pic>
        <p:nvPicPr>
          <p:cNvPr id="4" name="Image 0" descr="/sessions/adoring-nice-babbage/mnt/outputs/pptx_work/figs_png/pd-scale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4572000" cy="16064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三步贪心算法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0" y="1078992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1：剪枝干扰源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排除有出向服务流的 GPU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2：NVLink 组聚合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同组只需一个接收节点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3：串行转发链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S→T1→T2→...→Tn，多链并行</a:t>
            </a:r>
            <a:endParaRPr lang="en-US" sz="1100" dirty="0"/>
          </a:p>
        </p:txBody>
      </p:sp>
      <p:pic>
        <p:nvPicPr>
          <p:cNvPr id="7" name="Image 1" descr="/sessions/adoring-nice-babbage/mnt/outputs/pptx_work/figs_png/ring-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97480"/>
            <a:ext cx="5029200" cy="1609571"/>
          </a:xfrm>
          <a:prstGeom prst="rect">
            <a:avLst/>
          </a:prstGeom>
        </p:spPr>
      </p:pic>
      <p:pic>
        <p:nvPicPr>
          <p:cNvPr id="8" name="Image 2" descr="/sessions/adoring-nice-babbage/mnt/outputs/pptx_work/figs_png/netconflict-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26080"/>
            <a:ext cx="3474720" cy="11377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0" y="408214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网络干扰：扩容慢 1.5×，TBT +50%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设计二：ZigZag 流水线调度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Scaling 的调度挑战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新实例能力随参数加载逐层增加 → 朴素调度负载不均衡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ZigZag 方案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整体考虑未来新到层负载，动态调整请求在新旧实例间的分配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初期旧实例执行多层、新实例少层；随加载增多逐步转移 → 比朴素方案减少 50% 尾延迟</a:t>
            </a:r>
            <a:endParaRPr lang="en-US" sz="1300" dirty="0"/>
          </a:p>
        </p:txBody>
      </p:sp>
      <p:pic>
        <p:nvPicPr>
          <p:cNvPr id="5" name="Image 0" descr="/sessions/adoring-nice-babbage/mnt/outputs/pptx_work/figs_png/zigzag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1037" y="2514600"/>
            <a:ext cx="4341925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实现概况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24,000 行 Rust + C++ 代码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kernel 复用 FlashInfer（高度优化）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PD disaggregated 与非分离 LLM 服务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Continuous Batching、Tensor Parallelism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841248"/>
            <a:ext cx="0" cy="2286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804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实验配置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115568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两个集群（Cluster A/B）</a:t>
            </a:r>
            <a:endParaRPr lang="en-US" sz="12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A：NVLink，可服务 72B 模型</a:t>
            </a:r>
            <a:endParaRPr lang="en-US" sz="12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B：RDMA 网络，单 GPU 模型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 Trace：BurstGPT、AzureCode、AzureConv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三个模型：Llama3-8B、Mistral-24B、Qwen2.5-72B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91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对比基线：ServerlessLLM（SOTA 弹性扩容）| AllCache（缓存全命中理想版）| DistServe / vLLM（无弹性扩容）</a:t>
            </a:r>
            <a:endParaRPr lang="en-US" sz="1100" dirty="0"/>
          </a:p>
        </p:txBody>
      </p:sp>
      <p:pic>
        <p:nvPicPr>
          <p:cNvPr id="11" name="Image 0" descr="/sessions/adoring-nice-babbage/mnt/outputs/pptx_work/figs_png/util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1596" y="3931920"/>
            <a:ext cx="4080807" cy="6400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评估结果（一）：端到端 SLO 性能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ServerlessLLM（SOTA）对比：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118872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365760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改进幅度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TTFT 尾延迟（P99）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 47–75%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Time-to-First-Token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TBT 尾延迟（P99）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 94%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Time-Between-Tokens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使用量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减少 49%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DistServe/vLLM 过量配置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sessions/adoring-nice-babbage/mnt/outputs/pptx_work/figs_png/e2e-burstgpt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102" y="2423160"/>
            <a:ext cx="6979797" cy="1005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344728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BurstGPT trace 端到端评估结果</a:t>
            </a:r>
            <a:endParaRPr lang="en-US" sz="900" dirty="0"/>
          </a:p>
        </p:txBody>
      </p:sp>
      <p:pic>
        <p:nvPicPr>
          <p:cNvPr id="8" name="Image 1" descr="/sessions/adoring-nice-babbage/mnt/outputs/pptx_work/figs_png/e2e-azurecode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939" y="3611880"/>
            <a:ext cx="6978123" cy="8686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449884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AzureCode trace 端到端评估结果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评估结果（二）：消融实验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各模块贡献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Multicast 数据平面（无 Live）：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显著缩短扩容时间，但 stop 等待仍限制性能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Live Scaling（无 ZigZag）：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新实例能早期参与，但负载不均衡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BlitzScale（Multicast + Live + ZigZag）：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三者协同达到最优 SLO 性能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841248"/>
            <a:ext cx="0" cy="22860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804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微基准：扩容速度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11556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RDMA 多播：比 SSD 加载快 10–20×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 broadcast：105 ms 完成 7B 广播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多播计划生成：毫秒级（贪心算法）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计算网络利用率仅在极端突发时超 7.4%</a:t>
            </a:r>
            <a:endParaRPr lang="en-US" sz="1200" dirty="0"/>
          </a:p>
        </p:txBody>
      </p:sp>
      <p:pic>
        <p:nvPicPr>
          <p:cNvPr id="9" name="Image 0" descr="/sessions/adoring-nice-babbage/mnt/outputs/pptx_work/figs_png/abl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498" y="3291840"/>
            <a:ext cx="6791004" cy="1188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449884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消融实验：逐步添加 Multicast / Live / ZigZag 各模块的效果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弹性扩容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247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ServerlessLLM：Host DRAM 多层缓存 + SSD 加载，缓存命中率受限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AlpaServe：统计多路复用，模型并行扩容 | KServe：K8s 原生弹性伸缩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933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服务系统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1343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vLLM：PagedAttention，高效 KVCache 管理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DistServe / Splitwise：PD disaggregation | PipeSwitch：加载与推理重叠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1821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网络多播 / 参数传输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021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P2P 串行链广播：大规模数据传输优化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AllReduce / NCCL：GPU 间集合通信（训练场景）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BlitzScale 首次将多播用于 MaaS 在线弹性扩容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MaaS 弹性扩容面临数据平面慢（SSD 带宽低、缓存命中率低）和 stop-the-world 两大瓶颈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贡献一：快速数据平面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GPU 计算网络（RDMA/NVLink）多播，配合 O(1) 全局参数池，实现无缓存缺失的快速扩容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贡献二：Live Scaling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层级扩容抽象 + ZigZag 调度，参数未完全加载时即可协同服务，消除 stop 等待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ServerlessLLM：TTFT 尾延低 47–75%，TBT 尾延低 94%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无弹性扩容（DistServe/vLLM）：GPU 使用减少 49%，同等 SLO 无违约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· 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github.com/blitz-serving/blitz-scale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919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BlitzScale</dc:title>
  <dc:subject>PptxGenJS Presentation</dc:subject>
  <dc:creator>PptxGenJS</dc:creator>
  <cp:lastModifiedBy>PptxGenJS</cp:lastModifiedBy>
  <cp:revision>1</cp:revision>
  <dcterms:created xsi:type="dcterms:W3CDTF">2026-04-16T04:06:28Z</dcterms:created>
  <dcterms:modified xsi:type="dcterms:W3CDTF">2026-04-16T04:06:28Z</dcterms:modified>
</cp:coreProperties>
</file>