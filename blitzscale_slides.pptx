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>
        <p:scale>
          <a:sx n="179" d="100"/>
          <a:sy n="179" d="100"/>
        </p:scale>
        <p:origin x="-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1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1280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and Live LLM Autoscaling via Compute Network Multicast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USENIX ATC 2025 (Submission)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组会报告  ·  2026年4月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背景与动机：LLM服务与弹性扩容的挑战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核心问题：缓慢的数据平面 &amp; stop-the-world 扩容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关键思路一：基于计算网络多播的快速数据平面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关键思路二：细粒度层级扩容实现 Live Scaling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系统设计：多播计划生成 &amp; ZigZag 调度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评估结果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背景：模型即服务（MaaS）</a:t>
            </a:r>
            <a:endParaRPr lang="en-US" sz="2200" dirty="0"/>
          </a:p>
        </p:txBody>
      </p:sp>
      <p:pic>
        <p:nvPicPr>
          <p:cNvPr id="4" name="Image 0" descr="/sessions/adoring-nice-babbage/mnt/outputs/pptx_work/figs_png/setu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777240"/>
            <a:ext cx="5029200" cy="1165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系统目标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230428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 Goodput（满足 SLO 的请求比例）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 GPU 资源占用（提高硬件利用率）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两者矛盾：请求负载不可预测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230428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请求到达率在秒级内突增 5× 以上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自回归特性导致 KVCache 内存不可预测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弹性扩容（Autoscaling）是关键机制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核心问题：扩容瓶颈在哪里？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问题一：数据平面慢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带宽：每 GPU 仅 2–10 Gbps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Llama3-8B 加载需 12.8 秒（10 Gbps SSD）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缓存命中率低（40–75%）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部署数百~数千模型，无法全部缓存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22960"/>
            <a:ext cx="0" cy="167085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问题二：Stop-the-World 扩容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实例必须等全部参数加载完毕才能服务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Llama3-8B 推理时延：80–900 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用户期望 &lt;1 秒响应，扩容需 &lt;500 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ServerlessLLM 仍存在大量 SLO 违约</a:t>
            </a:r>
            <a:endParaRPr lang="en-US" sz="1200" dirty="0"/>
          </a:p>
        </p:txBody>
      </p:sp>
      <p:pic>
        <p:nvPicPr>
          <p:cNvPr id="9" name="Image 0" descr="/sessions/adoring-nice-babbage/mnt/outputs/pptx_work/figs_png/problem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1" y="2904056"/>
            <a:ext cx="5464008" cy="7535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69065" y="371932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1: AzureConv trace 的请求率(a)、计算需求(b)、内存需求(c)随时间剧烈波动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16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861A63-4F25-815A-3479-4FBED6D95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369820"/>
            <a:ext cx="3174575" cy="2679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思路一：利用计算网络加速数据平面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观察：计算网络带宽大、利用率低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865557"/>
              </p:ext>
            </p:extLst>
          </p:nvPr>
        </p:nvGraphicFramePr>
        <p:xfrm>
          <a:off x="365760" y="1097280"/>
          <a:ext cx="84124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存储介质 / 链路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带宽（每GPU）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2–10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当前主流扩容方式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(CPU→GPU)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缓存命中时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RDMA (GPU-GPU)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100–400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计算网络，低利用率（≤7.4%）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大于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(GPU-GPU)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1,600–3,600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节点内超高速互联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核心方案：网络多播（Multicast）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1546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若模型已部署在某实例上 → 直接从 GPU 参数多播，无需缓存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串行转发链（Serial Forwarding Chain）：扩容实例数无关于总传输时间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若无已部署实例 → O(1) Host 缓存（每模型只需缓存1份），覆盖全部模型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缓存：如何做到无缓存缺失？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旧方案（ServerlessLLM）的缺陷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 Host 缓存热门模型（TTL 策略）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托管成千上万模型，Host DRAM 不足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跨主机扩容时无法保证缓存命中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缓存命中率：40–75%，大量缺失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 的 O(1) 全局参数池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Parameter Manager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每个模型仅需在集群中1台主机上缓存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缓存缺失率降至</a:t>
            </a: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91790"/>
            <a:ext cx="84124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3751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</a:t>
            </a:r>
            <a:r>
              <a:rPr lang="zh-CN" alt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</a:t>
            </a:r>
            <a:r>
              <a:rPr lang="en-US" sz="11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：将</a:t>
            </a: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per-host 缓存升级为全局分布式参数池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RDMA/NVLink 多播替代 SSD 读取，实现零缺失快速加载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16</a:t>
            </a:r>
            <a:endParaRPr lang="en-US" sz="9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DBD6AE7-19A6-3DE3-080B-488122C8C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825" y="3623310"/>
            <a:ext cx="5261718" cy="135476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4DF3BA8-8B28-CC95-EFEC-CC2BB052BB58}"/>
              </a:ext>
            </a:extLst>
          </p:cNvPr>
          <p:cNvSpPr txBox="1"/>
          <p:nvPr/>
        </p:nvSpPr>
        <p:spPr>
          <a:xfrm>
            <a:off x="1976162" y="4885291"/>
            <a:ext cx="5191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图 </a:t>
            </a:r>
            <a:r>
              <a:rPr kumimoji="1" lang="en-US" altLang="zh-CN" sz="1200" dirty="0"/>
              <a:t>4:</a:t>
            </a:r>
            <a:r>
              <a:rPr kumimoji="1" lang="zh-CN" altLang="en-US" sz="1200" dirty="0"/>
              <a:t>在 </a:t>
            </a:r>
            <a:r>
              <a:rPr kumimoji="1" lang="en" altLang="zh-CN" sz="1200" dirty="0" err="1"/>
              <a:t>BurstGPT</a:t>
            </a:r>
            <a:r>
              <a:rPr kumimoji="1" lang="en" altLang="zh-CN" sz="1200" dirty="0"/>
              <a:t> [71]</a:t>
            </a:r>
            <a:r>
              <a:rPr kumimoji="1" lang="zh-CN" altLang="en-US" sz="1200" dirty="0"/>
              <a:t>上运行 </a:t>
            </a:r>
            <a:r>
              <a:rPr kumimoji="1" lang="en" altLang="zh-CN" sz="1200" dirty="0" err="1"/>
              <a:t>ServerlessLLM</a:t>
            </a:r>
            <a:r>
              <a:rPr kumimoji="1" lang="en" altLang="zh-CN" sz="1200" dirty="0"/>
              <a:t> [29]</a:t>
            </a:r>
            <a:r>
              <a:rPr kumimoji="1" lang="zh-CN" altLang="en-US" sz="1200" dirty="0"/>
              <a:t>时的</a:t>
            </a:r>
            <a:r>
              <a:rPr kumimoji="1" lang="en-US" altLang="zh-CN" sz="1200" dirty="0"/>
              <a:t>Cache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Miss</a:t>
            </a:r>
            <a:r>
              <a:rPr kumimoji="1" lang="zh-CN" altLang="en-US" sz="1200" dirty="0"/>
              <a:t>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思路二：Live Scaling —— 参数未全部加载即可服务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传统方案（coarse-grained）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必须等全部层参数加载完成才能输出 → Stop-the-World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BlitzScale（fine-grained 层级扩容）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按层加载，已加载层即可参与计算 → 协同执行（Cooperative Execution）</a:t>
            </a:r>
            <a:endParaRPr lang="en-US" sz="1300" dirty="0"/>
          </a:p>
        </p:txBody>
      </p:sp>
      <p:pic>
        <p:nvPicPr>
          <p:cNvPr id="5" name="Image 0" descr="/sessions/adoring-nice-babbage/mnt/outputs/pptx_work/figs_png/zigzag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15" y="2034540"/>
            <a:ext cx="4813874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987296" y="440055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Best-effort 调度导致 SLO 违约；(b) ZigZag 调度实现无 SLO 违约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16</a:t>
            </a:r>
            <a:endParaRPr lang="en-US" sz="9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0A66406-1CD7-4920-098B-70B5D67E3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59" y="2411730"/>
            <a:ext cx="1638285" cy="19187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6ED0DD-4775-9703-8F22-DDBCA5C3C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411730"/>
            <a:ext cx="1593253" cy="18028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4B35FE7-FADF-BB92-67DD-BC37CCCEA4C2}"/>
              </a:ext>
            </a:extLst>
          </p:cNvPr>
          <p:cNvSpPr txBox="1"/>
          <p:nvPr/>
        </p:nvSpPr>
        <p:spPr>
          <a:xfrm>
            <a:off x="5564900" y="4282510"/>
            <a:ext cx="11833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/>
              <a:t>加载完成之前无法独立完成请求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7E3EDA-39D9-0D44-3C89-819EEC4D67D6}"/>
              </a:ext>
            </a:extLst>
          </p:cNvPr>
          <p:cNvSpPr txBox="1"/>
          <p:nvPr/>
        </p:nvSpPr>
        <p:spPr>
          <a:xfrm>
            <a:off x="7140147" y="4267200"/>
            <a:ext cx="11833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/>
              <a:t>使用部分层分担已有</a:t>
            </a:r>
            <a:r>
              <a:rPr kumimoji="1" lang="en-US" altLang="zh-CN" sz="1050" dirty="0"/>
              <a:t>instance</a:t>
            </a:r>
            <a:r>
              <a:rPr kumimoji="1" lang="zh-CN" altLang="en-US" sz="1050" dirty="0"/>
              <a:t>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37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系统架构：BlitzScale 总览</a:t>
            </a:r>
            <a:endParaRPr lang="en-US" sz="2200" dirty="0"/>
          </a:p>
        </p:txBody>
      </p:sp>
      <p:pic>
        <p:nvPicPr>
          <p:cNvPr id="4" name="Image 0" descr="/sessions/adoring-nice-babbage/mnt/outputs/pptx_work/figs_png/arch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5029200" cy="2073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8046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Load Monitor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监控负载，触发扩容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Scale Planner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生成多播计划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Parameter Manager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全局参数来源映射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Live Exe. Scheduler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动态调度请求到新实例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063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3832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负载监控器检测到突发负载 → ② 扩容计划生成器查询 ③ 全局参数管理器获取参数来源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生成多播计划通过 RDMA/NVLink 加载参数到新实例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④ Live 执行调度器在加载过程中即将请求调度到新实例的已加载层上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设计一：在线无干扰多播计划生成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7773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三步贪心算法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847194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1：剪枝干扰源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排除有出向服务流的 GPU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2：NVLink 组聚合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000" dirty="0" err="1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</a:t>
            </a:r>
            <a:r>
              <a:rPr lang="zh-CN" alt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域内能快速</a:t>
            </a:r>
            <a:r>
              <a:rPr lang="en-US" altLang="zh-CN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r>
              <a:rPr lang="zh-CN" alt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</a:t>
            </a:r>
            <a:r>
              <a:rPr lang="zh-CN" alt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，当做一个</a:t>
            </a:r>
            <a:r>
              <a:rPr lang="en-US" altLang="zh-CN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3：生成串行广播链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S→T1→T2→...→</a:t>
            </a:r>
            <a:r>
              <a:rPr lang="en-US" sz="1000" dirty="0" err="1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Tn，多链并行</a:t>
            </a:r>
            <a:r>
              <a:rPr lang="zh-CN" alt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，链优先从高带宽传到低带宽节点</a:t>
            </a:r>
            <a:endParaRPr lang="en-US" sz="1100" dirty="0"/>
          </a:p>
        </p:txBody>
      </p:sp>
      <p:pic>
        <p:nvPicPr>
          <p:cNvPr id="8" name="Image 2" descr="/sessions/adoring-nice-babbage/mnt/outputs/pptx_work/figs_png/netconflic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829" y="2675994"/>
            <a:ext cx="3843861" cy="12586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0" y="40821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网络干扰：扩容慢 1.5×，TBT +50%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16</a:t>
            </a:r>
            <a:endParaRPr lang="en-US" sz="9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8B02DF4-64A2-CE09-3F80-2034A54A5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" y="2471560"/>
            <a:ext cx="5349241" cy="2046816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8044CB6C-B5B2-AF74-B17D-CBE97B3AB742}"/>
              </a:ext>
            </a:extLst>
          </p:cNvPr>
          <p:cNvSpPr/>
          <p:nvPr/>
        </p:nvSpPr>
        <p:spPr>
          <a:xfrm>
            <a:off x="5021580" y="769404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 err="1"/>
              <a:t>优点</a:t>
            </a:r>
            <a:r>
              <a:rPr lang="zh-CN" altLang="en-US" sz="1100" b="1" dirty="0"/>
              <a:t>：</a:t>
            </a:r>
            <a:endParaRPr lang="en-US" altLang="zh-CN" sz="1100" b="1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带宽利用率更高</a:t>
            </a:r>
            <a:r>
              <a:rPr lang="zh-CN" altLang="en-US" sz="1100" dirty="0"/>
              <a:t>，同时接收和发送，文章说大部分情况下最优</a:t>
            </a:r>
            <a:endParaRPr lang="en-US" altLang="zh-CN" sz="11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能快速规划</a:t>
            </a:r>
            <a:r>
              <a:rPr lang="zh-CN" altLang="en-US" sz="1100" dirty="0"/>
              <a:t>，避免复杂算法生成</a:t>
            </a:r>
            <a:r>
              <a:rPr lang="en-US" altLang="zh-CN" sz="1100" dirty="0"/>
              <a:t>plan</a:t>
            </a:r>
            <a:r>
              <a:rPr lang="zh-CN" altLang="en-US" sz="1100" dirty="0"/>
              <a:t>的过高时延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设计二：ZigZag 流水线调度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Scaling 的调度挑战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新实例能力随参数加载逐层增加 → </a:t>
            </a:r>
            <a:r>
              <a:rPr lang="en-US" sz="12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调度负载不均衡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ZigZag 方案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整体考虑未来新到层负载，动态调整请求在新旧实例间的分配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初期旧实例执行多层、新实例少层；随加载增多逐步转移 → 比朴素方案减少 50% 尾延迟</a:t>
            </a:r>
            <a:endParaRPr lang="en-US" sz="1300" dirty="0"/>
          </a:p>
        </p:txBody>
      </p:sp>
      <p:pic>
        <p:nvPicPr>
          <p:cNvPr id="5" name="Image 0" descr="/sessions/adoring-nice-babbage/mnt/outputs/pptx_work/figs_png/zigzag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17" y="2317718"/>
            <a:ext cx="5371363" cy="26017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9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B9C256-4CE5-D676-434C-1905F082D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59" y="2411730"/>
            <a:ext cx="1638285" cy="1918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实现概况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24,000 行 Rust + C++ 代码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kernel 复用 FlashInfer（高度优化）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 disaggregated 与非分离 LLM 服务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Continuous Batching、Tensor Parallelism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两个集群（Cluster A/B）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A：NVLink，可服务 72B 模型</a:t>
            </a:r>
            <a:endParaRPr lang="en-US" sz="12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B：RDMA 网络，单 GPU 模型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 Trace：BurstGPT、AzureCode、AzureConv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三个模型：Llama3-8B、Mistral-24B、Qwen2.5-72B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评估结果（一）：端到端 SLO 性能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ServerlessLLM（SOTA）对比：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1188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改进幅度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尾延迟（P99）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 47–75%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Time-to-First-Token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TBT 尾延迟（P99）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 94%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Time-Between-Tokens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使用量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 49%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DistServe/vLLM 过量配置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 0" descr="/sessions/adoring-nice-babbage/mnt/outputs/pptx_work/figs_png/e2e-burstgp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02" y="2423160"/>
            <a:ext cx="6979797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4472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BurstGPT trace 端到端评估结果</a:t>
            </a:r>
            <a:endParaRPr lang="en-US" sz="900" dirty="0"/>
          </a:p>
        </p:txBody>
      </p:sp>
      <p:pic>
        <p:nvPicPr>
          <p:cNvPr id="8" name="Image 1" descr="/sessions/adoring-nice-babbage/mnt/outputs/pptx_work/figs_png/e2e-azurecode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39" y="3611880"/>
            <a:ext cx="6978123" cy="868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AzureCode trace 端到端评估结果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评估结果（二）：消融实验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各模块贡献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Multicast 数据平面（无 Live）：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显著缩短扩容时间，但 stop 等待仍限制性能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Live Scaling（无 ZigZag）：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新实例能早期参与，但负载不均衡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BlitzScale（Multicast + Live + ZigZag）：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三者协同达到最优 SLO 性能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微基准：扩容速度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RDMA 多播：比 SSD 加载快 10–20×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broadcast：105 ms 完成 7B 广播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多播计划生成：毫秒级（贪心算法）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计算网络利用率仅在极端突发时超 7.4%</a:t>
            </a:r>
            <a:endParaRPr lang="en-US" sz="1200" dirty="0"/>
          </a:p>
        </p:txBody>
      </p:sp>
      <p:pic>
        <p:nvPicPr>
          <p:cNvPr id="9" name="Image 0" descr="/sessions/adoring-nice-babbage/mnt/outputs/pptx_work/figs_png/abl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98" y="3291840"/>
            <a:ext cx="6791004" cy="1188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消融实验：逐步添加 Multicast / Live / ZigZag 各模块的效果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弹性扩容面临数据平面慢（SSD 带宽低、缓存命中率低）和 stop-the-world 两大瓶颈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贡献一：快速数据平面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GPU 计算网络（RDMA/NVLink）多播，配合 O(1) 全局参数池，实现无缓存缺失的快速扩容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贡献二：Live Scaling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层级扩容抽象 + ZigZag 调度，参数未完全加载时即可协同服务，消除 stop 等待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ServerlessLLM：TTFT 尾延低 47–75%，TBT 尾延低 94%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无弹性扩容（DistServe/vLLM）：GPU 使用减少 49%，同等 SLO 无违约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882</Words>
  <Application>Microsoft Macintosh PowerPoint</Application>
  <PresentationFormat>全屏显示(16:9)</PresentationFormat>
  <Paragraphs>186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BlitzScale</dc:title>
  <dc:subject>PptxGenJS Presentation</dc:subject>
  <dc:creator>PptxGenJS</dc:creator>
  <cp:lastModifiedBy>王泽睿（实习）</cp:lastModifiedBy>
  <cp:revision>8</cp:revision>
  <dcterms:created xsi:type="dcterms:W3CDTF">2026-04-16T04:06:28Z</dcterms:created>
  <dcterms:modified xsi:type="dcterms:W3CDTF">2026-04-16T07:43:47Z</dcterms:modified>
</cp:coreProperties>
</file>